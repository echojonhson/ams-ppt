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5" r:id="rId1"/>
  </p:sldMasterIdLst>
  <p:notesMasterIdLst>
    <p:notesMasterId r:id="rId33"/>
  </p:notesMasterIdLst>
  <p:handoutMasterIdLst>
    <p:handoutMasterId r:id="rId34"/>
  </p:handoutMasterIdLst>
  <p:sldIdLst>
    <p:sldId id="256" r:id="rId2"/>
    <p:sldId id="286" r:id="rId3"/>
    <p:sldId id="287" r:id="rId4"/>
    <p:sldId id="257" r:id="rId5"/>
    <p:sldId id="275" r:id="rId6"/>
    <p:sldId id="284" r:id="rId7"/>
    <p:sldId id="259" r:id="rId8"/>
    <p:sldId id="285" r:id="rId9"/>
    <p:sldId id="291" r:id="rId10"/>
    <p:sldId id="295" r:id="rId11"/>
    <p:sldId id="296" r:id="rId12"/>
    <p:sldId id="260" r:id="rId13"/>
    <p:sldId id="292" r:id="rId14"/>
    <p:sldId id="293" r:id="rId15"/>
    <p:sldId id="261" r:id="rId16"/>
    <p:sldId id="264" r:id="rId17"/>
    <p:sldId id="265" r:id="rId18"/>
    <p:sldId id="274" r:id="rId19"/>
    <p:sldId id="266" r:id="rId20"/>
    <p:sldId id="267" r:id="rId21"/>
    <p:sldId id="269" r:id="rId22"/>
    <p:sldId id="270" r:id="rId23"/>
    <p:sldId id="271" r:id="rId24"/>
    <p:sldId id="276" r:id="rId25"/>
    <p:sldId id="279" r:id="rId26"/>
    <p:sldId id="294" r:id="rId27"/>
    <p:sldId id="280" r:id="rId28"/>
    <p:sldId id="282" r:id="rId29"/>
    <p:sldId id="272" r:id="rId30"/>
    <p:sldId id="289" r:id="rId31"/>
    <p:sldId id="290" r:id="rId32"/>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00"/>
    <a:srgbClr val="006666"/>
    <a:srgbClr val="FFCC66"/>
    <a:srgbClr val="FFCCFF"/>
    <a:srgbClr val="FFFFCC"/>
    <a:srgbClr val="FF33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7" autoAdjust="0"/>
    <p:restoredTop sz="92589" autoAdjust="0"/>
  </p:normalViewPr>
  <p:slideViewPr>
    <p:cSldViewPr>
      <p:cViewPr varScale="1">
        <p:scale>
          <a:sx n="130" d="100"/>
          <a:sy n="130" d="100"/>
        </p:scale>
        <p:origin x="1742" y="7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1" y="1"/>
            <a:ext cx="3038049" cy="464315"/>
          </a:xfrm>
          <a:prstGeom prst="rect">
            <a:avLst/>
          </a:prstGeom>
          <a:noFill/>
          <a:ln w="9525">
            <a:noFill/>
            <a:miter lim="800000"/>
            <a:headEnd/>
            <a:tailEnd/>
          </a:ln>
          <a:effectLst/>
        </p:spPr>
        <p:txBody>
          <a:bodyPr vert="horz" wrap="square" lIns="89785" tIns="44893" rIns="89785" bIns="44893" numCol="1" anchor="t" anchorCtr="0" compatLnSpc="1">
            <a:prstTxWarp prst="textNoShape">
              <a:avLst/>
            </a:prstTxWarp>
          </a:bodyPr>
          <a:lstStyle>
            <a:lvl1pPr defTabSz="897511" eaLnBrk="1" hangingPunct="1">
              <a:defRPr sz="1200"/>
            </a:lvl1pPr>
          </a:lstStyle>
          <a:p>
            <a:pPr>
              <a:defRPr/>
            </a:pPr>
            <a:endParaRPr lang="en-US" altLang="zh-TW"/>
          </a:p>
        </p:txBody>
      </p:sp>
      <p:sp>
        <p:nvSpPr>
          <p:cNvPr id="77827" name="Rectangle 3"/>
          <p:cNvSpPr>
            <a:spLocks noGrp="1" noChangeArrowheads="1"/>
          </p:cNvSpPr>
          <p:nvPr>
            <p:ph type="dt" sz="quarter" idx="1"/>
          </p:nvPr>
        </p:nvSpPr>
        <p:spPr bwMode="auto">
          <a:xfrm>
            <a:off x="3970784" y="1"/>
            <a:ext cx="3038049" cy="464315"/>
          </a:xfrm>
          <a:prstGeom prst="rect">
            <a:avLst/>
          </a:prstGeom>
          <a:noFill/>
          <a:ln w="9525">
            <a:noFill/>
            <a:miter lim="800000"/>
            <a:headEnd/>
            <a:tailEnd/>
          </a:ln>
          <a:effectLst/>
        </p:spPr>
        <p:txBody>
          <a:bodyPr vert="horz" wrap="square" lIns="89785" tIns="44893" rIns="89785" bIns="44893" numCol="1" anchor="t" anchorCtr="0" compatLnSpc="1">
            <a:prstTxWarp prst="textNoShape">
              <a:avLst/>
            </a:prstTxWarp>
          </a:bodyPr>
          <a:lstStyle>
            <a:lvl1pPr algn="r" defTabSz="897511" eaLnBrk="1" hangingPunct="1">
              <a:defRPr sz="1200"/>
            </a:lvl1pPr>
          </a:lstStyle>
          <a:p>
            <a:pPr>
              <a:defRPr/>
            </a:pPr>
            <a:endParaRPr lang="en-US" altLang="zh-TW"/>
          </a:p>
        </p:txBody>
      </p:sp>
      <p:sp>
        <p:nvSpPr>
          <p:cNvPr id="77828" name="Rectangle 4"/>
          <p:cNvSpPr>
            <a:spLocks noGrp="1" noChangeArrowheads="1"/>
          </p:cNvSpPr>
          <p:nvPr>
            <p:ph type="ftr" sz="quarter" idx="2"/>
          </p:nvPr>
        </p:nvSpPr>
        <p:spPr bwMode="auto">
          <a:xfrm>
            <a:off x="1" y="8830643"/>
            <a:ext cx="3038049" cy="464315"/>
          </a:xfrm>
          <a:prstGeom prst="rect">
            <a:avLst/>
          </a:prstGeom>
          <a:noFill/>
          <a:ln w="9525">
            <a:noFill/>
            <a:miter lim="800000"/>
            <a:headEnd/>
            <a:tailEnd/>
          </a:ln>
          <a:effectLst/>
        </p:spPr>
        <p:txBody>
          <a:bodyPr vert="horz" wrap="square" lIns="89785" tIns="44893" rIns="89785" bIns="44893" numCol="1" anchor="b" anchorCtr="0" compatLnSpc="1">
            <a:prstTxWarp prst="textNoShape">
              <a:avLst/>
            </a:prstTxWarp>
          </a:bodyPr>
          <a:lstStyle>
            <a:lvl1pPr defTabSz="897511" eaLnBrk="1" hangingPunct="1">
              <a:defRPr sz="1200"/>
            </a:lvl1pPr>
          </a:lstStyle>
          <a:p>
            <a:pPr>
              <a:defRPr/>
            </a:pPr>
            <a:endParaRPr lang="en-US" altLang="zh-TW"/>
          </a:p>
        </p:txBody>
      </p:sp>
      <p:sp>
        <p:nvSpPr>
          <p:cNvPr id="77829" name="Rectangle 5"/>
          <p:cNvSpPr>
            <a:spLocks noGrp="1" noChangeArrowheads="1"/>
          </p:cNvSpPr>
          <p:nvPr>
            <p:ph type="sldNum" sz="quarter" idx="3"/>
          </p:nvPr>
        </p:nvSpPr>
        <p:spPr bwMode="auto">
          <a:xfrm>
            <a:off x="3970784" y="8830643"/>
            <a:ext cx="3038049" cy="464315"/>
          </a:xfrm>
          <a:prstGeom prst="rect">
            <a:avLst/>
          </a:prstGeom>
          <a:noFill/>
          <a:ln w="9525">
            <a:noFill/>
            <a:miter lim="800000"/>
            <a:headEnd/>
            <a:tailEnd/>
          </a:ln>
          <a:effectLst/>
        </p:spPr>
        <p:txBody>
          <a:bodyPr vert="horz" wrap="square" lIns="89785" tIns="44893" rIns="89785" bIns="44893" numCol="1" anchor="b" anchorCtr="0" compatLnSpc="1">
            <a:prstTxWarp prst="textNoShape">
              <a:avLst/>
            </a:prstTxWarp>
          </a:bodyPr>
          <a:lstStyle>
            <a:lvl1pPr algn="r" defTabSz="897511" eaLnBrk="1" hangingPunct="1">
              <a:defRPr sz="1200"/>
            </a:lvl1pPr>
          </a:lstStyle>
          <a:p>
            <a:pPr>
              <a:defRPr/>
            </a:pPr>
            <a:fld id="{F22174F4-785A-42B0-AEA8-679978A99010}" type="slidenum">
              <a:rPr lang="zh-TW" altLang="en-US"/>
              <a:pPr>
                <a:defRPr/>
              </a:pPr>
              <a:t>‹#›</a:t>
            </a:fld>
            <a:endParaRPr lang="en-US" altLang="zh-TW"/>
          </a:p>
        </p:txBody>
      </p:sp>
    </p:spTree>
    <p:extLst>
      <p:ext uri="{BB962C8B-B14F-4D97-AF65-F5344CB8AC3E}">
        <p14:creationId xmlns:p14="http://schemas.microsoft.com/office/powerpoint/2010/main" val="3772193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049" cy="465758"/>
          </a:xfrm>
          <a:prstGeom prst="rect">
            <a:avLst/>
          </a:prstGeom>
        </p:spPr>
        <p:txBody>
          <a:bodyPr vert="horz" lIns="86018" tIns="43009" rIns="86018" bIns="43009" rtlCol="0"/>
          <a:lstStyle>
            <a:lvl1pPr algn="l">
              <a:defRPr sz="1100"/>
            </a:lvl1pPr>
          </a:lstStyle>
          <a:p>
            <a:endParaRPr lang="en-US"/>
          </a:p>
        </p:txBody>
      </p:sp>
      <p:sp>
        <p:nvSpPr>
          <p:cNvPr id="3" name="Date Placeholder 2"/>
          <p:cNvSpPr>
            <a:spLocks noGrp="1"/>
          </p:cNvSpPr>
          <p:nvPr>
            <p:ph type="dt" idx="1"/>
          </p:nvPr>
        </p:nvSpPr>
        <p:spPr>
          <a:xfrm>
            <a:off x="3970784" y="0"/>
            <a:ext cx="3038049" cy="465758"/>
          </a:xfrm>
          <a:prstGeom prst="rect">
            <a:avLst/>
          </a:prstGeom>
        </p:spPr>
        <p:txBody>
          <a:bodyPr vert="horz" lIns="86018" tIns="43009" rIns="86018" bIns="43009" rtlCol="0"/>
          <a:lstStyle>
            <a:lvl1pPr algn="r">
              <a:defRPr sz="1100"/>
            </a:lvl1pPr>
          </a:lstStyle>
          <a:p>
            <a:fld id="{FDCDA710-6AF7-4D70-9DC4-94AF3EF5AEE9}" type="datetimeFigureOut">
              <a:rPr lang="en-US" smtClean="0"/>
              <a:t>7/29/2026</a:t>
            </a:fld>
            <a:endParaRPr lang="en-US"/>
          </a:p>
        </p:txBody>
      </p:sp>
      <p:sp>
        <p:nvSpPr>
          <p:cNvPr id="4" name="Slide Image Placeholder 3"/>
          <p:cNvSpPr>
            <a:spLocks noGrp="1" noRot="1" noChangeAspect="1"/>
          </p:cNvSpPr>
          <p:nvPr>
            <p:ph type="sldImg" idx="2"/>
          </p:nvPr>
        </p:nvSpPr>
        <p:spPr>
          <a:xfrm>
            <a:off x="1412875" y="1162050"/>
            <a:ext cx="4184650" cy="3138488"/>
          </a:xfrm>
          <a:prstGeom prst="rect">
            <a:avLst/>
          </a:prstGeom>
          <a:noFill/>
          <a:ln w="12700">
            <a:solidFill>
              <a:prstClr val="black"/>
            </a:solidFill>
          </a:ln>
        </p:spPr>
        <p:txBody>
          <a:bodyPr vert="horz" lIns="86018" tIns="43009" rIns="86018" bIns="43009" rtlCol="0" anchor="ctr"/>
          <a:lstStyle/>
          <a:p>
            <a:endParaRPr lang="en-US"/>
          </a:p>
        </p:txBody>
      </p:sp>
      <p:sp>
        <p:nvSpPr>
          <p:cNvPr id="5" name="Notes Placeholder 4"/>
          <p:cNvSpPr>
            <a:spLocks noGrp="1"/>
          </p:cNvSpPr>
          <p:nvPr>
            <p:ph type="body" sz="quarter" idx="3"/>
          </p:nvPr>
        </p:nvSpPr>
        <p:spPr>
          <a:xfrm>
            <a:off x="700727" y="4474443"/>
            <a:ext cx="5608947" cy="3659727"/>
          </a:xfrm>
          <a:prstGeom prst="rect">
            <a:avLst/>
          </a:prstGeom>
        </p:spPr>
        <p:txBody>
          <a:bodyPr vert="horz" lIns="86018" tIns="43009" rIns="86018" bIns="4300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30643"/>
            <a:ext cx="3038049" cy="465758"/>
          </a:xfrm>
          <a:prstGeom prst="rect">
            <a:avLst/>
          </a:prstGeom>
        </p:spPr>
        <p:txBody>
          <a:bodyPr vert="horz" lIns="86018" tIns="43009" rIns="86018" bIns="43009" rtlCol="0" anchor="b"/>
          <a:lstStyle>
            <a:lvl1pPr algn="l">
              <a:defRPr sz="1100"/>
            </a:lvl1pPr>
          </a:lstStyle>
          <a:p>
            <a:endParaRPr lang="en-US"/>
          </a:p>
        </p:txBody>
      </p:sp>
      <p:sp>
        <p:nvSpPr>
          <p:cNvPr id="7" name="Slide Number Placeholder 6"/>
          <p:cNvSpPr>
            <a:spLocks noGrp="1"/>
          </p:cNvSpPr>
          <p:nvPr>
            <p:ph type="sldNum" sz="quarter" idx="5"/>
          </p:nvPr>
        </p:nvSpPr>
        <p:spPr>
          <a:xfrm>
            <a:off x="3970784" y="8830643"/>
            <a:ext cx="3038049" cy="465758"/>
          </a:xfrm>
          <a:prstGeom prst="rect">
            <a:avLst/>
          </a:prstGeom>
        </p:spPr>
        <p:txBody>
          <a:bodyPr vert="horz" lIns="86018" tIns="43009" rIns="86018" bIns="43009" rtlCol="0" anchor="b"/>
          <a:lstStyle>
            <a:lvl1pPr algn="r">
              <a:defRPr sz="1100"/>
            </a:lvl1pPr>
          </a:lstStyle>
          <a:p>
            <a:fld id="{82CDA936-0A11-49A6-86FE-662708930028}" type="slidenum">
              <a:rPr lang="en-US" smtClean="0"/>
              <a:t>‹#›</a:t>
            </a:fld>
            <a:endParaRPr lang="en-US"/>
          </a:p>
        </p:txBody>
      </p:sp>
    </p:spTree>
    <p:extLst>
      <p:ext uri="{BB962C8B-B14F-4D97-AF65-F5344CB8AC3E}">
        <p14:creationId xmlns:p14="http://schemas.microsoft.com/office/powerpoint/2010/main" val="2661811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royalsocietypublishing.org/rsta/article/377/2147/20180231/40986/Accelerator-based-X-ray-sources-synchrotron"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en.wikipedia.org/wiki/European_Synchrotron_Radiation_Facility"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CDA936-0A11-49A6-86FE-662708930028}" type="slidenum">
              <a:rPr lang="en-US" smtClean="0"/>
              <a:t>2</a:t>
            </a:fld>
            <a:endParaRPr lang="en-US"/>
          </a:p>
        </p:txBody>
      </p:sp>
    </p:spTree>
    <p:extLst>
      <p:ext uri="{BB962C8B-B14F-4D97-AF65-F5344CB8AC3E}">
        <p14:creationId xmlns:p14="http://schemas.microsoft.com/office/powerpoint/2010/main" val="1438762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3</a:t>
            </a:fld>
            <a:endParaRPr lang="en-US"/>
          </a:p>
        </p:txBody>
      </p:sp>
    </p:spTree>
    <p:extLst>
      <p:ext uri="{BB962C8B-B14F-4D97-AF65-F5344CB8AC3E}">
        <p14:creationId xmlns:p14="http://schemas.microsoft.com/office/powerpoint/2010/main" val="1900257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most common method to generates characteristic UV emission lines by exciting rare gas atoms via electrical discharge.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Gas Filling: A sealed discharge lamp tube is filled with a high-purity rare gas (e.g., He, Ne, </a:t>
            </a:r>
            <a:r>
              <a:rPr lang="en-US" sz="1200" b="0" i="0" kern="1200" dirty="0" err="1">
                <a:solidFill>
                  <a:schemeClr val="tx1"/>
                </a:solidFill>
                <a:effectLst/>
                <a:latin typeface="+mn-lt"/>
                <a:ea typeface="+mn-ea"/>
                <a:cs typeface="+mn-cs"/>
              </a:rPr>
              <a:t>Ar</a:t>
            </a:r>
            <a:r>
              <a:rPr lang="en-US" sz="1200" b="0" i="0" kern="1200" dirty="0">
                <a:solidFill>
                  <a:schemeClr val="tx1"/>
                </a:solidFill>
                <a:effectLst/>
                <a:latin typeface="+mn-lt"/>
                <a:ea typeface="+mn-ea"/>
                <a:cs typeface="+mn-cs"/>
              </a:rPr>
              <a:t>). Helium (He) is the most widely used because its emission lines are sharp, stable, and cover the key energy range for valence electron analysis.</a:t>
            </a:r>
          </a:p>
          <a:p>
            <a:r>
              <a:rPr lang="en-US" sz="1200" b="0" i="0" kern="1200" dirty="0">
                <a:solidFill>
                  <a:schemeClr val="tx1"/>
                </a:solidFill>
                <a:effectLst/>
                <a:latin typeface="+mn-lt"/>
                <a:ea typeface="+mn-ea"/>
                <a:cs typeface="+mn-cs"/>
              </a:rPr>
              <a:t>Electrical Discharge Excitation: A high voltage (typically several kilovolts) is applied between two electrodes inside the lamp. This creates an electrical discharge that ionizes the rare gas atoms, promoting their electrons to high-energy excited states.</a:t>
            </a:r>
          </a:p>
          <a:p>
            <a:r>
              <a:rPr lang="en-US" sz="1200" b="0" i="0" kern="1200" dirty="0">
                <a:solidFill>
                  <a:schemeClr val="tx1"/>
                </a:solidFill>
                <a:effectLst/>
                <a:latin typeface="+mn-lt"/>
                <a:ea typeface="+mn-ea"/>
                <a:cs typeface="+mn-cs"/>
              </a:rPr>
              <a:t>Photon Emission via Relaxation: When the excited gas atoms relax back to their ground state, they emit photons with discrete energies corresponding to the energy difference between the excited and ground states. These discrete photons form the characteristic UV lines used for UPS.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7</a:t>
            </a:fld>
            <a:endParaRPr lang="en-US"/>
          </a:p>
        </p:txBody>
      </p:sp>
    </p:spTree>
    <p:extLst>
      <p:ext uri="{BB962C8B-B14F-4D97-AF65-F5344CB8AC3E}">
        <p14:creationId xmlns:p14="http://schemas.microsoft.com/office/powerpoint/2010/main" val="3310755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Ultraviolet Photoelectron Spectroscopy (UPS), the </a:t>
            </a:r>
            <a:r>
              <a:rPr lang="en-US" sz="1200" b="1" i="0" kern="1200" dirty="0">
                <a:solidFill>
                  <a:schemeClr val="tx1"/>
                </a:solidFill>
                <a:effectLst/>
                <a:latin typeface="+mn-lt"/>
                <a:ea typeface="+mn-ea"/>
                <a:cs typeface="+mn-cs"/>
              </a:rPr>
              <a:t>UV source</a:t>
            </a:r>
            <a:r>
              <a:rPr lang="en-US" sz="1200" b="0" i="0" kern="1200" dirty="0">
                <a:solidFill>
                  <a:schemeClr val="tx1"/>
                </a:solidFill>
                <a:effectLst/>
                <a:latin typeface="+mn-lt"/>
                <a:ea typeface="+mn-ea"/>
                <a:cs typeface="+mn-cs"/>
              </a:rPr>
              <a:t> is designed to generate photons with energy in the range of </a:t>
            </a:r>
            <a:r>
              <a:rPr lang="en-US" sz="1200" b="1" i="0" kern="1200" dirty="0">
                <a:solidFill>
                  <a:schemeClr val="tx1"/>
                </a:solidFill>
                <a:effectLst/>
                <a:latin typeface="+mn-lt"/>
                <a:ea typeface="+mn-ea"/>
                <a:cs typeface="+mn-cs"/>
              </a:rPr>
              <a:t>10–45 eV</a:t>
            </a:r>
            <a:r>
              <a:rPr lang="en-US" sz="1200" b="0" i="0" kern="1200" dirty="0">
                <a:solidFill>
                  <a:schemeClr val="tx1"/>
                </a:solidFill>
                <a:effectLst/>
                <a:latin typeface="+mn-lt"/>
                <a:ea typeface="+mn-ea"/>
                <a:cs typeface="+mn-cs"/>
              </a:rPr>
              <a:t> — this energy window is ideal for exciting valence electrons (and some shallow core electrons) of materials, while avoiding deep core-level excitation that dominates in XPS. </a:t>
            </a:r>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8</a:t>
            </a:fld>
            <a:endParaRPr lang="en-US"/>
          </a:p>
        </p:txBody>
      </p:sp>
    </p:spTree>
    <p:extLst>
      <p:ext uri="{BB962C8B-B14F-4D97-AF65-F5344CB8AC3E}">
        <p14:creationId xmlns:p14="http://schemas.microsoft.com/office/powerpoint/2010/main" val="721452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UPS, which operates in the vacuum ultraviolet (VUV) range (He I at 21.2 eV / 58 nm; He II at 40.8 eV / 30 nm), the grating must reflect and disperse these shorter wavelengths efficiently without strong absorption. Platinum-coated gratings are standard because Pt maintains high reflectivity down to ~20–50 nm in VUV, while gold works for somewhat longer wavelengths and aluminum for near-VUV; the substrate (e.g., </a:t>
            </a:r>
            <a:r>
              <a:rPr lang="en-US" sz="1200" b="0" i="0" kern="1200" dirty="0" err="1">
                <a:solidFill>
                  <a:schemeClr val="tx1"/>
                </a:solidFill>
                <a:effectLst/>
                <a:latin typeface="+mn-lt"/>
                <a:ea typeface="+mn-ea"/>
                <a:cs typeface="+mn-cs"/>
              </a:rPr>
              <a:t>CaF</a:t>
            </a:r>
            <a:r>
              <a:rPr lang="en-US" sz="1200" b="0" i="0" kern="1200" dirty="0">
                <a:solidFill>
                  <a:schemeClr val="tx1"/>
                </a:solidFill>
                <a:effectLst/>
                <a:latin typeface="+mn-lt"/>
                <a:ea typeface="+mn-ea"/>
                <a:cs typeface="+mn-cs"/>
              </a:rPr>
              <a:t>₂) must also be VUV-compatible to avoid absorption during manufacture or use.</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9</a:t>
            </a:fld>
            <a:endParaRPr lang="en-US"/>
          </a:p>
        </p:txBody>
      </p:sp>
    </p:spTree>
    <p:extLst>
      <p:ext uri="{BB962C8B-B14F-4D97-AF65-F5344CB8AC3E}">
        <p14:creationId xmlns:p14="http://schemas.microsoft.com/office/powerpoint/2010/main" val="2434978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91488-5F56-8E79-C87A-2487C5240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C676F-01DA-B522-CFFE-48B1AD97F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50D23-B621-A2FB-CCF5-641BFA2071EC}"/>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br>
              <a:rPr lang="en-US" sz="1200" b="0" i="0" kern="1200" dirty="0">
                <a:solidFill>
                  <a:schemeClr val="tx1"/>
                </a:solidFill>
                <a:effectLst/>
                <a:latin typeface="+mn-lt"/>
                <a:ea typeface="+mn-ea"/>
                <a:cs typeface="+mn-cs"/>
              </a:rPr>
            </a:br>
            <a:endParaRPr lang="en-HK" dirty="0"/>
          </a:p>
        </p:txBody>
      </p:sp>
      <p:sp>
        <p:nvSpPr>
          <p:cNvPr id="4" name="Slide Number Placeholder 3">
            <a:extLst>
              <a:ext uri="{FF2B5EF4-FFF2-40B4-BE49-F238E27FC236}">
                <a16:creationId xmlns:a16="http://schemas.microsoft.com/office/drawing/2014/main" id="{62F818E6-7CB6-11EE-32B7-F503D15FB925}"/>
              </a:ext>
            </a:extLst>
          </p:cNvPr>
          <p:cNvSpPr>
            <a:spLocks noGrp="1"/>
          </p:cNvSpPr>
          <p:nvPr>
            <p:ph type="sldNum" sz="quarter" idx="5"/>
          </p:nvPr>
        </p:nvSpPr>
        <p:spPr/>
        <p:txBody>
          <a:bodyPr/>
          <a:lstStyle/>
          <a:p>
            <a:fld id="{82CDA936-0A11-49A6-86FE-662708930028}" type="slidenum">
              <a:rPr lang="en-US" smtClean="0"/>
              <a:t>10</a:t>
            </a:fld>
            <a:endParaRPr lang="en-US"/>
          </a:p>
        </p:txBody>
      </p:sp>
    </p:spTree>
    <p:extLst>
      <p:ext uri="{BB962C8B-B14F-4D97-AF65-F5344CB8AC3E}">
        <p14:creationId xmlns:p14="http://schemas.microsoft.com/office/powerpoint/2010/main" val="3577821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HK" dirty="0"/>
              <a:t>The conductance of the tubing is C = 12 </a:t>
            </a:r>
            <a:r>
              <a:rPr lang="en-HK" dirty="0" err="1"/>
              <a:t>liters</a:t>
            </a:r>
            <a:r>
              <a:rPr lang="en-HK" dirty="0"/>
              <a:t>/s x 0.001/10 = 1.2 1E-3 </a:t>
            </a:r>
            <a:r>
              <a:rPr lang="en-HK" dirty="0" err="1"/>
              <a:t>liters</a:t>
            </a:r>
            <a:r>
              <a:rPr lang="en-HK" dirty="0"/>
              <a:t>/sec</a:t>
            </a:r>
          </a:p>
          <a:p>
            <a:pPr marL="0" indent="0">
              <a:buNone/>
            </a:pPr>
            <a:endParaRPr lang="en-HK" dirty="0"/>
          </a:p>
          <a:p>
            <a:pPr marL="0" indent="0">
              <a:buNone/>
            </a:pPr>
            <a:r>
              <a:rPr lang="en-HK" dirty="0"/>
              <a:t>The gas removal rate is 10-9 x 10 =10-8 </a:t>
            </a:r>
            <a:r>
              <a:rPr lang="en-HK" dirty="0" err="1"/>
              <a:t>liter</a:t>
            </a:r>
            <a:r>
              <a:rPr lang="en-HK" dirty="0"/>
              <a:t>-torr/sec</a:t>
            </a:r>
          </a:p>
          <a:p>
            <a:pPr marL="0" indent="0">
              <a:buNone/>
            </a:pPr>
            <a:r>
              <a:rPr lang="en-HK" dirty="0"/>
              <a:t>The conductance is 1.2 1E-3 </a:t>
            </a:r>
            <a:r>
              <a:rPr lang="en-HK" dirty="0" err="1"/>
              <a:t>liter</a:t>
            </a:r>
            <a:r>
              <a:rPr lang="en-HK" dirty="0"/>
              <a:t>/sec</a:t>
            </a:r>
          </a:p>
          <a:p>
            <a:pPr marL="0" indent="0">
              <a:buNone/>
            </a:pPr>
            <a:r>
              <a:rPr lang="en-HK" dirty="0"/>
              <a:t>So the pressure differential is 10-8/1.2 x 10-3 = 0.83 x 10-5 torr</a:t>
            </a:r>
          </a:p>
          <a:p>
            <a:pPr marL="0" indent="0">
              <a:buNone/>
            </a:pPr>
            <a:r>
              <a:rPr lang="en-HK" dirty="0"/>
              <a:t>Then the pressure is 0.83 x 10-5 + 10 -9 torr = 0.83 x 10-5 Torr</a:t>
            </a:r>
          </a:p>
          <a:p>
            <a:pPr marL="0" indent="0">
              <a:buNone/>
            </a:pPr>
            <a:endParaRPr lang="en-HK" dirty="0"/>
          </a:p>
          <a:p>
            <a:pPr marL="0" indent="0">
              <a:buNone/>
            </a:pPr>
            <a:endParaRPr lang="en-HK" dirty="0"/>
          </a:p>
          <a:p>
            <a:pPr marL="0" indent="0">
              <a:buNone/>
            </a:pPr>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11</a:t>
            </a:fld>
            <a:endParaRPr lang="en-US"/>
          </a:p>
        </p:txBody>
      </p:sp>
    </p:spTree>
    <p:extLst>
      <p:ext uri="{BB962C8B-B14F-4D97-AF65-F5344CB8AC3E}">
        <p14:creationId xmlns:p14="http://schemas.microsoft.com/office/powerpoint/2010/main" val="364007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sz="1200" b="0" i="0" kern="1200" dirty="0">
                <a:solidFill>
                  <a:schemeClr val="tx1"/>
                </a:solidFill>
                <a:effectLst/>
                <a:latin typeface="+mn-lt"/>
                <a:ea typeface="+mn-ea"/>
                <a:cs typeface="+mn-cs"/>
              </a:rPr>
              <a:t>Synchrotron radiation facilities provide a superior </a:t>
            </a:r>
            <a:r>
              <a:rPr lang="en-HK" sz="1200" b="0" i="0" kern="1200" dirty="0" err="1">
                <a:solidFill>
                  <a:schemeClr val="tx1"/>
                </a:solidFill>
                <a:effectLst/>
                <a:latin typeface="+mn-lt"/>
                <a:ea typeface="+mn-ea"/>
                <a:cs typeface="+mn-cs"/>
              </a:rPr>
              <a:t>tunable</a:t>
            </a:r>
            <a:r>
              <a:rPr lang="en-HK" sz="1200" b="0" i="0" kern="1200" dirty="0">
                <a:solidFill>
                  <a:schemeClr val="tx1"/>
                </a:solidFill>
                <a:effectLst/>
                <a:latin typeface="+mn-lt"/>
                <a:ea typeface="+mn-ea"/>
                <a:cs typeface="+mn-cs"/>
              </a:rPr>
              <a:t> UV source that surpasses gas discharge lamps in performance.</a:t>
            </a:r>
          </a:p>
          <a:p>
            <a:endParaRPr lang="en-HK"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Electron Acceleration: Synchrotrons accelerate electrons to relativistic speeds (close to the speed of light) in a storage ring.</a:t>
            </a:r>
          </a:p>
          <a:p>
            <a:r>
              <a:rPr lang="en-US" sz="1200" b="0" i="0" kern="1200" dirty="0">
                <a:solidFill>
                  <a:schemeClr val="tx1"/>
                </a:solidFill>
                <a:effectLst/>
                <a:latin typeface="+mn-lt"/>
                <a:ea typeface="+mn-ea"/>
                <a:cs typeface="+mn-cs"/>
              </a:rPr>
              <a:t>Synchrotron Radiation Generation: When these high-speed electrons are deflected by magnetic fields (dipole or undulator magnets), they emit broadband, tunable electromagnetic radiation that spans from infrared to hard X-rays.</a:t>
            </a:r>
          </a:p>
          <a:p>
            <a:r>
              <a:rPr lang="en-US" sz="1200" b="0" i="0" kern="1200" dirty="0">
                <a:solidFill>
                  <a:schemeClr val="tx1"/>
                </a:solidFill>
                <a:effectLst/>
                <a:latin typeface="+mn-lt"/>
                <a:ea typeface="+mn-ea"/>
                <a:cs typeface="+mn-cs"/>
              </a:rPr>
              <a:t>UV Band Selection: By using monochromators (e.g., grazing-incidence gratings) to select the UV spectral region (10–45 eV), a tunable, high-brightness UV beam is obtained.</a:t>
            </a:r>
          </a:p>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12</a:t>
            </a:fld>
            <a:endParaRPr lang="en-US"/>
          </a:p>
        </p:txBody>
      </p:sp>
    </p:spTree>
    <p:extLst>
      <p:ext uri="{BB962C8B-B14F-4D97-AF65-F5344CB8AC3E}">
        <p14:creationId xmlns:p14="http://schemas.microsoft.com/office/powerpoint/2010/main" val="3470550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13</a:t>
            </a:fld>
            <a:endParaRPr lang="en-US"/>
          </a:p>
        </p:txBody>
      </p:sp>
    </p:spTree>
    <p:extLst>
      <p:ext uri="{BB962C8B-B14F-4D97-AF65-F5344CB8AC3E}">
        <p14:creationId xmlns:p14="http://schemas.microsoft.com/office/powerpoint/2010/main" val="3553740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14</a:t>
            </a:fld>
            <a:endParaRPr lang="en-US"/>
          </a:p>
        </p:txBody>
      </p:sp>
    </p:spTree>
    <p:extLst>
      <p:ext uri="{BB962C8B-B14F-4D97-AF65-F5344CB8AC3E}">
        <p14:creationId xmlns:p14="http://schemas.microsoft.com/office/powerpoint/2010/main" val="1946547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kern="1200" dirty="0">
                <a:solidFill>
                  <a:schemeClr val="tx1"/>
                </a:solidFill>
                <a:effectLst/>
                <a:latin typeface="+mn-lt"/>
                <a:ea typeface="+mn-ea"/>
                <a:cs typeface="+mn-cs"/>
              </a:rPr>
              <a:t>Key Historical Synchrotron Facilities:</a:t>
            </a:r>
          </a:p>
          <a:p>
            <a:r>
              <a:rPr lang="en-US" sz="1200" b="0" i="0" u="none" kern="1200" dirty="0">
                <a:solidFill>
                  <a:schemeClr val="tx1"/>
                </a:solidFill>
                <a:effectLst/>
                <a:latin typeface="+mn-lt"/>
                <a:ea typeface="+mn-ea"/>
                <a:cs typeface="+mn-cs"/>
              </a:rPr>
              <a:t>First Observation (1947): General Electric (GE) Research Laboratory (Schenectady, NY).</a:t>
            </a:r>
          </a:p>
          <a:p>
            <a:r>
              <a:rPr lang="en-US" sz="1200" b="0" i="0" u="none" kern="1200" dirty="0">
                <a:solidFill>
                  <a:schemeClr val="tx1"/>
                </a:solidFill>
                <a:effectLst/>
                <a:latin typeface="+mn-lt"/>
                <a:ea typeface="+mn-ea"/>
                <a:cs typeface="+mn-cs"/>
              </a:rPr>
              <a:t>First Characterization (1947/48): Cornell University (using a 300 MeV synchrotron).</a:t>
            </a:r>
          </a:p>
          <a:p>
            <a:r>
              <a:rPr lang="en-US" sz="1200" b="0" i="0" u="none" kern="1200" dirty="0">
                <a:solidFill>
                  <a:schemeClr val="tx1"/>
                </a:solidFill>
                <a:effectLst/>
                <a:latin typeface="+mn-lt"/>
                <a:ea typeface="+mn-ea"/>
                <a:cs typeface="+mn-cs"/>
              </a:rPr>
              <a:t>First Generation (Parasitic): SURF (USA), Frascati (Italy), and DESY (Germany) used synchrotrons built for particle physics to produce light.</a:t>
            </a:r>
          </a:p>
          <a:p>
            <a:r>
              <a:rPr lang="en-US" sz="1200" b="0" i="0" u="none" kern="1200" dirty="0">
                <a:solidFill>
                  <a:schemeClr val="tx1"/>
                </a:solidFill>
                <a:effectLst/>
                <a:latin typeface="+mn-lt"/>
                <a:ea typeface="+mn-ea"/>
                <a:cs typeface="+mn-cs"/>
              </a:rPr>
              <a:t>Second Generation (Dedicated): </a:t>
            </a:r>
            <a:r>
              <a:rPr 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The Synchrotron Radiation Source (SRS) at Daresbury</a:t>
            </a:r>
            <a:r>
              <a:rPr lang="en-US" sz="1200" b="0" i="0" u="none" kern="1200" dirty="0">
                <a:solidFill>
                  <a:schemeClr val="tx1"/>
                </a:solidFill>
                <a:effectLst/>
                <a:latin typeface="+mn-lt"/>
                <a:ea typeface="+mn-ea"/>
                <a:cs typeface="+mn-cs"/>
              </a:rPr>
              <a:t> in the UK was the first specifically designed for synchrotron light, starting operation in the early 1980s.</a:t>
            </a:r>
          </a:p>
          <a:p>
            <a:r>
              <a:rPr lang="en-US" sz="1200" b="0" i="0" u="none" kern="1200" dirty="0">
                <a:solidFill>
                  <a:schemeClr val="tx1"/>
                </a:solidFill>
                <a:effectLst/>
                <a:latin typeface="+mn-lt"/>
                <a:ea typeface="+mn-ea"/>
                <a:cs typeface="+mn-cs"/>
              </a:rPr>
              <a:t>Third Generation: </a:t>
            </a:r>
            <a:r>
              <a:rPr lang="en-US" sz="1200" b="0" i="0" u="none"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The European Synchrotron Radiation Facility (ESRF)</a:t>
            </a:r>
            <a:r>
              <a:rPr lang="en-US" sz="1200" b="0" i="0" u="none" kern="1200" dirty="0">
                <a:solidFill>
                  <a:schemeClr val="tx1"/>
                </a:solidFill>
                <a:effectLst/>
                <a:latin typeface="+mn-lt"/>
                <a:ea typeface="+mn-ea"/>
                <a:cs typeface="+mn-cs"/>
              </a:rPr>
              <a:t> (France) was the first dedicated, high-energy third-generation source (1994). </a:t>
            </a:r>
          </a:p>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16</a:t>
            </a:fld>
            <a:endParaRPr lang="en-US"/>
          </a:p>
        </p:txBody>
      </p:sp>
    </p:spTree>
    <p:extLst>
      <p:ext uri="{BB962C8B-B14F-4D97-AF65-F5344CB8AC3E}">
        <p14:creationId xmlns:p14="http://schemas.microsoft.com/office/powerpoint/2010/main" val="32293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24</a:t>
            </a:fld>
            <a:endParaRPr lang="en-US"/>
          </a:p>
        </p:txBody>
      </p:sp>
    </p:spTree>
    <p:extLst>
      <p:ext uri="{BB962C8B-B14F-4D97-AF65-F5344CB8AC3E}">
        <p14:creationId xmlns:p14="http://schemas.microsoft.com/office/powerpoint/2010/main" val="2798561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momentum brought by the incident ultraviolet photons can be </a:t>
            </a:r>
            <a:r>
              <a:rPr lang="en-US" sz="1200" b="1" i="0" kern="1200" dirty="0">
                <a:solidFill>
                  <a:schemeClr val="tx1"/>
                </a:solidFill>
                <a:effectLst/>
                <a:latin typeface="+mn-lt"/>
                <a:ea typeface="+mn-ea"/>
                <a:cs typeface="+mn-cs"/>
              </a:rPr>
              <a:t>completely ignored</a:t>
            </a:r>
            <a:r>
              <a:rPr lang="en-US" sz="1200" b="0" i="0" kern="1200" dirty="0">
                <a:solidFill>
                  <a:schemeClr val="tx1"/>
                </a:solidFill>
                <a:effectLst/>
                <a:latin typeface="+mn-lt"/>
                <a:ea typeface="+mn-ea"/>
                <a:cs typeface="+mn-cs"/>
              </a:rPr>
              <a:t> in the photoelectric process.</a:t>
            </a:r>
            <a:endParaRPr lang="en-HK" dirty="0"/>
          </a:p>
        </p:txBody>
      </p:sp>
      <p:sp>
        <p:nvSpPr>
          <p:cNvPr id="4" name="Slide Number Placeholder 3"/>
          <p:cNvSpPr>
            <a:spLocks noGrp="1"/>
          </p:cNvSpPr>
          <p:nvPr>
            <p:ph type="sldNum" sz="quarter" idx="5"/>
          </p:nvPr>
        </p:nvSpPr>
        <p:spPr/>
        <p:txBody>
          <a:bodyPr/>
          <a:lstStyle/>
          <a:p>
            <a:fld id="{82CDA936-0A11-49A6-86FE-662708930028}" type="slidenum">
              <a:rPr lang="en-US" smtClean="0"/>
              <a:t>27</a:t>
            </a:fld>
            <a:endParaRPr lang="en-US"/>
          </a:p>
        </p:txBody>
      </p:sp>
    </p:spTree>
    <p:extLst>
      <p:ext uri="{BB962C8B-B14F-4D97-AF65-F5344CB8AC3E}">
        <p14:creationId xmlns:p14="http://schemas.microsoft.com/office/powerpoint/2010/main" val="3218100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新細明體" pitchFamily="18" charset="-12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grpSp>
      </p:grpSp>
      <p:sp>
        <p:nvSpPr>
          <p:cNvPr id="2254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ltLang="zh-TW"/>
              <a:t>Click to edit Master title style</a:t>
            </a:r>
          </a:p>
        </p:txBody>
      </p:sp>
      <p:sp>
        <p:nvSpPr>
          <p:cNvPr id="2254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ltLang="zh-TW"/>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TW"/>
          </a:p>
        </p:txBody>
      </p:sp>
      <p:sp>
        <p:nvSpPr>
          <p:cNvPr id="19" name="Rectangle 17"/>
          <p:cNvSpPr>
            <a:spLocks noGrp="1" noChangeArrowheads="1"/>
          </p:cNvSpPr>
          <p:nvPr>
            <p:ph type="ftr" sz="quarter" idx="11"/>
          </p:nvPr>
        </p:nvSpPr>
        <p:spPr/>
        <p:txBody>
          <a:bodyPr/>
          <a:lstStyle>
            <a:lvl1pPr>
              <a:defRPr/>
            </a:lvl1pPr>
          </a:lstStyle>
          <a:p>
            <a:pPr>
              <a:defRPr/>
            </a:pPr>
            <a:endParaRPr lang="en-US" altLang="zh-TW"/>
          </a:p>
        </p:txBody>
      </p:sp>
      <p:sp>
        <p:nvSpPr>
          <p:cNvPr id="20" name="Rectangle 18"/>
          <p:cNvSpPr>
            <a:spLocks noGrp="1" noChangeArrowheads="1"/>
          </p:cNvSpPr>
          <p:nvPr>
            <p:ph type="sldNum" sz="quarter" idx="12"/>
          </p:nvPr>
        </p:nvSpPr>
        <p:spPr/>
        <p:txBody>
          <a:bodyPr/>
          <a:lstStyle>
            <a:lvl1pPr>
              <a:defRPr/>
            </a:lvl1pPr>
          </a:lstStyle>
          <a:p>
            <a:pPr>
              <a:defRPr/>
            </a:pPr>
            <a:fld id="{786BFC47-DEB4-4AE7-A666-3800F87A75F1}" type="slidenum">
              <a:rPr lang="zh-TW" altLang="en-US"/>
              <a:pPr>
                <a:defRPr/>
              </a:pPr>
              <a:t>‹#›</a:t>
            </a:fld>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D6CF7381-FAB2-40CD-BDC2-DC004732E8ED}"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70BF1358-680C-4F06-8C6C-3D7596EEDCFE}"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4F971E66-7310-40FE-98A5-C38F03838D40}"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3"/>
          <p:cNvSpPr>
            <a:spLocks noGrp="1" noChangeArrowheads="1"/>
          </p:cNvSpPr>
          <p:nvPr>
            <p:ph type="sldNum" sz="quarter" idx="11"/>
          </p:nvPr>
        </p:nvSpPr>
        <p:spPr>
          <a:ln/>
        </p:spPr>
        <p:txBody>
          <a:bodyPr/>
          <a:lstStyle>
            <a:lvl1pPr>
              <a:defRPr/>
            </a:lvl1pPr>
          </a:lstStyle>
          <a:p>
            <a:pPr>
              <a:defRPr/>
            </a:pPr>
            <a:fld id="{C46473E2-6188-4D44-9D86-4B67F98B03AD}" type="slidenum">
              <a:rPr lang="zh-TW" altLang="en-US"/>
              <a:pPr>
                <a:defRPr/>
              </a:pPr>
              <a:t>‹#›</a:t>
            </a:fld>
            <a:endParaRPr lang="en-US" altLang="zh-TW"/>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3"/>
          <p:cNvSpPr>
            <a:spLocks noGrp="1" noChangeArrowheads="1"/>
          </p:cNvSpPr>
          <p:nvPr>
            <p:ph type="sldNum" sz="quarter" idx="11"/>
          </p:nvPr>
        </p:nvSpPr>
        <p:spPr>
          <a:ln/>
        </p:spPr>
        <p:txBody>
          <a:bodyPr/>
          <a:lstStyle>
            <a:lvl1pPr>
              <a:defRPr/>
            </a:lvl1pPr>
          </a:lstStyle>
          <a:p>
            <a:pPr>
              <a:defRPr/>
            </a:pPr>
            <a:fld id="{7A4084A8-053E-4764-A697-5930AB458709}" type="slidenum">
              <a:rPr lang="zh-TW" altLang="en-US"/>
              <a:pPr>
                <a:defRPr/>
              </a:pPr>
              <a:t>‹#›</a:t>
            </a:fld>
            <a:endParaRPr lang="en-US" altLang="zh-TW"/>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3"/>
          <p:cNvSpPr>
            <a:spLocks noGrp="1" noChangeArrowheads="1"/>
          </p:cNvSpPr>
          <p:nvPr>
            <p:ph type="sldNum" sz="quarter" idx="11"/>
          </p:nvPr>
        </p:nvSpPr>
        <p:spPr>
          <a:ln/>
        </p:spPr>
        <p:txBody>
          <a:bodyPr/>
          <a:lstStyle>
            <a:lvl1pPr>
              <a:defRPr/>
            </a:lvl1pPr>
          </a:lstStyle>
          <a:p>
            <a:pPr>
              <a:defRPr/>
            </a:pPr>
            <a:fld id="{5A031570-0DA8-4A71-BBF6-3150CEB7570B}" type="slidenum">
              <a:rPr lang="zh-TW" altLang="en-US"/>
              <a:pPr>
                <a:defRPr/>
              </a:pPr>
              <a:t>‹#›</a:t>
            </a:fld>
            <a:endParaRPr lang="en-US" altLang="zh-TW"/>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D4B5E8E4-E573-4C43-B9AB-7F4408CF5224}"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77669E20-0DC5-4D69-9086-0764BAD18858}"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D555765E-7BAD-4C6D-A318-A19E63B90CF6}"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7FBE85D8-E46A-43CA-96DA-6F3587F16D3E}"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a typeface="新細明體" pitchFamily="18" charset="-120"/>
              </a:defRPr>
            </a:lvl1pPr>
          </a:lstStyle>
          <a:p>
            <a:pPr>
              <a:defRPr/>
            </a:pPr>
            <a:endParaRPr lang="en-US" altLang="zh-TW"/>
          </a:p>
        </p:txBody>
      </p:sp>
      <p:sp>
        <p:nvSpPr>
          <p:cNvPr id="2150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ea typeface="新細明體" pitchFamily="18" charset="-120"/>
              </a:defRPr>
            </a:lvl1pPr>
          </a:lstStyle>
          <a:p>
            <a:pPr>
              <a:defRPr/>
            </a:pPr>
            <a:fld id="{A8CFCC93-5AA0-478C-B17D-E4FFE7D4056A}" type="slidenum">
              <a:rPr lang="zh-TW" altLang="en-US"/>
              <a:pPr>
                <a:defRPr/>
              </a:pPr>
              <a:t>‹#›</a:t>
            </a:fld>
            <a:endParaRPr lang="en-US" altLang="zh-TW"/>
          </a:p>
        </p:txBody>
      </p:sp>
      <p:grpSp>
        <p:nvGrpSpPr>
          <p:cNvPr id="4100" name="Group 4"/>
          <p:cNvGrpSpPr>
            <a:grpSpLocks/>
          </p:cNvGrpSpPr>
          <p:nvPr/>
        </p:nvGrpSpPr>
        <p:grpSpPr bwMode="auto">
          <a:xfrm>
            <a:off x="0" y="0"/>
            <a:ext cx="9144000" cy="914400"/>
            <a:chOff x="0" y="0"/>
            <a:chExt cx="5760" cy="344"/>
          </a:xfrm>
        </p:grpSpPr>
        <p:sp>
          <p:nvSpPr>
            <p:cNvPr id="2150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新細明體" pitchFamily="18" charset="-120"/>
              </a:endParaRPr>
            </a:p>
          </p:txBody>
        </p:sp>
        <p:sp>
          <p:nvSpPr>
            <p:cNvPr id="2151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21511"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2"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3"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sp>
          <p:nvSpPr>
            <p:cNvPr id="21514"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新細明體" pitchFamily="18" charset="-120"/>
              </a:endParaRPr>
            </a:p>
          </p:txBody>
        </p:sp>
        <p:sp>
          <p:nvSpPr>
            <p:cNvPr id="21515"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新細明體" pitchFamily="18" charset="-120"/>
              </a:endParaRPr>
            </a:p>
          </p:txBody>
        </p:sp>
        <p:sp>
          <p:nvSpPr>
            <p:cNvPr id="21516"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sp>
          <p:nvSpPr>
            <p:cNvPr id="21517"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新細明體" pitchFamily="18" charset="-120"/>
              </a:endParaRPr>
            </a:p>
          </p:txBody>
        </p:sp>
      </p:grpSp>
      <p:sp>
        <p:nvSpPr>
          <p:cNvPr id="4101"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4102"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2152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新細明體" pitchFamily="18" charset="-120"/>
              </a:defRPr>
            </a:lvl1pPr>
          </a:lstStyle>
          <a:p>
            <a:pPr>
              <a:defRPr/>
            </a:pPr>
            <a:endParaRPr lang="en-US" altLang="zh-TW"/>
          </a:p>
        </p:txBody>
      </p:sp>
    </p:spTree>
  </p:cSld>
  <p:clrMap bg1="lt1" tx1="dk1" bg2="lt2" tx2="dk2" accent1="accent1" accent2="accent2" accent3="accent3" accent4="accent4" accent5="accent5" accent6="accent6" hlink="hlink" folHlink="folHlink"/>
  <p:sldLayoutIdLst>
    <p:sldLayoutId id="2147483748"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oleObject" Target="../embeddings/oleObject1.bin"/><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www.youtube.com/watch?v=Cv1oaI2CcBk" TargetMode="Externa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22.wmf"/><Relationship Id="rId4"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10.png"/><Relationship Id="rId4" Type="http://schemas.openxmlformats.org/officeDocument/2006/relationships/image" Target="../media/image300.png"/></Relationships>
</file>

<file path=ppt/slides/_rels/slide28.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4.png"/><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35.w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2971800" y="1828800"/>
            <a:ext cx="7239000" cy="2209800"/>
          </a:xfrm>
        </p:spPr>
        <p:txBody>
          <a:bodyPr/>
          <a:lstStyle/>
          <a:p>
            <a:pPr eaLnBrk="1" hangingPunct="1"/>
            <a:r>
              <a:rPr lang="en-US" altLang="zh-TW" sz="4000" dirty="0">
                <a:solidFill>
                  <a:schemeClr val="bg1"/>
                </a:solidFill>
                <a:latin typeface="Georgia" panose="02040502050405020303" pitchFamily="18" charset="0"/>
              </a:rPr>
              <a:t>AMSC 5710</a:t>
            </a:r>
            <a:br>
              <a:rPr lang="en-US" altLang="zh-TW" sz="4000" dirty="0">
                <a:solidFill>
                  <a:schemeClr val="tx1"/>
                </a:solidFill>
                <a:latin typeface="Georgia" panose="02040502050405020303" pitchFamily="18" charset="0"/>
              </a:rPr>
            </a:br>
            <a:r>
              <a:rPr lang="en-US" altLang="zh-TW" sz="4000" dirty="0">
                <a:latin typeface="Georgia" panose="02040502050405020303" pitchFamily="18" charset="0"/>
              </a:rPr>
              <a:t>Advanced Materials Characterization</a:t>
            </a:r>
            <a:endParaRPr lang="en-US" altLang="zh-TW" sz="4000" dirty="0">
              <a:latin typeface="Georgia" panose="02040502050405020303" pitchFamily="18" charset="0"/>
              <a:ea typeface="新細明體" pitchFamily="18" charset="-120"/>
            </a:endParaRPr>
          </a:p>
        </p:txBody>
      </p:sp>
      <p:sp>
        <p:nvSpPr>
          <p:cNvPr id="6147" name="Rectangle 3"/>
          <p:cNvSpPr>
            <a:spLocks noGrp="1" noChangeArrowheads="1"/>
          </p:cNvSpPr>
          <p:nvPr>
            <p:ph type="subTitle" idx="1"/>
          </p:nvPr>
        </p:nvSpPr>
        <p:spPr/>
        <p:txBody>
          <a:bodyPr/>
          <a:lstStyle/>
          <a:p>
            <a:pPr eaLnBrk="1" hangingPunct="1"/>
            <a:r>
              <a:rPr lang="en-US" altLang="zh-TW" dirty="0">
                <a:latin typeface="Georgia" panose="02040502050405020303" pitchFamily="18" charset="0"/>
                <a:ea typeface="新細明體" pitchFamily="18" charset="-120"/>
              </a:rPr>
              <a:t>Ultraviolet photoemission spectroscopy (UPS)</a:t>
            </a:r>
            <a:r>
              <a:rPr lang="en-US" altLang="zh-CN" b="1" dirty="0">
                <a:latin typeface="Georgia" panose="02040502050405020303" pitchFamily="18" charset="0"/>
                <a:ea typeface="宋体" charset="-122"/>
              </a:rPr>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84344" y="1676400"/>
            <a:ext cx="1797287" cy="707886"/>
          </a:xfrm>
          <a:prstGeom prst="rect">
            <a:avLst/>
          </a:prstGeom>
          <a:noFill/>
        </p:spPr>
        <p:txBody>
          <a:bodyPr wrap="none" rtlCol="0">
            <a:spAutoFit/>
          </a:bodyPr>
          <a:lstStyle/>
          <a:p>
            <a:pPr algn="ctr"/>
            <a:r>
              <a:rPr lang="en-US" sz="2000" dirty="0">
                <a:latin typeface="Georgia" panose="02040502050405020303" pitchFamily="18" charset="0"/>
              </a:rPr>
              <a:t>Primary beam</a:t>
            </a:r>
          </a:p>
          <a:p>
            <a:pPr algn="ctr"/>
            <a:r>
              <a:rPr lang="en-US" sz="2000" dirty="0">
                <a:latin typeface="Georgia" panose="02040502050405020303" pitchFamily="18" charset="0"/>
              </a:rPr>
              <a:t>(source)</a:t>
            </a:r>
          </a:p>
        </p:txBody>
      </p:sp>
      <p:sp>
        <p:nvSpPr>
          <p:cNvPr id="6" name="TextBox 5"/>
          <p:cNvSpPr txBox="1"/>
          <p:nvPr/>
        </p:nvSpPr>
        <p:spPr>
          <a:xfrm>
            <a:off x="5819398" y="1676400"/>
            <a:ext cx="2055371" cy="707886"/>
          </a:xfrm>
          <a:prstGeom prst="rect">
            <a:avLst/>
          </a:prstGeom>
          <a:noFill/>
        </p:spPr>
        <p:txBody>
          <a:bodyPr wrap="none" rtlCol="0">
            <a:spAutoFit/>
          </a:bodyPr>
          <a:lstStyle/>
          <a:p>
            <a:pPr algn="ctr"/>
            <a:r>
              <a:rPr lang="en-US" sz="2000" dirty="0">
                <a:latin typeface="Georgia" panose="02040502050405020303" pitchFamily="18" charset="0"/>
              </a:rPr>
              <a:t>Secondary beam</a:t>
            </a:r>
          </a:p>
          <a:p>
            <a:pPr algn="ctr"/>
            <a:r>
              <a:rPr lang="en-US" sz="2000" dirty="0">
                <a:latin typeface="Georgia" panose="02040502050405020303" pitchFamily="18" charset="0"/>
              </a:rPr>
              <a:t>(result)</a:t>
            </a:r>
          </a:p>
        </p:txBody>
      </p:sp>
      <p:sp>
        <p:nvSpPr>
          <p:cNvPr id="7" name="TextBox 6"/>
          <p:cNvSpPr txBox="1"/>
          <p:nvPr/>
        </p:nvSpPr>
        <p:spPr>
          <a:xfrm>
            <a:off x="1409754" y="3606485"/>
            <a:ext cx="1276311" cy="1323439"/>
          </a:xfrm>
          <a:prstGeom prst="rect">
            <a:avLst/>
          </a:prstGeom>
          <a:noFill/>
        </p:spPr>
        <p:txBody>
          <a:bodyPr wrap="none" rtlCol="0">
            <a:spAutoFit/>
          </a:bodyPr>
          <a:lstStyle/>
          <a:p>
            <a:r>
              <a:rPr lang="en-US" sz="2000" b="1" dirty="0">
                <a:solidFill>
                  <a:srgbClr val="FF0000"/>
                </a:solidFill>
                <a:latin typeface="Georgia" panose="02040502050405020303" pitchFamily="18" charset="0"/>
              </a:rPr>
              <a:t>Photons</a:t>
            </a:r>
          </a:p>
          <a:p>
            <a:r>
              <a:rPr lang="en-US" sz="2000" dirty="0">
                <a:solidFill>
                  <a:schemeClr val="tx2"/>
                </a:solidFill>
                <a:latin typeface="Georgia" panose="02040502050405020303" pitchFamily="18" charset="0"/>
              </a:rPr>
              <a:t>Electrons</a:t>
            </a:r>
          </a:p>
          <a:p>
            <a:r>
              <a:rPr lang="en-US" sz="2000" dirty="0">
                <a:latin typeface="Georgia" panose="02040502050405020303" pitchFamily="18" charset="0"/>
              </a:rPr>
              <a:t>Ions</a:t>
            </a:r>
          </a:p>
          <a:p>
            <a:r>
              <a:rPr lang="en-US" sz="2000" dirty="0">
                <a:latin typeface="Georgia" panose="02040502050405020303" pitchFamily="18" charset="0"/>
              </a:rPr>
              <a:t>…</a:t>
            </a:r>
          </a:p>
        </p:txBody>
      </p:sp>
      <p:sp>
        <p:nvSpPr>
          <p:cNvPr id="8" name="TextBox 7"/>
          <p:cNvSpPr txBox="1"/>
          <p:nvPr/>
        </p:nvSpPr>
        <p:spPr>
          <a:xfrm>
            <a:off x="6019800" y="3329486"/>
            <a:ext cx="1446230" cy="1631216"/>
          </a:xfrm>
          <a:prstGeom prst="rect">
            <a:avLst/>
          </a:prstGeom>
          <a:noFill/>
        </p:spPr>
        <p:txBody>
          <a:bodyPr wrap="none" rtlCol="0">
            <a:spAutoFit/>
          </a:bodyPr>
          <a:lstStyle/>
          <a:p>
            <a:r>
              <a:rPr lang="en-US" sz="2000" dirty="0">
                <a:latin typeface="Georgia" panose="02040502050405020303" pitchFamily="18" charset="0"/>
              </a:rPr>
              <a:t>Photons</a:t>
            </a:r>
          </a:p>
          <a:p>
            <a:r>
              <a:rPr lang="en-US" sz="2000" b="1" dirty="0">
                <a:solidFill>
                  <a:srgbClr val="FF0000"/>
                </a:solidFill>
                <a:latin typeface="Georgia" panose="02040502050405020303" pitchFamily="18" charset="0"/>
              </a:rPr>
              <a:t>Electrons</a:t>
            </a:r>
          </a:p>
          <a:p>
            <a:r>
              <a:rPr lang="en-US" sz="2000" dirty="0">
                <a:latin typeface="Georgia" panose="02040502050405020303" pitchFamily="18" charset="0"/>
              </a:rPr>
              <a:t>Ions</a:t>
            </a:r>
          </a:p>
          <a:p>
            <a:r>
              <a:rPr lang="en-US" sz="2000" dirty="0">
                <a:latin typeface="Georgia" panose="02040502050405020303" pitchFamily="18" charset="0"/>
              </a:rPr>
              <a:t>Phonons</a:t>
            </a:r>
          </a:p>
          <a:p>
            <a:r>
              <a:rPr lang="en-US" sz="2000" dirty="0">
                <a:latin typeface="Georgia" panose="02040502050405020303" pitchFamily="18" charset="0"/>
              </a:rPr>
              <a:t>…</a:t>
            </a:r>
          </a:p>
        </p:txBody>
      </p:sp>
      <p:sp>
        <p:nvSpPr>
          <p:cNvPr id="9" name="Right Arrow 8"/>
          <p:cNvSpPr/>
          <p:nvPr/>
        </p:nvSpPr>
        <p:spPr bwMode="auto">
          <a:xfrm>
            <a:off x="2725911" y="3911285"/>
            <a:ext cx="381000" cy="1525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Georgia" panose="02040502050405020303" pitchFamily="18" charset="0"/>
            </a:endParaRPr>
          </a:p>
        </p:txBody>
      </p:sp>
      <p:sp>
        <p:nvSpPr>
          <p:cNvPr id="10" name="Right Arrow 9"/>
          <p:cNvSpPr/>
          <p:nvPr/>
        </p:nvSpPr>
        <p:spPr bwMode="auto">
          <a:xfrm>
            <a:off x="5112009" y="3911113"/>
            <a:ext cx="381000" cy="1525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Georgia" panose="02040502050405020303" pitchFamily="18" charset="0"/>
            </a:endParaRPr>
          </a:p>
        </p:txBody>
      </p:sp>
      <p:sp>
        <p:nvSpPr>
          <p:cNvPr id="2" name="Slide Number Placeholder 1">
            <a:extLst>
              <a:ext uri="{FF2B5EF4-FFF2-40B4-BE49-F238E27FC236}">
                <a16:creationId xmlns:a16="http://schemas.microsoft.com/office/drawing/2014/main" id="{43E9D6DE-C9FB-42DB-8731-5171F75B4C64}"/>
              </a:ext>
            </a:extLst>
          </p:cNvPr>
          <p:cNvSpPr>
            <a:spLocks noGrp="1"/>
          </p:cNvSpPr>
          <p:nvPr>
            <p:ph type="sldNum" sz="quarter" idx="11"/>
          </p:nvPr>
        </p:nvSpPr>
        <p:spPr/>
        <p:txBody>
          <a:bodyPr/>
          <a:lstStyle/>
          <a:p>
            <a:pPr>
              <a:defRPr/>
            </a:pPr>
            <a:fld id="{5A031570-0DA8-4A71-BBF6-3150CEB7570B}" type="slidenum">
              <a:rPr lang="zh-TW" altLang="en-US" smtClean="0"/>
              <a:pPr>
                <a:defRPr/>
              </a:pPr>
              <a:t>2</a:t>
            </a:fld>
            <a:endParaRPr lang="en-US" altLang="zh-TW"/>
          </a:p>
        </p:txBody>
      </p:sp>
      <p:pic>
        <p:nvPicPr>
          <p:cNvPr id="3" name="Picture 2" descr="A white rabbit with a black background&#10;&#10;Description automatically generated with low confidence">
            <a:extLst>
              <a:ext uri="{FF2B5EF4-FFF2-40B4-BE49-F238E27FC236}">
                <a16:creationId xmlns:a16="http://schemas.microsoft.com/office/drawing/2014/main" id="{DF76245A-BF0F-FC2C-E490-9040117F37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1825" y="2755569"/>
            <a:ext cx="2311088" cy="2311088"/>
          </a:xfrm>
          <a:prstGeom prst="rect">
            <a:avLst/>
          </a:prstGeom>
        </p:spPr>
      </p:pic>
    </p:spTree>
    <p:extLst>
      <p:ext uri="{BB962C8B-B14F-4D97-AF65-F5344CB8AC3E}">
        <p14:creationId xmlns:p14="http://schemas.microsoft.com/office/powerpoint/2010/main" val="3644698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798746"/>
            <a:ext cx="8072438" cy="3983343"/>
          </a:xfrm>
          <a:prstGeom prst="rect">
            <a:avLst/>
          </a:prstGeom>
        </p:spPr>
      </p:pic>
      <p:sp>
        <p:nvSpPr>
          <p:cNvPr id="4" name="Oval 3"/>
          <p:cNvSpPr/>
          <p:nvPr/>
        </p:nvSpPr>
        <p:spPr bwMode="auto">
          <a:xfrm>
            <a:off x="5638800" y="2362200"/>
            <a:ext cx="914400" cy="762000"/>
          </a:xfrm>
          <a:prstGeom prst="ellipse">
            <a:avLst/>
          </a:prstGeom>
          <a:noFill/>
          <a:ln w="38100" cap="flat" cmpd="sng" algn="ctr">
            <a:solidFill>
              <a:srgbClr val="FF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5" name="TextBox 4"/>
          <p:cNvSpPr txBox="1"/>
          <p:nvPr/>
        </p:nvSpPr>
        <p:spPr>
          <a:xfrm>
            <a:off x="1066800" y="1066800"/>
            <a:ext cx="4990469" cy="461665"/>
          </a:xfrm>
          <a:prstGeom prst="rect">
            <a:avLst/>
          </a:prstGeom>
          <a:noFill/>
        </p:spPr>
        <p:txBody>
          <a:bodyPr wrap="none" rtlCol="0">
            <a:spAutoFit/>
          </a:bodyPr>
          <a:lstStyle/>
          <a:p>
            <a:r>
              <a:rPr lang="en-US" sz="2400" dirty="0">
                <a:latin typeface="Georgia" panose="02040502050405020303" pitchFamily="18" charset="0"/>
              </a:rPr>
              <a:t>Ultraviolet light ~ 10</a:t>
            </a:r>
            <a:r>
              <a:rPr lang="en-US" sz="2400" baseline="30000" dirty="0">
                <a:latin typeface="Georgia" panose="02040502050405020303" pitchFamily="18" charset="0"/>
              </a:rPr>
              <a:t>-6 </a:t>
            </a:r>
            <a:r>
              <a:rPr lang="en-US" sz="2400" dirty="0">
                <a:latin typeface="Georgia" panose="02040502050405020303" pitchFamily="18" charset="0"/>
              </a:rPr>
              <a:t>to 10</a:t>
            </a:r>
            <a:r>
              <a:rPr lang="en-US" sz="2400" baseline="30000" dirty="0">
                <a:latin typeface="Georgia" panose="02040502050405020303" pitchFamily="18" charset="0"/>
              </a:rPr>
              <a:t>-8</a:t>
            </a:r>
            <a:r>
              <a:rPr lang="en-US" sz="2400" dirty="0">
                <a:latin typeface="Georgia" panose="02040502050405020303" pitchFamily="18" charset="0"/>
              </a:rPr>
              <a:t> meter</a:t>
            </a:r>
          </a:p>
        </p:txBody>
      </p:sp>
      <p:sp>
        <p:nvSpPr>
          <p:cNvPr id="2" name="Slide Number Placeholder 1">
            <a:extLst>
              <a:ext uri="{FF2B5EF4-FFF2-40B4-BE49-F238E27FC236}">
                <a16:creationId xmlns:a16="http://schemas.microsoft.com/office/drawing/2014/main" id="{7BA0E97D-BE6B-42A6-B3AC-8CC1BF736992}"/>
              </a:ext>
            </a:extLst>
          </p:cNvPr>
          <p:cNvSpPr>
            <a:spLocks noGrp="1"/>
          </p:cNvSpPr>
          <p:nvPr>
            <p:ph type="sldNum" sz="quarter" idx="11"/>
          </p:nvPr>
        </p:nvSpPr>
        <p:spPr/>
        <p:txBody>
          <a:bodyPr/>
          <a:lstStyle/>
          <a:p>
            <a:pPr>
              <a:defRPr/>
            </a:pPr>
            <a:fld id="{5A031570-0DA8-4A71-BBF6-3150CEB7570B}" type="slidenum">
              <a:rPr lang="zh-TW" altLang="en-US" smtClean="0"/>
              <a:pPr>
                <a:defRPr/>
              </a:pPr>
              <a:t>3</a:t>
            </a:fld>
            <a:endParaRPr lang="en-US" altLang="zh-TW"/>
          </a:p>
        </p:txBody>
      </p:sp>
      <p:sp>
        <p:nvSpPr>
          <p:cNvPr id="6" name="Rectangle 4">
            <a:extLst>
              <a:ext uri="{FF2B5EF4-FFF2-40B4-BE49-F238E27FC236}">
                <a16:creationId xmlns:a16="http://schemas.microsoft.com/office/drawing/2014/main" id="{3FD72FBA-B01F-ED6C-C5D3-52EAAA7B092A}"/>
              </a:ext>
            </a:extLst>
          </p:cNvPr>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UPS-Ultraviloet light</a:t>
            </a:r>
          </a:p>
        </p:txBody>
      </p:sp>
      <p:sp>
        <p:nvSpPr>
          <p:cNvPr id="7" name="Oval 6">
            <a:extLst>
              <a:ext uri="{FF2B5EF4-FFF2-40B4-BE49-F238E27FC236}">
                <a16:creationId xmlns:a16="http://schemas.microsoft.com/office/drawing/2014/main" id="{83927A18-2DCF-1913-D246-4FF169B14CF1}"/>
              </a:ext>
            </a:extLst>
          </p:cNvPr>
          <p:cNvSpPr/>
          <p:nvPr/>
        </p:nvSpPr>
        <p:spPr bwMode="auto">
          <a:xfrm>
            <a:off x="5600069" y="5105400"/>
            <a:ext cx="914400" cy="762000"/>
          </a:xfrm>
          <a:prstGeom prst="ellipse">
            <a:avLst/>
          </a:prstGeom>
          <a:noFill/>
          <a:ln w="38100" cap="flat" cmpd="sng" algn="ctr">
            <a:solidFill>
              <a:srgbClr val="FF33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13211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34788" y="609600"/>
            <a:ext cx="8229600" cy="1371600"/>
          </a:xfrm>
        </p:spPr>
        <p:txBody>
          <a:bodyPr/>
          <a:lstStyle/>
          <a:p>
            <a:pPr eaLnBrk="1" hangingPunct="1">
              <a:buClr>
                <a:schemeClr val="tx1"/>
              </a:buClr>
              <a:buSzPct val="120000"/>
            </a:pPr>
            <a:r>
              <a:rPr lang="en-US" altLang="zh-TW" sz="2800" dirty="0">
                <a:latin typeface="Georgia" panose="02040502050405020303" pitchFamily="18" charset="0"/>
                <a:ea typeface="新細明體" pitchFamily="18" charset="-120"/>
              </a:rPr>
              <a:t>Content</a:t>
            </a:r>
          </a:p>
        </p:txBody>
      </p:sp>
      <p:sp>
        <p:nvSpPr>
          <p:cNvPr id="7171" name="Rectangle 3"/>
          <p:cNvSpPr>
            <a:spLocks noGrp="1" noChangeArrowheads="1"/>
          </p:cNvSpPr>
          <p:nvPr>
            <p:ph type="body" idx="1"/>
          </p:nvPr>
        </p:nvSpPr>
        <p:spPr>
          <a:xfrm>
            <a:off x="990600" y="1752600"/>
            <a:ext cx="7543800" cy="3810000"/>
          </a:xfrm>
        </p:spPr>
        <p:txBody>
          <a:bodyPr/>
          <a:lstStyle/>
          <a:p>
            <a:pPr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Nomenclature</a:t>
            </a:r>
          </a:p>
          <a:p>
            <a:pPr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Instrumentation</a:t>
            </a:r>
          </a:p>
          <a:p>
            <a:pPr lvl="1"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UV source</a:t>
            </a:r>
          </a:p>
          <a:p>
            <a:pPr lvl="1"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Synchrotron radiation</a:t>
            </a:r>
          </a:p>
          <a:p>
            <a:pPr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Principles</a:t>
            </a:r>
          </a:p>
          <a:p>
            <a:pPr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UV Photoemission analysis</a:t>
            </a:r>
          </a:p>
          <a:p>
            <a:pPr lvl="1"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Angle-integrated UPS</a:t>
            </a:r>
          </a:p>
          <a:p>
            <a:pPr lvl="1" algn="just" eaLnBrk="1" hangingPunct="1">
              <a:lnSpc>
                <a:spcPct val="120000"/>
              </a:lnSpc>
              <a:buClr>
                <a:schemeClr val="tx1"/>
              </a:buClr>
              <a:buSzPct val="120000"/>
              <a:buFont typeface="Arial" panose="020B0604020202020204" pitchFamily="34" charset="0"/>
              <a:buChar char="•"/>
            </a:pPr>
            <a:r>
              <a:rPr lang="en-US" altLang="zh-TW" sz="2400" dirty="0">
                <a:latin typeface="Georgia" panose="02040502050405020303" pitchFamily="18" charset="0"/>
                <a:ea typeface="新細明體" pitchFamily="18" charset="-120"/>
              </a:rPr>
              <a:t>Angle-resolved UPS</a:t>
            </a:r>
          </a:p>
        </p:txBody>
      </p:sp>
      <p:sp>
        <p:nvSpPr>
          <p:cNvPr id="2" name="Slide Number Placeholder 1">
            <a:extLst>
              <a:ext uri="{FF2B5EF4-FFF2-40B4-BE49-F238E27FC236}">
                <a16:creationId xmlns:a16="http://schemas.microsoft.com/office/drawing/2014/main" id="{24DA5977-E83A-44C5-B9A5-E04AD245A98F}"/>
              </a:ext>
            </a:extLst>
          </p:cNvPr>
          <p:cNvSpPr>
            <a:spLocks noGrp="1"/>
          </p:cNvSpPr>
          <p:nvPr>
            <p:ph type="sldNum" sz="quarter" idx="11"/>
          </p:nvPr>
        </p:nvSpPr>
        <p:spPr/>
        <p:txBody>
          <a:bodyPr/>
          <a:lstStyle/>
          <a:p>
            <a:pPr>
              <a:defRPr/>
            </a:pPr>
            <a:fld id="{D6CF7381-FAB2-40CD-BDC2-DC004732E8ED}" type="slidenum">
              <a:rPr lang="zh-TW" altLang="en-US" smtClean="0"/>
              <a:pPr>
                <a:defRPr/>
              </a:pPr>
              <a:t>4</a:t>
            </a:fld>
            <a:endParaRPr lang="en-US" altLang="zh-TW"/>
          </a:p>
        </p:txBody>
      </p:sp>
      <p:sp>
        <p:nvSpPr>
          <p:cNvPr id="3" name="Rectangle 4">
            <a:extLst>
              <a:ext uri="{FF2B5EF4-FFF2-40B4-BE49-F238E27FC236}">
                <a16:creationId xmlns:a16="http://schemas.microsoft.com/office/drawing/2014/main" id="{3DD207E7-464D-072F-3504-21AB04B71941}"/>
              </a:ext>
            </a:extLst>
          </p:cNvPr>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a:spLocks noChangeArrowheads="1"/>
          </p:cNvSpPr>
          <p:nvPr/>
        </p:nvSpPr>
        <p:spPr bwMode="auto">
          <a:xfrm>
            <a:off x="533400" y="1539419"/>
            <a:ext cx="7848600" cy="4708981"/>
          </a:xfrm>
          <a:prstGeom prst="rect">
            <a:avLst/>
          </a:prstGeom>
          <a:noFill/>
          <a:ln w="9525">
            <a:noFill/>
            <a:miter lim="800000"/>
            <a:headEnd/>
            <a:tailEnd/>
          </a:ln>
        </p:spPr>
        <p:txBody>
          <a:bodyPr>
            <a:spAutoFit/>
          </a:bodyPr>
          <a:lstStyle/>
          <a:p>
            <a:pPr marL="176213" indent="-176213" algn="just">
              <a:buFontTx/>
              <a:buChar char="•"/>
            </a:pPr>
            <a:r>
              <a:rPr lang="en-US" altLang="zh-TW" sz="2000" dirty="0">
                <a:solidFill>
                  <a:srgbClr val="006666"/>
                </a:solidFill>
                <a:latin typeface="Georgia" panose="02040502050405020303" pitchFamily="18" charset="0"/>
                <a:ea typeface="新細明體" pitchFamily="18" charset="-120"/>
              </a:rPr>
              <a:t>X-ray photoelectron spectroscopy, XPS</a:t>
            </a:r>
            <a:r>
              <a:rPr lang="en-US" altLang="zh-TW" sz="2000" dirty="0">
                <a:latin typeface="Georgia" panose="02040502050405020303" pitchFamily="18" charset="0"/>
                <a:ea typeface="新細明體" pitchFamily="18" charset="-120"/>
              </a:rPr>
              <a:t> is also known as “</a:t>
            </a:r>
            <a:r>
              <a:rPr lang="en-US" altLang="zh-TW" sz="2000" dirty="0">
                <a:solidFill>
                  <a:srgbClr val="FF3300"/>
                </a:solidFill>
                <a:latin typeface="Georgia" panose="02040502050405020303" pitchFamily="18" charset="0"/>
                <a:ea typeface="新細明體" pitchFamily="18" charset="-120"/>
              </a:rPr>
              <a:t>Electron Spectroscopy for Chemical Analysis (ESCA)</a:t>
            </a:r>
            <a:r>
              <a:rPr lang="en-US" altLang="zh-TW" sz="2000" b="1" dirty="0">
                <a:solidFill>
                  <a:srgbClr val="FF3300"/>
                </a:solidFill>
                <a:latin typeface="Georgia" panose="02040502050405020303" pitchFamily="18" charset="0"/>
                <a:ea typeface="宋体" charset="-122"/>
              </a:rPr>
              <a:t>.</a:t>
            </a:r>
            <a:endParaRPr lang="en-US" altLang="zh-TW" sz="2000" dirty="0">
              <a:solidFill>
                <a:srgbClr val="FF3300"/>
              </a:solidFill>
              <a:latin typeface="Georgia" panose="02040502050405020303" pitchFamily="18" charset="0"/>
              <a:ea typeface="新細明體" pitchFamily="18" charset="-120"/>
            </a:endParaRPr>
          </a:p>
          <a:p>
            <a:pPr marL="176213" indent="-176213" algn="just">
              <a:buFontTx/>
              <a:buChar char="•"/>
            </a:pPr>
            <a:endParaRPr lang="en-US" altLang="zh-TW" sz="2000" dirty="0">
              <a:latin typeface="Georgia" panose="02040502050405020303" pitchFamily="18" charset="0"/>
              <a:ea typeface="新細明體" pitchFamily="18" charset="-120"/>
            </a:endParaRPr>
          </a:p>
          <a:p>
            <a:pPr marL="176213" indent="-176213" algn="just">
              <a:buFontTx/>
              <a:buChar char="•"/>
            </a:pPr>
            <a:r>
              <a:rPr lang="en-US" altLang="zh-TW" sz="2000" dirty="0">
                <a:latin typeface="Georgia" panose="02040502050405020303" pitchFamily="18" charset="0"/>
                <a:ea typeface="新細明體" pitchFamily="18" charset="-120"/>
              </a:rPr>
              <a:t>Actually, it belongs to a family of </a:t>
            </a:r>
            <a:r>
              <a:rPr lang="en-US" altLang="zh-TW" sz="2000" dirty="0">
                <a:solidFill>
                  <a:srgbClr val="990000"/>
                </a:solidFill>
                <a:latin typeface="Georgia" panose="02040502050405020303" pitchFamily="18" charset="0"/>
                <a:ea typeface="新細明體" pitchFamily="18" charset="-120"/>
              </a:rPr>
              <a:t>Photoemission Spectroscopy (PES)</a:t>
            </a:r>
            <a:r>
              <a:rPr lang="en-US" altLang="zh-TW" sz="2000" dirty="0">
                <a:latin typeface="Georgia" panose="02040502050405020303" pitchFamily="18" charset="0"/>
                <a:ea typeface="新細明體" pitchFamily="18" charset="-120"/>
              </a:rPr>
              <a:t>, in which a photon source is used to excite a sample surface, the energy of those electrons ejected after the photoemission process (photoelectrons) are detected and analyzed.  Specifically, if x-ray is used as the photon source, the technique is named as “X-ray Photoelectron Spectroscopy (XPS)”.</a:t>
            </a:r>
          </a:p>
          <a:p>
            <a:pPr marL="176213" indent="-176213" algn="just">
              <a:buFontTx/>
              <a:buChar char="•"/>
            </a:pPr>
            <a:endParaRPr lang="en-US" altLang="zh-TW" sz="2000" dirty="0">
              <a:latin typeface="Georgia" panose="02040502050405020303" pitchFamily="18" charset="0"/>
              <a:ea typeface="新細明體" pitchFamily="18" charset="-120"/>
            </a:endParaRPr>
          </a:p>
          <a:p>
            <a:pPr marL="176213" indent="-176213" algn="just">
              <a:buFontTx/>
              <a:buChar char="•"/>
            </a:pPr>
            <a:r>
              <a:rPr lang="en-US" altLang="zh-TW" sz="2000" dirty="0">
                <a:latin typeface="Georgia" panose="02040502050405020303" pitchFamily="18" charset="0"/>
                <a:ea typeface="新細明體" pitchFamily="18" charset="-120"/>
              </a:rPr>
              <a:t>If UV source is used instead, the technique is called the “</a:t>
            </a:r>
            <a:r>
              <a:rPr lang="en-US" altLang="zh-TW" sz="2000" dirty="0">
                <a:solidFill>
                  <a:srgbClr val="6600CC"/>
                </a:solidFill>
                <a:latin typeface="Georgia" panose="02040502050405020303" pitchFamily="18" charset="0"/>
                <a:ea typeface="新細明體" pitchFamily="18" charset="-120"/>
              </a:rPr>
              <a:t>Ultraviolet Photoemission Spectroscopy (UPS)</a:t>
            </a:r>
            <a:r>
              <a:rPr lang="en-US" altLang="zh-CN" sz="2000" b="1" dirty="0">
                <a:latin typeface="Georgia" panose="02040502050405020303" pitchFamily="18" charset="0"/>
                <a:ea typeface="宋体" charset="-122"/>
              </a:rPr>
              <a:t> </a:t>
            </a:r>
            <a:r>
              <a:rPr lang="en-US" altLang="zh-TW" sz="2000" dirty="0">
                <a:latin typeface="Georgia" panose="02040502050405020303" pitchFamily="18" charset="0"/>
                <a:ea typeface="新細明體" pitchFamily="18" charset="-120"/>
              </a:rPr>
              <a:t>”.</a:t>
            </a:r>
          </a:p>
          <a:p>
            <a:pPr marL="176213" indent="-176213" algn="just">
              <a:buFontTx/>
              <a:buChar char="•"/>
            </a:pPr>
            <a:endParaRPr lang="en-US" altLang="zh-TW" sz="2000" dirty="0">
              <a:latin typeface="Georgia" panose="02040502050405020303" pitchFamily="18" charset="0"/>
              <a:ea typeface="新細明體" pitchFamily="18" charset="-120"/>
            </a:endParaRPr>
          </a:p>
          <a:p>
            <a:pPr marL="176213" indent="-176213">
              <a:buFontTx/>
              <a:buChar char="•"/>
            </a:pPr>
            <a:r>
              <a:rPr lang="en-US" altLang="zh-TW" sz="2000" dirty="0">
                <a:latin typeface="Georgia" panose="02040502050405020303" pitchFamily="18" charset="0"/>
                <a:ea typeface="新細明體" pitchFamily="18" charset="-120"/>
              </a:rPr>
              <a:t>With the emergence of Synchrotron Radiation, tunable photon source can be generated.</a:t>
            </a:r>
          </a:p>
        </p:txBody>
      </p:sp>
      <p:sp>
        <p:nvSpPr>
          <p:cNvPr id="8195" name="Rectangle 5"/>
          <p:cNvSpPr>
            <a:spLocks noChangeArrowheads="1"/>
          </p:cNvSpPr>
          <p:nvPr/>
        </p:nvSpPr>
        <p:spPr bwMode="auto">
          <a:xfrm>
            <a:off x="676275" y="209550"/>
            <a:ext cx="8229600" cy="457200"/>
          </a:xfrm>
          <a:prstGeom prst="rect">
            <a:avLst/>
          </a:prstGeom>
          <a:noFill/>
          <a:ln w="9525">
            <a:noFill/>
            <a:miter lim="800000"/>
            <a:headEnd/>
            <a:tailEnd/>
          </a:ln>
        </p:spPr>
        <p:txBody>
          <a:bodyPr anchor="ctr"/>
          <a:lstStyle/>
          <a:p>
            <a:pPr eaLnBrk="1" hangingPunct="1"/>
            <a:endParaRPr lang="en-US" altLang="zh-TW">
              <a:solidFill>
                <a:schemeClr val="bg1"/>
              </a:solidFill>
              <a:ea typeface="新細明體" pitchFamily="18" charset="-120"/>
            </a:endParaRPr>
          </a:p>
        </p:txBody>
      </p:sp>
      <p:sp>
        <p:nvSpPr>
          <p:cNvPr id="8196" name="Text Box 6"/>
          <p:cNvSpPr txBox="1">
            <a:spLocks noChangeArrowheads="1"/>
          </p:cNvSpPr>
          <p:nvPr/>
        </p:nvSpPr>
        <p:spPr bwMode="auto">
          <a:xfrm>
            <a:off x="3200400" y="914400"/>
            <a:ext cx="2129109" cy="461665"/>
          </a:xfrm>
          <a:prstGeom prst="rect">
            <a:avLst/>
          </a:prstGeom>
          <a:noFill/>
          <a:ln w="9525">
            <a:noFill/>
            <a:miter lim="800000"/>
            <a:headEnd/>
            <a:tailEnd/>
          </a:ln>
        </p:spPr>
        <p:txBody>
          <a:bodyPr wrap="none">
            <a:spAutoFit/>
          </a:bodyPr>
          <a:lstStyle/>
          <a:p>
            <a:r>
              <a:rPr lang="en-US" altLang="zh-TW" sz="2400" dirty="0">
                <a:latin typeface="Georgia" panose="02040502050405020303" pitchFamily="18" charset="0"/>
                <a:ea typeface="新細明體" pitchFamily="18" charset="-120"/>
              </a:rPr>
              <a:t>Nomenclature</a:t>
            </a:r>
          </a:p>
        </p:txBody>
      </p:sp>
      <p:sp>
        <p:nvSpPr>
          <p:cNvPr id="8197" name="Rectangle 7"/>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UPS-Nomenclature</a:t>
            </a:r>
          </a:p>
        </p:txBody>
      </p:sp>
      <p:sp>
        <p:nvSpPr>
          <p:cNvPr id="2" name="Slide Number Placeholder 1">
            <a:extLst>
              <a:ext uri="{FF2B5EF4-FFF2-40B4-BE49-F238E27FC236}">
                <a16:creationId xmlns:a16="http://schemas.microsoft.com/office/drawing/2014/main" id="{29D5E06B-4809-4414-9006-C6BFA9EB6C37}"/>
              </a:ext>
            </a:extLst>
          </p:cNvPr>
          <p:cNvSpPr>
            <a:spLocks noGrp="1"/>
          </p:cNvSpPr>
          <p:nvPr>
            <p:ph type="sldNum" sz="quarter" idx="11"/>
          </p:nvPr>
        </p:nvSpPr>
        <p:spPr/>
        <p:txBody>
          <a:bodyPr/>
          <a:lstStyle/>
          <a:p>
            <a:pPr>
              <a:defRPr/>
            </a:pPr>
            <a:fld id="{5A031570-0DA8-4A71-BBF6-3150CEB7570B}" type="slidenum">
              <a:rPr lang="zh-TW" altLang="en-US" smtClean="0"/>
              <a:pPr>
                <a:defRPr/>
              </a:pPr>
              <a:t>5</a:t>
            </a:fld>
            <a:endParaRPr lang="en-US" altLang="zh-TW"/>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p:cNvPicPr>
            <a:picLocks noChangeAspect="1" noChangeArrowheads="1"/>
          </p:cNvPicPr>
          <p:nvPr/>
        </p:nvPicPr>
        <p:blipFill>
          <a:blip r:embed="rId2" cstate="print"/>
          <a:srcRect l="24590"/>
          <a:stretch>
            <a:fillRect/>
          </a:stretch>
        </p:blipFill>
        <p:spPr bwMode="auto">
          <a:xfrm>
            <a:off x="4648200" y="762000"/>
            <a:ext cx="3505200" cy="5505450"/>
          </a:xfrm>
          <a:prstGeom prst="rect">
            <a:avLst/>
          </a:prstGeom>
          <a:noFill/>
          <a:ln w="9525">
            <a:noFill/>
            <a:miter lim="800000"/>
            <a:headEnd/>
            <a:tailEnd/>
          </a:ln>
          <a:effectLst/>
        </p:spPr>
      </p:pic>
      <p:sp>
        <p:nvSpPr>
          <p:cNvPr id="11267" name="Text Box 7"/>
          <p:cNvSpPr txBox="1">
            <a:spLocks noChangeArrowheads="1"/>
          </p:cNvSpPr>
          <p:nvPr/>
        </p:nvSpPr>
        <p:spPr bwMode="auto">
          <a:xfrm>
            <a:off x="6629400" y="1905000"/>
            <a:ext cx="1555750" cy="366713"/>
          </a:xfrm>
          <a:prstGeom prst="rect">
            <a:avLst/>
          </a:prstGeom>
          <a:noFill/>
          <a:ln w="9525">
            <a:noFill/>
            <a:miter lim="800000"/>
            <a:headEnd/>
            <a:tailEnd/>
          </a:ln>
          <a:effectLst/>
        </p:spPr>
        <p:txBody>
          <a:bodyPr wrap="none">
            <a:spAutoFit/>
          </a:bodyPr>
          <a:lstStyle/>
          <a:p>
            <a:r>
              <a:rPr lang="en-US" altLang="zh-CN" dirty="0">
                <a:ea typeface="宋体" pitchFamily="2" charset="-122"/>
              </a:rPr>
              <a:t>Vacuum level</a:t>
            </a:r>
          </a:p>
        </p:txBody>
      </p:sp>
      <p:pic>
        <p:nvPicPr>
          <p:cNvPr id="11268" name="Picture 8"/>
          <p:cNvPicPr>
            <a:picLocks noChangeAspect="1" noChangeArrowheads="1"/>
          </p:cNvPicPr>
          <p:nvPr/>
        </p:nvPicPr>
        <p:blipFill>
          <a:blip r:embed="rId3" cstate="print"/>
          <a:srcRect/>
          <a:stretch>
            <a:fillRect/>
          </a:stretch>
        </p:blipFill>
        <p:spPr bwMode="auto">
          <a:xfrm>
            <a:off x="304800" y="990600"/>
            <a:ext cx="3914775" cy="5572125"/>
          </a:xfrm>
          <a:prstGeom prst="rect">
            <a:avLst/>
          </a:prstGeom>
          <a:noFill/>
          <a:ln w="9525">
            <a:noFill/>
            <a:miter lim="800000"/>
            <a:headEnd/>
            <a:tailEnd/>
          </a:ln>
          <a:effectLst/>
        </p:spPr>
      </p:pic>
      <p:sp>
        <p:nvSpPr>
          <p:cNvPr id="2" name="Slide Number Placeholder 1">
            <a:extLst>
              <a:ext uri="{FF2B5EF4-FFF2-40B4-BE49-F238E27FC236}">
                <a16:creationId xmlns:a16="http://schemas.microsoft.com/office/drawing/2014/main" id="{F9D12222-A9E5-4F90-85D1-AD6DC1B02EA3}"/>
              </a:ext>
            </a:extLst>
          </p:cNvPr>
          <p:cNvSpPr>
            <a:spLocks noGrp="1"/>
          </p:cNvSpPr>
          <p:nvPr>
            <p:ph type="sldNum" sz="quarter" idx="11"/>
          </p:nvPr>
        </p:nvSpPr>
        <p:spPr/>
        <p:txBody>
          <a:bodyPr/>
          <a:lstStyle/>
          <a:p>
            <a:pPr>
              <a:defRPr/>
            </a:pPr>
            <a:fld id="{5A031570-0DA8-4A71-BBF6-3150CEB7570B}" type="slidenum">
              <a:rPr lang="zh-TW" altLang="en-US" smtClean="0"/>
              <a:pPr>
                <a:defRPr/>
              </a:pPr>
              <a:t>6</a:t>
            </a:fld>
            <a:endParaRPr lang="en-US" altLang="zh-TW"/>
          </a:p>
        </p:txBody>
      </p:sp>
      <p:sp>
        <p:nvSpPr>
          <p:cNvPr id="3" name="Rectangle 7">
            <a:extLst>
              <a:ext uri="{FF2B5EF4-FFF2-40B4-BE49-F238E27FC236}">
                <a16:creationId xmlns:a16="http://schemas.microsoft.com/office/drawing/2014/main" id="{0C3C268E-8375-206B-9DF4-0424AF6715D8}"/>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UPS-band structures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Instrumentation-Photon source</a:t>
            </a:r>
          </a:p>
        </p:txBody>
      </p:sp>
      <p:pic>
        <p:nvPicPr>
          <p:cNvPr id="1028" name="Picture 5" descr="uvlamp1"/>
          <p:cNvPicPr>
            <a:picLocks noChangeAspect="1" noChangeArrowheads="1"/>
          </p:cNvPicPr>
          <p:nvPr/>
        </p:nvPicPr>
        <p:blipFill>
          <a:blip r:embed="rId3" cstate="print"/>
          <a:srcRect/>
          <a:stretch>
            <a:fillRect/>
          </a:stretch>
        </p:blipFill>
        <p:spPr bwMode="auto">
          <a:xfrm>
            <a:off x="779929" y="2240756"/>
            <a:ext cx="3810000" cy="2078038"/>
          </a:xfrm>
          <a:prstGeom prst="rect">
            <a:avLst/>
          </a:prstGeom>
          <a:noFill/>
          <a:ln w="9525">
            <a:noFill/>
            <a:miter lim="800000"/>
            <a:headEnd/>
            <a:tailEnd/>
          </a:ln>
        </p:spPr>
      </p:pic>
      <p:sp>
        <p:nvSpPr>
          <p:cNvPr id="1029" name="Rectangle 6"/>
          <p:cNvSpPr>
            <a:spLocks noChangeArrowheads="1"/>
          </p:cNvSpPr>
          <p:nvPr/>
        </p:nvSpPr>
        <p:spPr bwMode="auto">
          <a:xfrm>
            <a:off x="327025" y="1441589"/>
            <a:ext cx="8305800" cy="707886"/>
          </a:xfrm>
          <a:prstGeom prst="rect">
            <a:avLst/>
          </a:prstGeom>
          <a:noFill/>
          <a:ln w="9525">
            <a:noFill/>
            <a:miter lim="800000"/>
            <a:headEnd/>
            <a:tailEnd/>
          </a:ln>
        </p:spPr>
        <p:txBody>
          <a:bodyPr wrap="square">
            <a:spAutoFit/>
          </a:bodyPr>
          <a:lstStyle/>
          <a:p>
            <a:pPr eaLnBrk="1" hangingPunct="1"/>
            <a:r>
              <a:rPr lang="en-US" altLang="zh-TW" sz="2000" dirty="0">
                <a:latin typeface="Georgia" panose="02040502050405020303" pitchFamily="18" charset="0"/>
                <a:ea typeface="新細明體" pitchFamily="18" charset="-120"/>
              </a:rPr>
              <a:t>In UPS, a He discharge lamp is usually used to generate </a:t>
            </a:r>
            <a:r>
              <a:rPr lang="en-US" altLang="zh-TW" sz="2000" dirty="0">
                <a:solidFill>
                  <a:srgbClr val="6600CC"/>
                </a:solidFill>
                <a:latin typeface="Georgia" panose="02040502050405020303" pitchFamily="18" charset="0"/>
                <a:ea typeface="新細明體" pitchFamily="18" charset="-120"/>
              </a:rPr>
              <a:t>He I (21.2 eV)</a:t>
            </a:r>
            <a:r>
              <a:rPr lang="en-US" altLang="zh-TW" sz="2000" dirty="0">
                <a:latin typeface="Georgia" panose="02040502050405020303" pitchFamily="18" charset="0"/>
                <a:ea typeface="新細明體" pitchFamily="18" charset="-120"/>
              </a:rPr>
              <a:t> and </a:t>
            </a:r>
            <a:r>
              <a:rPr lang="en-US" altLang="zh-TW" sz="2000" dirty="0">
                <a:solidFill>
                  <a:srgbClr val="6600CC"/>
                </a:solidFill>
                <a:latin typeface="Georgia" panose="02040502050405020303" pitchFamily="18" charset="0"/>
                <a:ea typeface="新細明體" pitchFamily="18" charset="-120"/>
              </a:rPr>
              <a:t>He II (40.8 eV)</a:t>
            </a:r>
            <a:r>
              <a:rPr lang="en-US" altLang="zh-TW" sz="2000" dirty="0">
                <a:latin typeface="Georgia" panose="02040502050405020303" pitchFamily="18" charset="0"/>
                <a:ea typeface="新細明體" pitchFamily="18" charset="-120"/>
              </a:rPr>
              <a:t> emissions.</a:t>
            </a:r>
          </a:p>
        </p:txBody>
      </p:sp>
      <p:pic>
        <p:nvPicPr>
          <p:cNvPr id="1030" name="Picture 7" descr="uvlamp2"/>
          <p:cNvPicPr>
            <a:picLocks noChangeAspect="1" noChangeArrowheads="1"/>
          </p:cNvPicPr>
          <p:nvPr/>
        </p:nvPicPr>
        <p:blipFill>
          <a:blip r:embed="rId4" cstate="print"/>
          <a:srcRect/>
          <a:stretch>
            <a:fillRect/>
          </a:stretch>
        </p:blipFill>
        <p:spPr bwMode="auto">
          <a:xfrm>
            <a:off x="4819650" y="2225815"/>
            <a:ext cx="3276600" cy="2116138"/>
          </a:xfrm>
          <a:prstGeom prst="rect">
            <a:avLst/>
          </a:prstGeom>
          <a:noFill/>
          <a:ln w="9525">
            <a:noFill/>
            <a:miter lim="800000"/>
            <a:headEnd/>
            <a:tailEnd/>
          </a:ln>
        </p:spPr>
      </p:pic>
      <p:grpSp>
        <p:nvGrpSpPr>
          <p:cNvPr id="1031" name="Group 8"/>
          <p:cNvGrpSpPr>
            <a:grpSpLocks/>
          </p:cNvGrpSpPr>
          <p:nvPr/>
        </p:nvGrpSpPr>
        <p:grpSpPr bwMode="auto">
          <a:xfrm>
            <a:off x="845016" y="4410075"/>
            <a:ext cx="3594100" cy="2317750"/>
            <a:chOff x="288" y="2850"/>
            <a:chExt cx="2264" cy="1460"/>
          </a:xfrm>
        </p:grpSpPr>
        <p:graphicFrame>
          <p:nvGraphicFramePr>
            <p:cNvPr id="1026" name="Object 9"/>
            <p:cNvGraphicFramePr>
              <a:graphicFrameLocks noChangeAspect="1"/>
            </p:cNvGraphicFramePr>
            <p:nvPr/>
          </p:nvGraphicFramePr>
          <p:xfrm>
            <a:off x="720" y="3072"/>
            <a:ext cx="1124" cy="1020"/>
          </p:xfrm>
          <a:graphic>
            <a:graphicData uri="http://schemas.openxmlformats.org/presentationml/2006/ole">
              <mc:AlternateContent xmlns:mc="http://schemas.openxmlformats.org/markup-compatibility/2006">
                <mc:Choice xmlns:v="urn:schemas-microsoft-com:vml" Requires="v">
                  <p:oleObj name="CorelDRAW" r:id="rId5" imgW="2652840" imgH="2408400" progId="">
                    <p:embed/>
                  </p:oleObj>
                </mc:Choice>
                <mc:Fallback>
                  <p:oleObj name="CorelDRAW" r:id="rId5" imgW="2652840" imgH="2408400" progId="">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 y="3072"/>
                          <a:ext cx="1124" cy="10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034" name="Text Box 10"/>
            <p:cNvSpPr txBox="1">
              <a:spLocks noChangeArrowheads="1"/>
            </p:cNvSpPr>
            <p:nvPr/>
          </p:nvSpPr>
          <p:spPr bwMode="auto">
            <a:xfrm>
              <a:off x="1056" y="4098"/>
              <a:ext cx="293" cy="212"/>
            </a:xfrm>
            <a:prstGeom prst="rect">
              <a:avLst/>
            </a:prstGeom>
            <a:noFill/>
            <a:ln w="9525">
              <a:noFill/>
              <a:miter lim="800000"/>
              <a:headEnd/>
              <a:tailEnd/>
            </a:ln>
          </p:spPr>
          <p:txBody>
            <a:bodyPr wrap="none">
              <a:spAutoFit/>
            </a:bodyPr>
            <a:lstStyle/>
            <a:p>
              <a:pPr eaLnBrk="1" hangingPunct="1"/>
              <a:r>
                <a:rPr lang="en-US" altLang="zh-TW" sz="1600">
                  <a:solidFill>
                    <a:schemeClr val="tx2"/>
                  </a:solidFill>
                  <a:ea typeface="新細明體" pitchFamily="18" charset="-120"/>
                </a:rPr>
                <a:t>UV</a:t>
              </a:r>
            </a:p>
          </p:txBody>
        </p:sp>
        <p:sp>
          <p:nvSpPr>
            <p:cNvPr id="1035" name="Text Box 11"/>
            <p:cNvSpPr txBox="1">
              <a:spLocks noChangeArrowheads="1"/>
            </p:cNvSpPr>
            <p:nvPr/>
          </p:nvSpPr>
          <p:spPr bwMode="auto">
            <a:xfrm>
              <a:off x="1872" y="3090"/>
              <a:ext cx="656" cy="212"/>
            </a:xfrm>
            <a:prstGeom prst="rect">
              <a:avLst/>
            </a:prstGeom>
            <a:noFill/>
            <a:ln w="9525">
              <a:noFill/>
              <a:miter lim="800000"/>
              <a:headEnd/>
              <a:tailEnd/>
            </a:ln>
          </p:spPr>
          <p:txBody>
            <a:bodyPr wrap="none">
              <a:spAutoFit/>
            </a:bodyPr>
            <a:lstStyle/>
            <a:p>
              <a:pPr eaLnBrk="1" hangingPunct="1"/>
              <a:r>
                <a:rPr lang="en-US" altLang="zh-TW" sz="1600">
                  <a:ea typeface="新細明體" pitchFamily="18" charset="-120"/>
                </a:rPr>
                <a:t>He gas in</a:t>
              </a:r>
            </a:p>
          </p:txBody>
        </p:sp>
        <p:sp>
          <p:nvSpPr>
            <p:cNvPr id="1036" name="Line 12"/>
            <p:cNvSpPr>
              <a:spLocks noChangeShapeType="1"/>
            </p:cNvSpPr>
            <p:nvPr/>
          </p:nvSpPr>
          <p:spPr bwMode="auto">
            <a:xfrm>
              <a:off x="1680" y="3552"/>
              <a:ext cx="192" cy="0"/>
            </a:xfrm>
            <a:prstGeom prst="line">
              <a:avLst/>
            </a:prstGeom>
            <a:noFill/>
            <a:ln w="9525">
              <a:solidFill>
                <a:schemeClr val="tx1"/>
              </a:solidFill>
              <a:miter lim="800000"/>
              <a:headEnd/>
              <a:tailEnd type="triangle" w="med" len="med"/>
            </a:ln>
          </p:spPr>
          <p:txBody>
            <a:bodyPr wrap="none"/>
            <a:lstStyle/>
            <a:p>
              <a:endParaRPr lang="en-US"/>
            </a:p>
          </p:txBody>
        </p:sp>
        <p:sp>
          <p:nvSpPr>
            <p:cNvPr id="1037" name="Line 13"/>
            <p:cNvSpPr>
              <a:spLocks noChangeShapeType="1"/>
            </p:cNvSpPr>
            <p:nvPr/>
          </p:nvSpPr>
          <p:spPr bwMode="auto">
            <a:xfrm flipH="1">
              <a:off x="1680" y="3216"/>
              <a:ext cx="192" cy="0"/>
            </a:xfrm>
            <a:prstGeom prst="line">
              <a:avLst/>
            </a:prstGeom>
            <a:noFill/>
            <a:ln w="9525">
              <a:solidFill>
                <a:schemeClr val="tx1"/>
              </a:solidFill>
              <a:miter lim="800000"/>
              <a:headEnd/>
              <a:tailEnd type="triangle" w="med" len="med"/>
            </a:ln>
          </p:spPr>
          <p:txBody>
            <a:bodyPr wrap="none"/>
            <a:lstStyle/>
            <a:p>
              <a:endParaRPr lang="en-US"/>
            </a:p>
          </p:txBody>
        </p:sp>
        <p:sp>
          <p:nvSpPr>
            <p:cNvPr id="1038" name="Text Box 14"/>
            <p:cNvSpPr txBox="1">
              <a:spLocks noChangeArrowheads="1"/>
            </p:cNvSpPr>
            <p:nvPr/>
          </p:nvSpPr>
          <p:spPr bwMode="auto">
            <a:xfrm>
              <a:off x="1825" y="3440"/>
              <a:ext cx="727" cy="366"/>
            </a:xfrm>
            <a:prstGeom prst="rect">
              <a:avLst/>
            </a:prstGeom>
            <a:noFill/>
            <a:ln w="9525">
              <a:noFill/>
              <a:miter lim="800000"/>
              <a:headEnd/>
              <a:tailEnd/>
            </a:ln>
          </p:spPr>
          <p:txBody>
            <a:bodyPr wrap="none">
              <a:spAutoFit/>
            </a:bodyPr>
            <a:lstStyle/>
            <a:p>
              <a:pPr eaLnBrk="1" hangingPunct="1"/>
              <a:r>
                <a:rPr lang="en-US" altLang="zh-TW" sz="1600" dirty="0">
                  <a:ea typeface="新細明體" pitchFamily="18" charset="-120"/>
                </a:rPr>
                <a:t>Differential</a:t>
              </a:r>
            </a:p>
            <a:p>
              <a:pPr eaLnBrk="1" hangingPunct="1"/>
              <a:r>
                <a:rPr lang="en-US" altLang="zh-TW" sz="1600" dirty="0">
                  <a:ea typeface="新細明體" pitchFamily="18" charset="-120"/>
                </a:rPr>
                <a:t>pumping</a:t>
              </a:r>
            </a:p>
          </p:txBody>
        </p:sp>
        <p:sp>
          <p:nvSpPr>
            <p:cNvPr id="1039" name="Text Box 15"/>
            <p:cNvSpPr txBox="1">
              <a:spLocks noChangeArrowheads="1"/>
            </p:cNvSpPr>
            <p:nvPr/>
          </p:nvSpPr>
          <p:spPr bwMode="auto">
            <a:xfrm>
              <a:off x="336" y="3234"/>
              <a:ext cx="528" cy="366"/>
            </a:xfrm>
            <a:prstGeom prst="rect">
              <a:avLst/>
            </a:prstGeom>
            <a:noFill/>
            <a:ln w="9525">
              <a:noFill/>
              <a:miter lim="800000"/>
              <a:headEnd/>
              <a:tailEnd/>
            </a:ln>
          </p:spPr>
          <p:txBody>
            <a:bodyPr wrap="none">
              <a:spAutoFit/>
            </a:bodyPr>
            <a:lstStyle/>
            <a:p>
              <a:pPr eaLnBrk="1" hangingPunct="1"/>
              <a:r>
                <a:rPr lang="en-US" altLang="zh-TW" sz="1600">
                  <a:ea typeface="新細明體" pitchFamily="18" charset="-120"/>
                </a:rPr>
                <a:t>High</a:t>
              </a:r>
            </a:p>
            <a:p>
              <a:pPr eaLnBrk="1" hangingPunct="1"/>
              <a:r>
                <a:rPr lang="en-US" altLang="zh-TW" sz="1600">
                  <a:ea typeface="新細明體" pitchFamily="18" charset="-120"/>
                </a:rPr>
                <a:t>tension</a:t>
              </a:r>
            </a:p>
          </p:txBody>
        </p:sp>
        <p:sp>
          <p:nvSpPr>
            <p:cNvPr id="1040" name="Text Box 16"/>
            <p:cNvSpPr txBox="1">
              <a:spLocks noChangeArrowheads="1"/>
            </p:cNvSpPr>
            <p:nvPr/>
          </p:nvSpPr>
          <p:spPr bwMode="auto">
            <a:xfrm>
              <a:off x="1632" y="3218"/>
              <a:ext cx="543" cy="212"/>
            </a:xfrm>
            <a:prstGeom prst="rect">
              <a:avLst/>
            </a:prstGeom>
            <a:noFill/>
            <a:ln w="9525">
              <a:noFill/>
              <a:miter lim="800000"/>
              <a:headEnd/>
              <a:tailEnd/>
            </a:ln>
          </p:spPr>
          <p:txBody>
            <a:bodyPr wrap="none">
              <a:spAutoFit/>
            </a:bodyPr>
            <a:lstStyle/>
            <a:p>
              <a:pPr eaLnBrk="1" hangingPunct="1"/>
              <a:r>
                <a:rPr lang="en-US" altLang="zh-TW" sz="1600">
                  <a:ea typeface="新細明體" pitchFamily="18" charset="-120"/>
                </a:rPr>
                <a:t>Ground</a:t>
              </a:r>
            </a:p>
          </p:txBody>
        </p:sp>
        <p:sp>
          <p:nvSpPr>
            <p:cNvPr id="1041" name="Text Box 17"/>
            <p:cNvSpPr txBox="1">
              <a:spLocks noChangeArrowheads="1"/>
            </p:cNvSpPr>
            <p:nvPr/>
          </p:nvSpPr>
          <p:spPr bwMode="auto">
            <a:xfrm>
              <a:off x="288" y="2850"/>
              <a:ext cx="1225" cy="212"/>
            </a:xfrm>
            <a:prstGeom prst="rect">
              <a:avLst/>
            </a:prstGeom>
            <a:noFill/>
            <a:ln w="9525">
              <a:noFill/>
              <a:miter lim="800000"/>
              <a:headEnd/>
              <a:tailEnd/>
            </a:ln>
          </p:spPr>
          <p:txBody>
            <a:bodyPr wrap="none">
              <a:spAutoFit/>
            </a:bodyPr>
            <a:lstStyle/>
            <a:p>
              <a:pPr eaLnBrk="1" hangingPunct="1"/>
              <a:r>
                <a:rPr lang="en-US" altLang="zh-TW" sz="1600">
                  <a:solidFill>
                    <a:schemeClr val="hlink"/>
                  </a:solidFill>
                  <a:ea typeface="新細明體" pitchFamily="18" charset="-120"/>
                </a:rPr>
                <a:t>Discharge chamber</a:t>
              </a:r>
            </a:p>
          </p:txBody>
        </p:sp>
      </p:grpSp>
      <p:sp>
        <p:nvSpPr>
          <p:cNvPr id="80914" name="Rectangle 18"/>
          <p:cNvSpPr>
            <a:spLocks noChangeArrowheads="1"/>
          </p:cNvSpPr>
          <p:nvPr/>
        </p:nvSpPr>
        <p:spPr bwMode="auto">
          <a:xfrm>
            <a:off x="4758485" y="4766590"/>
            <a:ext cx="3962400" cy="1477328"/>
          </a:xfrm>
          <a:prstGeom prst="rect">
            <a:avLst/>
          </a:prstGeom>
          <a:noFill/>
          <a:ln w="9525">
            <a:noFill/>
            <a:miter lim="800000"/>
            <a:headEnd/>
            <a:tailEnd/>
          </a:ln>
          <a:effectLst/>
        </p:spPr>
        <p:txBody>
          <a:bodyPr wrap="square">
            <a:spAutoFit/>
          </a:bodyPr>
          <a:lstStyle/>
          <a:p>
            <a:pPr marL="285750" indent="-285750" eaLnBrk="1" hangingPunct="1">
              <a:spcBef>
                <a:spcPct val="50000"/>
              </a:spcBef>
              <a:buFont typeface="Arial" panose="020B0604020202020204" pitchFamily="34" charset="0"/>
              <a:buChar char="•"/>
              <a:defRPr/>
            </a:pPr>
            <a:r>
              <a:rPr lang="en-US" altLang="zh-TW" sz="2000" dirty="0">
                <a:latin typeface="Georgia" panose="02040502050405020303" pitchFamily="18" charset="0"/>
                <a:ea typeface="新細明體" pitchFamily="18" charset="-120"/>
              </a:rPr>
              <a:t>He gas is fed into the discharge chamber;</a:t>
            </a:r>
          </a:p>
          <a:p>
            <a:pPr marL="285750" indent="-285750" eaLnBrk="1" hangingPunct="1">
              <a:spcBef>
                <a:spcPct val="50000"/>
              </a:spcBef>
              <a:buFont typeface="Arial" panose="020B0604020202020204" pitchFamily="34" charset="0"/>
              <a:buChar char="•"/>
              <a:defRPr/>
            </a:pPr>
            <a:r>
              <a:rPr lang="en-US" altLang="zh-TW" sz="2000" dirty="0">
                <a:latin typeface="Georgia" panose="02040502050405020303" pitchFamily="18" charset="0"/>
                <a:ea typeface="新細明體" pitchFamily="18" charset="-120"/>
              </a:rPr>
              <a:t>Upon high tension discharge, He I &amp; II will be formed. </a:t>
            </a:r>
          </a:p>
        </p:txBody>
      </p:sp>
      <p:sp>
        <p:nvSpPr>
          <p:cNvPr id="1033" name="Text Box 19"/>
          <p:cNvSpPr txBox="1">
            <a:spLocks noChangeArrowheads="1"/>
          </p:cNvSpPr>
          <p:nvPr/>
        </p:nvSpPr>
        <p:spPr bwMode="auto">
          <a:xfrm>
            <a:off x="3394075" y="902213"/>
            <a:ext cx="1846263" cy="519113"/>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UV source</a:t>
            </a:r>
          </a:p>
        </p:txBody>
      </p:sp>
      <p:sp>
        <p:nvSpPr>
          <p:cNvPr id="2" name="Slide Number Placeholder 1">
            <a:extLst>
              <a:ext uri="{FF2B5EF4-FFF2-40B4-BE49-F238E27FC236}">
                <a16:creationId xmlns:a16="http://schemas.microsoft.com/office/drawing/2014/main" id="{B3B79821-4BF9-4F98-83DE-E816185B1CF0}"/>
              </a:ext>
            </a:extLst>
          </p:cNvPr>
          <p:cNvSpPr>
            <a:spLocks noGrp="1"/>
          </p:cNvSpPr>
          <p:nvPr>
            <p:ph type="sldNum" sz="quarter" idx="11"/>
          </p:nvPr>
        </p:nvSpPr>
        <p:spPr/>
        <p:txBody>
          <a:bodyPr/>
          <a:lstStyle/>
          <a:p>
            <a:pPr>
              <a:defRPr/>
            </a:pPr>
            <a:fld id="{5A031570-0DA8-4A71-BBF6-3150CEB7570B}" type="slidenum">
              <a:rPr lang="zh-TW" altLang="en-US" smtClean="0">
                <a:latin typeface="Georgia" panose="02040502050405020303" pitchFamily="18" charset="0"/>
              </a:rPr>
              <a:pPr>
                <a:defRPr/>
              </a:pPr>
              <a:t>7</a:t>
            </a:fld>
            <a:endParaRPr lang="en-US" altLang="zh-TW">
              <a:latin typeface="Georgia" panose="020405020504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807" name="Group 87"/>
          <p:cNvGraphicFramePr>
            <a:graphicFrameLocks noGrp="1"/>
          </p:cNvGraphicFramePr>
          <p:nvPr>
            <p:extLst>
              <p:ext uri="{D42A27DB-BD31-4B8C-83A1-F6EECF244321}">
                <p14:modId xmlns:p14="http://schemas.microsoft.com/office/powerpoint/2010/main" val="2501311130"/>
              </p:ext>
            </p:extLst>
          </p:nvPr>
        </p:nvGraphicFramePr>
        <p:xfrm>
          <a:off x="762000" y="1981200"/>
          <a:ext cx="7543800" cy="3220720"/>
        </p:xfrm>
        <a:graphic>
          <a:graphicData uri="http://schemas.openxmlformats.org/drawingml/2006/table">
            <a:tbl>
              <a:tblPr/>
              <a:tblGrid>
                <a:gridCol w="12954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406400">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XPS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UPS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Source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Al K</a:t>
                      </a:r>
                      <a:r>
                        <a:rPr kumimoji="0" lang="en-US" altLang="zh-CN" sz="2000" b="0" i="0" u="none" strike="noStrike" cap="none" normalizeH="0" baseline="0">
                          <a:ln>
                            <a:noFill/>
                          </a:ln>
                          <a:solidFill>
                            <a:schemeClr val="tx1"/>
                          </a:solidFill>
                          <a:effectLst/>
                          <a:latin typeface="Arial" charset="0"/>
                          <a:ea typeface="宋体" pitchFamily="2" charset="-122"/>
                          <a:sym typeface="Symbol" pitchFamily="18" charset="2"/>
                        </a:rPr>
                        <a:t>; Mg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He I; He II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Photon energy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1486.6eV; 1253.6eV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21.2eV; 40.8eV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406400">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Source line width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0.85eV; 0.7eV (non-</a:t>
                      </a:r>
                      <a:r>
                        <a:rPr kumimoji="0" lang="en-US" altLang="zh-CN" sz="2000" b="0" i="0" u="none" strike="noStrike" cap="none" normalizeH="0" baseline="0" dirty="0" err="1">
                          <a:ln>
                            <a:noFill/>
                          </a:ln>
                          <a:solidFill>
                            <a:schemeClr val="tx1"/>
                          </a:solidFill>
                          <a:effectLst/>
                          <a:latin typeface="Arial" charset="0"/>
                          <a:ea typeface="宋体" pitchFamily="2" charset="-122"/>
                        </a:rPr>
                        <a:t>monochromated</a:t>
                      </a:r>
                      <a:r>
                        <a:rPr kumimoji="0" lang="en-US" altLang="zh-CN" sz="2000" b="0" i="0" u="none" strike="noStrike" cap="none" normalizeH="0" baseline="0" dirty="0">
                          <a:ln>
                            <a:noFill/>
                          </a:ln>
                          <a:solidFill>
                            <a:schemeClr val="tx1"/>
                          </a:solidFill>
                          <a:effectLst/>
                          <a:latin typeface="Arial"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&lt;0.1eV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06400">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Peaks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Core level emission; valence band emission; Auger electrons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a:solidFill>
                            <a:schemeClr val="tx1"/>
                          </a:solidFill>
                          <a:latin typeface="Arial" charset="0"/>
                        </a:defRPr>
                      </a:lvl1pPr>
                      <a:lvl2pPr>
                        <a:spcBef>
                          <a:spcPct val="20000"/>
                        </a:spcBef>
                        <a:buClr>
                          <a:schemeClr val="accent2"/>
                        </a:buClr>
                        <a:buSzPct val="8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accent2"/>
                        </a:buClr>
                        <a:buSzPct val="70000"/>
                        <a:buFont typeface="Wingdings" pitchFamily="2" charset="2"/>
                        <a:defRPr>
                          <a:solidFill>
                            <a:schemeClr val="tx1"/>
                          </a:solidFill>
                          <a:latin typeface="Arial" charset="0"/>
                        </a:defRPr>
                      </a:lvl4pPr>
                      <a:lvl5pPr>
                        <a:spcBef>
                          <a:spcPct val="20000"/>
                        </a:spcBef>
                        <a:buClr>
                          <a:schemeClr val="bg2"/>
                        </a:buClr>
                        <a:buFont typeface="Wingdings" pitchFamily="2" charset="2"/>
                        <a:defRPr>
                          <a:solidFill>
                            <a:schemeClr val="tx1"/>
                          </a:solidFill>
                          <a:latin typeface="Arial" charset="0"/>
                        </a:defRPr>
                      </a:lvl5pPr>
                      <a:lvl6pPr fontAlgn="base">
                        <a:spcBef>
                          <a:spcPct val="20000"/>
                        </a:spcBef>
                        <a:spcAft>
                          <a:spcPct val="0"/>
                        </a:spcAft>
                        <a:buClr>
                          <a:schemeClr val="bg2"/>
                        </a:buClr>
                        <a:buFont typeface="Wingdings" pitchFamily="2" charset="2"/>
                        <a:defRPr>
                          <a:solidFill>
                            <a:schemeClr val="tx1"/>
                          </a:solidFill>
                          <a:latin typeface="Arial" charset="0"/>
                        </a:defRPr>
                      </a:lvl6pPr>
                      <a:lvl7pPr fontAlgn="base">
                        <a:spcBef>
                          <a:spcPct val="20000"/>
                        </a:spcBef>
                        <a:spcAft>
                          <a:spcPct val="0"/>
                        </a:spcAft>
                        <a:buClr>
                          <a:schemeClr val="bg2"/>
                        </a:buClr>
                        <a:buFont typeface="Wingdings" pitchFamily="2" charset="2"/>
                        <a:defRPr>
                          <a:solidFill>
                            <a:schemeClr val="tx1"/>
                          </a:solidFill>
                          <a:latin typeface="Arial" charset="0"/>
                        </a:defRPr>
                      </a:lvl7pPr>
                      <a:lvl8pPr fontAlgn="base">
                        <a:spcBef>
                          <a:spcPct val="20000"/>
                        </a:spcBef>
                        <a:spcAft>
                          <a:spcPct val="0"/>
                        </a:spcAft>
                        <a:buClr>
                          <a:schemeClr val="bg2"/>
                        </a:buClr>
                        <a:buFont typeface="Wingdings" pitchFamily="2" charset="2"/>
                        <a:defRPr>
                          <a:solidFill>
                            <a:schemeClr val="tx1"/>
                          </a:solidFill>
                          <a:latin typeface="Arial" charset="0"/>
                        </a:defRPr>
                      </a:lvl8pPr>
                      <a:lvl9pPr fontAlgn="base">
                        <a:spcBef>
                          <a:spcPct val="20000"/>
                        </a:spcBef>
                        <a:spcAft>
                          <a:spcPct val="0"/>
                        </a:spcAft>
                        <a:buClr>
                          <a:schemeClr val="bg2"/>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Valence band emission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EE0A9672-8893-42C8-BB0C-5F9DC04E814E}"/>
              </a:ext>
            </a:extLst>
          </p:cNvPr>
          <p:cNvSpPr>
            <a:spLocks noGrp="1"/>
          </p:cNvSpPr>
          <p:nvPr>
            <p:ph type="sldNum" sz="quarter" idx="11"/>
          </p:nvPr>
        </p:nvSpPr>
        <p:spPr/>
        <p:txBody>
          <a:bodyPr/>
          <a:lstStyle/>
          <a:p>
            <a:pPr>
              <a:defRPr/>
            </a:pPr>
            <a:fld id="{5A031570-0DA8-4A71-BBF6-3150CEB7570B}" type="slidenum">
              <a:rPr lang="zh-TW" altLang="en-US" smtClean="0"/>
              <a:pPr>
                <a:defRPr/>
              </a:pPr>
              <a:t>8</a:t>
            </a:fld>
            <a:endParaRPr lang="en-US" altLang="zh-TW"/>
          </a:p>
        </p:txBody>
      </p:sp>
      <p:sp>
        <p:nvSpPr>
          <p:cNvPr id="3" name="Rectangle 4">
            <a:extLst>
              <a:ext uri="{FF2B5EF4-FFF2-40B4-BE49-F238E27FC236}">
                <a16:creationId xmlns:a16="http://schemas.microsoft.com/office/drawing/2014/main" id="{D6A00F95-6CD8-9E2C-CC54-C15C181EC48E}"/>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Instrumentation-Photon source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F16EBC-0DD4-191F-2F03-E1FEFBF0E6BD}"/>
              </a:ext>
            </a:extLst>
          </p:cNvPr>
          <p:cNvSpPr>
            <a:spLocks noGrp="1"/>
          </p:cNvSpPr>
          <p:nvPr>
            <p:ph type="sldNum" sz="quarter" idx="11"/>
          </p:nvPr>
        </p:nvSpPr>
        <p:spPr/>
        <p:txBody>
          <a:bodyPr/>
          <a:lstStyle/>
          <a:p>
            <a:pPr>
              <a:defRPr/>
            </a:pPr>
            <a:fld id="{5A031570-0DA8-4A71-BBF6-3150CEB7570B}" type="slidenum">
              <a:rPr lang="zh-TW" altLang="en-US" smtClean="0"/>
              <a:pPr>
                <a:defRPr/>
              </a:pPr>
              <a:t>9</a:t>
            </a:fld>
            <a:endParaRPr lang="en-US" altLang="zh-TW"/>
          </a:p>
        </p:txBody>
      </p:sp>
      <p:sp>
        <p:nvSpPr>
          <p:cNvPr id="4" name="TextBox 3">
            <a:extLst>
              <a:ext uri="{FF2B5EF4-FFF2-40B4-BE49-F238E27FC236}">
                <a16:creationId xmlns:a16="http://schemas.microsoft.com/office/drawing/2014/main" id="{C42BBE0C-C5B3-3FDC-E069-4BEE1FC5B5C3}"/>
              </a:ext>
            </a:extLst>
          </p:cNvPr>
          <p:cNvSpPr txBox="1"/>
          <p:nvPr/>
        </p:nvSpPr>
        <p:spPr>
          <a:xfrm>
            <a:off x="457200" y="1066800"/>
            <a:ext cx="8077200" cy="4941481"/>
          </a:xfrm>
          <a:prstGeom prst="rect">
            <a:avLst/>
          </a:prstGeom>
          <a:noFill/>
        </p:spPr>
        <p:txBody>
          <a:bodyPr wrap="square">
            <a:spAutoFit/>
          </a:bodyPr>
          <a:lstStyle/>
          <a:p>
            <a:pPr algn="l">
              <a:lnSpc>
                <a:spcPts val="1800"/>
              </a:lnSpc>
              <a:spcBef>
                <a:spcPts val="900"/>
              </a:spcBef>
              <a:buNone/>
            </a:pPr>
            <a:r>
              <a:rPr lang="en-US" sz="2400" i="0" dirty="0">
                <a:solidFill>
                  <a:srgbClr val="000000"/>
                </a:solidFill>
                <a:effectLst/>
                <a:latin typeface="Georgia" panose="02040502050405020303" pitchFamily="18" charset="0"/>
              </a:rPr>
              <a:t>Critical Components for the UV source</a:t>
            </a:r>
          </a:p>
          <a:p>
            <a:pPr algn="l">
              <a:lnSpc>
                <a:spcPts val="1800"/>
              </a:lnSpc>
              <a:spcBef>
                <a:spcPts val="900"/>
              </a:spcBef>
              <a:buNone/>
            </a:pPr>
            <a:endParaRPr lang="en-US" sz="2000" dirty="0">
              <a:solidFill>
                <a:srgbClr val="000000"/>
              </a:solidFill>
              <a:latin typeface="Georgia" panose="02040502050405020303" pitchFamily="18" charset="0"/>
            </a:endParaRPr>
          </a:p>
          <a:p>
            <a:pPr>
              <a:lnSpc>
                <a:spcPts val="1800"/>
              </a:lnSpc>
              <a:spcBef>
                <a:spcPts val="900"/>
              </a:spcBef>
            </a:pPr>
            <a:r>
              <a:rPr lang="en-US" sz="2000" dirty="0">
                <a:solidFill>
                  <a:srgbClr val="000000"/>
                </a:solidFill>
                <a:latin typeface="Georgia" panose="02040502050405020303" pitchFamily="18" charset="0"/>
              </a:rPr>
              <a:t>Windowless design</a:t>
            </a:r>
          </a:p>
          <a:p>
            <a:pPr marL="342900"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No suitable materials that can pass the UV photons.  </a:t>
            </a:r>
          </a:p>
          <a:p>
            <a:pPr marL="342900"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Floride windows are sometimes used but their cutoff energy is about 10eV, so not suitable for He source at all.  </a:t>
            </a:r>
          </a:p>
          <a:p>
            <a:pPr>
              <a:lnSpc>
                <a:spcPts val="1800"/>
              </a:lnSpc>
              <a:spcBef>
                <a:spcPts val="900"/>
              </a:spcBef>
            </a:pPr>
            <a:endParaRPr lang="en-US" sz="2000" dirty="0">
              <a:solidFill>
                <a:srgbClr val="000000"/>
              </a:solidFill>
              <a:latin typeface="Georgia" panose="02040502050405020303" pitchFamily="18" charset="0"/>
            </a:endParaRPr>
          </a:p>
          <a:p>
            <a:pPr algn="l">
              <a:lnSpc>
                <a:spcPts val="1800"/>
              </a:lnSpc>
              <a:spcBef>
                <a:spcPts val="900"/>
              </a:spcBef>
              <a:buNone/>
            </a:pPr>
            <a:r>
              <a:rPr lang="en-US" sz="2000" i="0" dirty="0">
                <a:solidFill>
                  <a:srgbClr val="000000"/>
                </a:solidFill>
                <a:effectLst/>
                <a:latin typeface="Georgia" panose="02040502050405020303" pitchFamily="18" charset="0"/>
              </a:rPr>
              <a:t>Monochromator</a:t>
            </a:r>
          </a:p>
          <a:p>
            <a:pPr marL="342900"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Narrows the line width of the UV beam (to ~0.01–0.05 eV FWHM) is essential for high-resolution valence band structure analysis.</a:t>
            </a:r>
          </a:p>
          <a:p>
            <a:pPr marL="342900" indent="-342900" algn="l">
              <a:lnSpc>
                <a:spcPts val="1800"/>
              </a:lnSpc>
              <a:spcBef>
                <a:spcPts val="900"/>
              </a:spcBef>
              <a:buFont typeface="Arial" panose="020B0604020202020204" pitchFamily="34" charset="0"/>
              <a:buChar char="•"/>
            </a:pPr>
            <a:r>
              <a:rPr lang="en-US" sz="2000" i="0" dirty="0">
                <a:solidFill>
                  <a:srgbClr val="000000"/>
                </a:solidFill>
                <a:effectLst/>
                <a:latin typeface="Georgia" panose="02040502050405020303" pitchFamily="18" charset="0"/>
              </a:rPr>
              <a:t>Different grating choice </a:t>
            </a:r>
          </a:p>
          <a:p>
            <a:pPr marL="800100" lvl="1"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Diffraction grating in reflection mode</a:t>
            </a:r>
          </a:p>
          <a:p>
            <a:pPr marL="800100" lvl="1"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Grazing incidence</a:t>
            </a:r>
          </a:p>
          <a:p>
            <a:pPr marL="800100" lvl="1" indent="-342900">
              <a:lnSpc>
                <a:spcPts val="1800"/>
              </a:lnSpc>
              <a:spcBef>
                <a:spcPts val="900"/>
              </a:spcBef>
              <a:buFont typeface="Arial" panose="020B0604020202020204" pitchFamily="34" charset="0"/>
              <a:buChar char="•"/>
            </a:pPr>
            <a:r>
              <a:rPr lang="en-US" sz="2000" dirty="0">
                <a:solidFill>
                  <a:srgbClr val="000000"/>
                </a:solidFill>
                <a:latin typeface="Georgia" panose="02040502050405020303" pitchFamily="18" charset="0"/>
              </a:rPr>
              <a:t>Highly reflective material (Pt/Au)</a:t>
            </a:r>
            <a:endParaRPr lang="en-US" sz="2400" dirty="0">
              <a:solidFill>
                <a:srgbClr val="00B050"/>
              </a:solidFill>
              <a:latin typeface="Georgia" panose="02040502050405020303" pitchFamily="18" charset="0"/>
            </a:endParaRPr>
          </a:p>
          <a:p>
            <a:pPr algn="l">
              <a:lnSpc>
                <a:spcPts val="1800"/>
              </a:lnSpc>
              <a:spcBef>
                <a:spcPts val="900"/>
              </a:spcBef>
              <a:buNone/>
            </a:pPr>
            <a:endParaRPr lang="en-US" sz="2000" i="0" dirty="0">
              <a:solidFill>
                <a:srgbClr val="000000"/>
              </a:solidFill>
              <a:effectLst/>
              <a:latin typeface="Georgia" panose="02040502050405020303" pitchFamily="18" charset="0"/>
            </a:endParaRPr>
          </a:p>
        </p:txBody>
      </p:sp>
      <p:sp>
        <p:nvSpPr>
          <p:cNvPr id="3" name="Rectangle 4">
            <a:extLst>
              <a:ext uri="{FF2B5EF4-FFF2-40B4-BE49-F238E27FC236}">
                <a16:creationId xmlns:a16="http://schemas.microsoft.com/office/drawing/2014/main" id="{9B847A50-C7DF-9978-74FF-70C225DC4BE1}"/>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Instrumentation-Photon source</a:t>
            </a:r>
          </a:p>
        </p:txBody>
      </p:sp>
      <p:pic>
        <p:nvPicPr>
          <p:cNvPr id="5" name="Picture 4">
            <a:extLst>
              <a:ext uri="{FF2B5EF4-FFF2-40B4-BE49-F238E27FC236}">
                <a16:creationId xmlns:a16="http://schemas.microsoft.com/office/drawing/2014/main" id="{53CD0011-53F5-381E-9648-F0402B2CF574}"/>
              </a:ext>
            </a:extLst>
          </p:cNvPr>
          <p:cNvPicPr>
            <a:picLocks noChangeAspect="1"/>
          </p:cNvPicPr>
          <p:nvPr/>
        </p:nvPicPr>
        <p:blipFill>
          <a:blip r:embed="rId3"/>
          <a:srcRect l="51142" t="6025" r="3144" b="55074"/>
          <a:stretch>
            <a:fillRect/>
          </a:stretch>
        </p:blipFill>
        <p:spPr>
          <a:xfrm>
            <a:off x="5905107" y="4495800"/>
            <a:ext cx="2819400" cy="1621155"/>
          </a:xfrm>
          <a:prstGeom prst="rect">
            <a:avLst/>
          </a:prstGeom>
        </p:spPr>
      </p:pic>
    </p:spTree>
    <p:extLst>
      <p:ext uri="{BB962C8B-B14F-4D97-AF65-F5344CB8AC3E}">
        <p14:creationId xmlns:p14="http://schemas.microsoft.com/office/powerpoint/2010/main" val="4174147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C93B5-8448-8069-F02E-9F43333428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A9FDB-D0A0-8F97-094C-62E9443EC6A4}"/>
              </a:ext>
            </a:extLst>
          </p:cNvPr>
          <p:cNvSpPr>
            <a:spLocks noGrp="1"/>
          </p:cNvSpPr>
          <p:nvPr>
            <p:ph type="sldNum" sz="quarter" idx="11"/>
          </p:nvPr>
        </p:nvSpPr>
        <p:spPr/>
        <p:txBody>
          <a:bodyPr/>
          <a:lstStyle/>
          <a:p>
            <a:pPr>
              <a:defRPr/>
            </a:pPr>
            <a:fld id="{5A031570-0DA8-4A71-BBF6-3150CEB7570B}" type="slidenum">
              <a:rPr lang="zh-TW" altLang="en-US" smtClean="0"/>
              <a:pPr>
                <a:defRPr/>
              </a:pPr>
              <a:t>10</a:t>
            </a:fld>
            <a:endParaRPr lang="en-US" altLang="zh-TW"/>
          </a:p>
        </p:txBody>
      </p:sp>
      <p:sp>
        <p:nvSpPr>
          <p:cNvPr id="4" name="TextBox 3">
            <a:extLst>
              <a:ext uri="{FF2B5EF4-FFF2-40B4-BE49-F238E27FC236}">
                <a16:creationId xmlns:a16="http://schemas.microsoft.com/office/drawing/2014/main" id="{CE7AC421-4EC2-345B-50B3-ACAD627A2401}"/>
              </a:ext>
            </a:extLst>
          </p:cNvPr>
          <p:cNvSpPr txBox="1"/>
          <p:nvPr/>
        </p:nvSpPr>
        <p:spPr>
          <a:xfrm>
            <a:off x="533400" y="1524000"/>
            <a:ext cx="8077200" cy="4133567"/>
          </a:xfrm>
          <a:prstGeom prst="rect">
            <a:avLst/>
          </a:prstGeom>
          <a:noFill/>
        </p:spPr>
        <p:txBody>
          <a:bodyPr wrap="square">
            <a:spAutoFit/>
          </a:bodyPr>
          <a:lstStyle/>
          <a:p>
            <a:pPr algn="l">
              <a:lnSpc>
                <a:spcPts val="1800"/>
              </a:lnSpc>
              <a:spcBef>
                <a:spcPts val="900"/>
              </a:spcBef>
              <a:buNone/>
            </a:pPr>
            <a:r>
              <a:rPr lang="en-US" sz="2400" dirty="0">
                <a:solidFill>
                  <a:srgbClr val="000000"/>
                </a:solidFill>
                <a:latin typeface="Georgia" panose="02040502050405020303" pitchFamily="18" charset="0"/>
              </a:rPr>
              <a:t>VUV condition</a:t>
            </a:r>
          </a:p>
          <a:p>
            <a:pPr algn="l">
              <a:lnSpc>
                <a:spcPts val="1800"/>
              </a:lnSpc>
              <a:spcBef>
                <a:spcPts val="900"/>
              </a:spcBef>
              <a:buNone/>
            </a:pPr>
            <a:endParaRPr lang="en-US" sz="2400" i="0" dirty="0">
              <a:solidFill>
                <a:srgbClr val="000000"/>
              </a:solidFill>
              <a:effectLst/>
              <a:latin typeface="Georgia" panose="02040502050405020303" pitchFamily="18" charset="0"/>
            </a:endParaRPr>
          </a:p>
          <a:p>
            <a:pPr>
              <a:lnSpc>
                <a:spcPts val="1800"/>
              </a:lnSpc>
              <a:spcBef>
                <a:spcPts val="900"/>
              </a:spcBef>
            </a:pPr>
            <a:r>
              <a:rPr lang="en-US" sz="2000" dirty="0">
                <a:solidFill>
                  <a:srgbClr val="000000"/>
                </a:solidFill>
                <a:latin typeface="Georgia" panose="02040502050405020303" pitchFamily="18" charset="0"/>
              </a:rPr>
              <a:t>VUV  refers to ultraviolet light with wavelengths typically from 10–200 nm (energies ~6–124 eV), which requires a vacuum for transmission because most gases, including air and oxygen, strongly absorb it.</a:t>
            </a:r>
          </a:p>
          <a:p>
            <a:pPr>
              <a:lnSpc>
                <a:spcPts val="1800"/>
              </a:lnSpc>
              <a:spcBef>
                <a:spcPts val="900"/>
              </a:spcBef>
            </a:pPr>
            <a:endParaRPr lang="en-US" sz="2000" dirty="0">
              <a:solidFill>
                <a:srgbClr val="000000"/>
              </a:solidFill>
              <a:latin typeface="Georgia" panose="02040502050405020303" pitchFamily="18" charset="0"/>
            </a:endParaRPr>
          </a:p>
          <a:p>
            <a:pPr>
              <a:lnSpc>
                <a:spcPts val="1800"/>
              </a:lnSpc>
              <a:spcBef>
                <a:spcPts val="900"/>
              </a:spcBef>
            </a:pPr>
            <a:r>
              <a:rPr lang="en-US" sz="2000" dirty="0">
                <a:solidFill>
                  <a:srgbClr val="000000"/>
                </a:solidFill>
                <a:latin typeface="Georgia" panose="02040502050405020303" pitchFamily="18" charset="0"/>
              </a:rPr>
              <a:t>But the UV emission is created by ionization of Helium (gas phase)</a:t>
            </a:r>
          </a:p>
          <a:p>
            <a:pPr>
              <a:lnSpc>
                <a:spcPts val="1800"/>
              </a:lnSpc>
              <a:spcBef>
                <a:spcPts val="900"/>
              </a:spcBef>
            </a:pPr>
            <a:endParaRPr lang="en-US" sz="2000" dirty="0">
              <a:solidFill>
                <a:srgbClr val="000000"/>
              </a:solidFill>
              <a:latin typeface="Georgia" panose="02040502050405020303" pitchFamily="18" charset="0"/>
            </a:endParaRPr>
          </a:p>
          <a:p>
            <a:pPr>
              <a:lnSpc>
                <a:spcPts val="1800"/>
              </a:lnSpc>
              <a:spcBef>
                <a:spcPts val="900"/>
              </a:spcBef>
            </a:pPr>
            <a:r>
              <a:rPr lang="en-US" sz="2400" dirty="0">
                <a:solidFill>
                  <a:srgbClr val="00B050"/>
                </a:solidFill>
                <a:latin typeface="Georgia" panose="02040502050405020303" pitchFamily="18" charset="0"/>
              </a:rPr>
              <a:t>How to manage non-vacuum and vacuum simultaneously?</a:t>
            </a:r>
          </a:p>
          <a:p>
            <a:pPr algn="l">
              <a:lnSpc>
                <a:spcPts val="1800"/>
              </a:lnSpc>
              <a:spcBef>
                <a:spcPts val="900"/>
              </a:spcBef>
              <a:buNone/>
            </a:pPr>
            <a:endParaRPr lang="en-US" sz="2400" i="0" dirty="0">
              <a:solidFill>
                <a:srgbClr val="000000"/>
              </a:solidFill>
              <a:effectLst/>
              <a:latin typeface="Georgia" panose="02040502050405020303" pitchFamily="18" charset="0"/>
            </a:endParaRPr>
          </a:p>
          <a:p>
            <a:pPr algn="l">
              <a:lnSpc>
                <a:spcPts val="1800"/>
              </a:lnSpc>
              <a:spcBef>
                <a:spcPts val="900"/>
              </a:spcBef>
              <a:buNone/>
            </a:pPr>
            <a:endParaRPr lang="en-US" sz="2000" dirty="0">
              <a:solidFill>
                <a:srgbClr val="000000"/>
              </a:solidFill>
              <a:latin typeface="Georgia" panose="02040502050405020303" pitchFamily="18" charset="0"/>
            </a:endParaRPr>
          </a:p>
          <a:p>
            <a:pPr algn="l">
              <a:lnSpc>
                <a:spcPts val="1800"/>
              </a:lnSpc>
              <a:spcBef>
                <a:spcPts val="900"/>
              </a:spcBef>
              <a:buNone/>
            </a:pPr>
            <a:endParaRPr lang="en-US" sz="2000" i="0" dirty="0">
              <a:solidFill>
                <a:srgbClr val="000000"/>
              </a:solidFill>
              <a:effectLst/>
              <a:latin typeface="Georgia" panose="02040502050405020303" pitchFamily="18" charset="0"/>
            </a:endParaRPr>
          </a:p>
        </p:txBody>
      </p:sp>
      <p:sp>
        <p:nvSpPr>
          <p:cNvPr id="3" name="Rectangle 4">
            <a:extLst>
              <a:ext uri="{FF2B5EF4-FFF2-40B4-BE49-F238E27FC236}">
                <a16:creationId xmlns:a16="http://schemas.microsoft.com/office/drawing/2014/main" id="{DF14D6CC-FD10-C648-C001-A2461B97C33A}"/>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Instrumentation-VUV</a:t>
            </a:r>
          </a:p>
        </p:txBody>
      </p:sp>
    </p:spTree>
    <p:extLst>
      <p:ext uri="{BB962C8B-B14F-4D97-AF65-F5344CB8AC3E}">
        <p14:creationId xmlns:p14="http://schemas.microsoft.com/office/powerpoint/2010/main" val="1609740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D4745C-5AED-651E-3B46-BB24FCC7C35B}"/>
              </a:ext>
            </a:extLst>
          </p:cNvPr>
          <p:cNvSpPr>
            <a:spLocks noGrp="1"/>
          </p:cNvSpPr>
          <p:nvPr>
            <p:ph type="sldNum" sz="quarter" idx="11"/>
          </p:nvPr>
        </p:nvSpPr>
        <p:spPr/>
        <p:txBody>
          <a:bodyPr/>
          <a:lstStyle/>
          <a:p>
            <a:pPr>
              <a:defRPr/>
            </a:pPr>
            <a:fld id="{5A031570-0DA8-4A71-BBF6-3150CEB7570B}" type="slidenum">
              <a:rPr lang="zh-TW" altLang="en-US" smtClean="0"/>
              <a:pPr>
                <a:defRPr/>
              </a:pPr>
              <a:t>11</a:t>
            </a:fld>
            <a:endParaRPr lang="en-US" altLang="zh-TW"/>
          </a:p>
        </p:txBody>
      </p:sp>
      <p:pic>
        <p:nvPicPr>
          <p:cNvPr id="3" name="Picture 2">
            <a:extLst>
              <a:ext uri="{FF2B5EF4-FFF2-40B4-BE49-F238E27FC236}">
                <a16:creationId xmlns:a16="http://schemas.microsoft.com/office/drawing/2014/main" id="{B00A6970-4748-5529-A32F-3A05AF1BC1EC}"/>
              </a:ext>
            </a:extLst>
          </p:cNvPr>
          <p:cNvPicPr>
            <a:picLocks noChangeAspect="1"/>
          </p:cNvPicPr>
          <p:nvPr/>
        </p:nvPicPr>
        <p:blipFill>
          <a:blip r:embed="rId3">
            <a:grayscl/>
            <a:extLst>
              <a:ext uri="{BEBA8EAE-BF5A-486C-A8C5-ECC9F3942E4B}">
                <a14:imgProps xmlns:a14="http://schemas.microsoft.com/office/drawing/2010/main">
                  <a14:imgLayer r:embed="rId4">
                    <a14:imgEffect>
                      <a14:sharpenSoften amount="50000"/>
                    </a14:imgEffect>
                    <a14:imgEffect>
                      <a14:colorTemperature colorTemp="8800"/>
                    </a14:imgEffect>
                    <a14:imgEffect>
                      <a14:brightnessContrast bright="40000"/>
                    </a14:imgEffect>
                  </a14:imgLayer>
                </a14:imgProps>
              </a:ext>
            </a:extLst>
          </a:blip>
          <a:srcRect l="23333" t="17408" r="10834" b="15925"/>
          <a:stretch>
            <a:fillRect/>
          </a:stretch>
        </p:blipFill>
        <p:spPr>
          <a:xfrm>
            <a:off x="4648201" y="685800"/>
            <a:ext cx="4146973" cy="2362200"/>
          </a:xfrm>
          <a:prstGeom prst="rect">
            <a:avLst/>
          </a:prstGeom>
        </p:spPr>
      </p:pic>
      <p:sp>
        <p:nvSpPr>
          <p:cNvPr id="4" name="Rectangle 4">
            <a:extLst>
              <a:ext uri="{FF2B5EF4-FFF2-40B4-BE49-F238E27FC236}">
                <a16:creationId xmlns:a16="http://schemas.microsoft.com/office/drawing/2014/main" id="{0BEC3AAB-6EB9-7304-5368-15EF229021EA}"/>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Instrumentation-differential pumping</a:t>
            </a:r>
          </a:p>
        </p:txBody>
      </p:sp>
      <p:sp>
        <p:nvSpPr>
          <p:cNvPr id="5" name="TextBox 4">
            <a:extLst>
              <a:ext uri="{FF2B5EF4-FFF2-40B4-BE49-F238E27FC236}">
                <a16:creationId xmlns:a16="http://schemas.microsoft.com/office/drawing/2014/main" id="{1B496631-682D-F3EA-1798-143E68429CCE}"/>
              </a:ext>
            </a:extLst>
          </p:cNvPr>
          <p:cNvSpPr txBox="1"/>
          <p:nvPr/>
        </p:nvSpPr>
        <p:spPr>
          <a:xfrm>
            <a:off x="457201" y="848895"/>
            <a:ext cx="4038600" cy="5683607"/>
          </a:xfrm>
          <a:prstGeom prst="rect">
            <a:avLst/>
          </a:prstGeom>
          <a:noFill/>
        </p:spPr>
        <p:txBody>
          <a:bodyPr wrap="square">
            <a:spAutoFit/>
          </a:bodyPr>
          <a:lstStyle/>
          <a:p>
            <a:pPr algn="l">
              <a:spcBef>
                <a:spcPts val="0"/>
              </a:spcBef>
              <a:spcAft>
                <a:spcPts val="200"/>
              </a:spcAft>
              <a:buNone/>
            </a:pPr>
            <a:r>
              <a:rPr lang="en-US" sz="2000" dirty="0">
                <a:solidFill>
                  <a:srgbClr val="000000"/>
                </a:solidFill>
                <a:latin typeface="Georgia" panose="02040502050405020303" pitchFamily="18" charset="0"/>
              </a:rPr>
              <a:t>Considering a capillary tubing of length L and inner diameter D.  When a pressure difference </a:t>
            </a:r>
            <a:r>
              <a:rPr lang="en-US" sz="2000" dirty="0" err="1">
                <a:solidFill>
                  <a:srgbClr val="000000"/>
                </a:solidFill>
                <a:latin typeface="Georgia" panose="02040502050405020303" pitchFamily="18" charset="0"/>
              </a:rPr>
              <a:t>dP</a:t>
            </a:r>
            <a:r>
              <a:rPr lang="en-US" sz="2000" dirty="0">
                <a:solidFill>
                  <a:srgbClr val="000000"/>
                </a:solidFill>
                <a:latin typeface="Georgia" panose="02040502050405020303" pitchFamily="18" charset="0"/>
              </a:rPr>
              <a:t> is established across the length of this tube, the gas flow rate S (in liter- torr/s) is given by </a:t>
            </a:r>
            <a:r>
              <a:rPr lang="en-US" sz="2000" dirty="0" err="1">
                <a:solidFill>
                  <a:srgbClr val="000000"/>
                </a:solidFill>
                <a:latin typeface="Georgia" panose="02040502050405020303" pitchFamily="18" charset="0"/>
              </a:rPr>
              <a:t>dP</a:t>
            </a:r>
            <a:r>
              <a:rPr lang="en-US" sz="2000" dirty="0">
                <a:solidFill>
                  <a:srgbClr val="000000"/>
                </a:solidFill>
                <a:latin typeface="Georgia" panose="02040502050405020303" pitchFamily="18" charset="0"/>
              </a:rPr>
              <a:t> (torr) x C (liter/s), where C is known as the conductance. Given C as 12D</a:t>
            </a:r>
            <a:r>
              <a:rPr lang="en-US" sz="2000" baseline="30000" dirty="0">
                <a:solidFill>
                  <a:srgbClr val="000000"/>
                </a:solidFill>
                <a:latin typeface="Georgia" panose="02040502050405020303" pitchFamily="18" charset="0"/>
              </a:rPr>
              <a:t>3</a:t>
            </a:r>
            <a:r>
              <a:rPr lang="en-US" sz="2000" dirty="0">
                <a:solidFill>
                  <a:srgbClr val="000000"/>
                </a:solidFill>
                <a:latin typeface="Georgia" panose="02040502050405020303" pitchFamily="18" charset="0"/>
              </a:rPr>
              <a:t>/L liters/sec. (D and L in centimeters). </a:t>
            </a:r>
          </a:p>
          <a:p>
            <a:pPr algn="l">
              <a:spcBef>
                <a:spcPts val="0"/>
              </a:spcBef>
              <a:spcAft>
                <a:spcPts val="200"/>
              </a:spcAft>
              <a:buNone/>
            </a:pPr>
            <a:endParaRPr lang="en-US" sz="2000" dirty="0">
              <a:solidFill>
                <a:srgbClr val="000000"/>
              </a:solidFill>
              <a:latin typeface="Georgia" panose="02040502050405020303" pitchFamily="18" charset="0"/>
            </a:endParaRPr>
          </a:p>
          <a:p>
            <a:pPr algn="l">
              <a:spcBef>
                <a:spcPts val="0"/>
              </a:spcBef>
              <a:spcAft>
                <a:spcPts val="200"/>
              </a:spcAft>
              <a:buNone/>
            </a:pPr>
            <a:r>
              <a:rPr lang="en-US" sz="2000" dirty="0">
                <a:solidFill>
                  <a:srgbClr val="000000"/>
                </a:solidFill>
                <a:latin typeface="Georgia" panose="02040502050405020303" pitchFamily="18" charset="0"/>
              </a:rPr>
              <a:t>For tubing of length </a:t>
            </a:r>
            <a:r>
              <a:rPr lang="en-US" sz="2000" dirty="0">
                <a:solidFill>
                  <a:schemeClr val="bg2">
                    <a:lumMod val="60000"/>
                    <a:lumOff val="40000"/>
                  </a:schemeClr>
                </a:solidFill>
                <a:latin typeface="Georgia" panose="02040502050405020303" pitchFamily="18" charset="0"/>
              </a:rPr>
              <a:t>10cm</a:t>
            </a:r>
            <a:r>
              <a:rPr lang="en-US" sz="2000" dirty="0">
                <a:solidFill>
                  <a:srgbClr val="000000"/>
                </a:solidFill>
                <a:latin typeface="Georgia" panose="02040502050405020303" pitchFamily="18" charset="0"/>
              </a:rPr>
              <a:t> and inner diameter </a:t>
            </a:r>
            <a:r>
              <a:rPr lang="en-US" sz="2000" dirty="0">
                <a:solidFill>
                  <a:schemeClr val="bg2">
                    <a:lumMod val="60000"/>
                    <a:lumOff val="40000"/>
                  </a:schemeClr>
                </a:solidFill>
                <a:latin typeface="Georgia" panose="02040502050405020303" pitchFamily="18" charset="0"/>
              </a:rPr>
              <a:t>0.1cm</a:t>
            </a:r>
            <a:r>
              <a:rPr lang="en-US" sz="2000" dirty="0">
                <a:solidFill>
                  <a:srgbClr val="000000"/>
                </a:solidFill>
                <a:latin typeface="Georgia" panose="02040502050405020303" pitchFamily="18" charset="0"/>
              </a:rPr>
              <a:t>, if the low-pressure end of the tubing is evacuated by a pump speed of </a:t>
            </a:r>
            <a:r>
              <a:rPr lang="en-US" sz="2000" dirty="0">
                <a:solidFill>
                  <a:schemeClr val="bg2">
                    <a:lumMod val="60000"/>
                    <a:lumOff val="40000"/>
                  </a:schemeClr>
                </a:solidFill>
                <a:latin typeface="Georgia" panose="02040502050405020303" pitchFamily="18" charset="0"/>
              </a:rPr>
              <a:t>10 liters/s</a:t>
            </a:r>
            <a:r>
              <a:rPr lang="en-US" sz="2000" dirty="0">
                <a:solidFill>
                  <a:srgbClr val="000000"/>
                </a:solidFill>
                <a:latin typeface="Georgia" panose="02040502050405020303" pitchFamily="18" charset="0"/>
              </a:rPr>
              <a:t> at a pressure of </a:t>
            </a:r>
            <a:r>
              <a:rPr lang="en-US" sz="2000" dirty="0">
                <a:solidFill>
                  <a:schemeClr val="bg2">
                    <a:lumMod val="60000"/>
                    <a:lumOff val="40000"/>
                  </a:schemeClr>
                </a:solidFill>
                <a:latin typeface="Georgia" panose="02040502050405020303" pitchFamily="18" charset="0"/>
              </a:rPr>
              <a:t>10</a:t>
            </a:r>
            <a:r>
              <a:rPr lang="en-US" sz="2000" baseline="30000" dirty="0">
                <a:solidFill>
                  <a:schemeClr val="bg2">
                    <a:lumMod val="60000"/>
                    <a:lumOff val="40000"/>
                  </a:schemeClr>
                </a:solidFill>
                <a:latin typeface="Georgia" panose="02040502050405020303" pitchFamily="18" charset="0"/>
              </a:rPr>
              <a:t>-9</a:t>
            </a:r>
            <a:r>
              <a:rPr lang="en-US" sz="2000" dirty="0">
                <a:solidFill>
                  <a:srgbClr val="000000"/>
                </a:solidFill>
                <a:latin typeface="Georgia" panose="02040502050405020303" pitchFamily="18" charset="0"/>
              </a:rPr>
              <a:t> torr, what is the pressure at the other end of the tubing?</a:t>
            </a:r>
            <a:endParaRPr lang="en-US" sz="2000" i="0" dirty="0">
              <a:solidFill>
                <a:srgbClr val="000000"/>
              </a:solidFill>
              <a:effectLst/>
              <a:latin typeface="Georgia" panose="02040502050405020303" pitchFamily="18" charset="0"/>
            </a:endParaRPr>
          </a:p>
        </p:txBody>
      </p:sp>
      <p:sp>
        <p:nvSpPr>
          <p:cNvPr id="7" name="TextBox 6">
            <a:extLst>
              <a:ext uri="{FF2B5EF4-FFF2-40B4-BE49-F238E27FC236}">
                <a16:creationId xmlns:a16="http://schemas.microsoft.com/office/drawing/2014/main" id="{461ABED6-F710-A3F1-D882-4CA4279B281C}"/>
              </a:ext>
            </a:extLst>
          </p:cNvPr>
          <p:cNvSpPr txBox="1"/>
          <p:nvPr/>
        </p:nvSpPr>
        <p:spPr>
          <a:xfrm>
            <a:off x="4678949" y="3298880"/>
            <a:ext cx="4146972" cy="3170099"/>
          </a:xfrm>
          <a:prstGeom prst="rect">
            <a:avLst/>
          </a:prstGeom>
          <a:noFill/>
        </p:spPr>
        <p:txBody>
          <a:bodyPr wrap="square">
            <a:spAutoFit/>
          </a:bodyPr>
          <a:lstStyle/>
          <a:p>
            <a:pPr marL="0" indent="0">
              <a:buNone/>
            </a:pPr>
            <a:r>
              <a:rPr lang="en-HK" dirty="0">
                <a:latin typeface="Georgia" panose="02040502050405020303" pitchFamily="18" charset="0"/>
              </a:rPr>
              <a:t>The conductance of the tubing is </a:t>
            </a:r>
          </a:p>
          <a:p>
            <a:pPr marL="0" indent="0">
              <a:buNone/>
            </a:pPr>
            <a:r>
              <a:rPr lang="en-HK" dirty="0">
                <a:latin typeface="Georgia" panose="02040502050405020303" pitchFamily="18" charset="0"/>
              </a:rPr>
              <a:t>C = 12D</a:t>
            </a:r>
            <a:r>
              <a:rPr lang="en-HK" baseline="30000" dirty="0">
                <a:latin typeface="Georgia" panose="02040502050405020303" pitchFamily="18" charset="0"/>
              </a:rPr>
              <a:t>3</a:t>
            </a:r>
            <a:r>
              <a:rPr lang="en-HK" dirty="0">
                <a:latin typeface="Georgia" panose="02040502050405020303" pitchFamily="18" charset="0"/>
              </a:rPr>
              <a:t>/L=12 x 0.001/10 </a:t>
            </a:r>
          </a:p>
          <a:p>
            <a:pPr marL="0" indent="0">
              <a:spcAft>
                <a:spcPts val="800"/>
              </a:spcAft>
              <a:buNone/>
            </a:pPr>
            <a:r>
              <a:rPr lang="en-HK" dirty="0">
                <a:latin typeface="Georgia" panose="02040502050405020303" pitchFamily="18" charset="0"/>
              </a:rPr>
              <a:t>    = 1.2 1E-3 </a:t>
            </a:r>
            <a:r>
              <a:rPr lang="en-HK" dirty="0" err="1">
                <a:latin typeface="Georgia" panose="02040502050405020303" pitchFamily="18" charset="0"/>
              </a:rPr>
              <a:t>liters</a:t>
            </a:r>
            <a:r>
              <a:rPr lang="en-HK" dirty="0">
                <a:latin typeface="Georgia" panose="02040502050405020303" pitchFamily="18" charset="0"/>
              </a:rPr>
              <a:t>/sec</a:t>
            </a:r>
          </a:p>
          <a:p>
            <a:pPr marL="0" indent="0">
              <a:spcAft>
                <a:spcPts val="0"/>
              </a:spcAft>
              <a:buNone/>
            </a:pPr>
            <a:r>
              <a:rPr lang="en-HK" dirty="0">
                <a:latin typeface="Georgia" panose="02040502050405020303" pitchFamily="18" charset="0"/>
              </a:rPr>
              <a:t>The gas removal rate is </a:t>
            </a:r>
          </a:p>
          <a:p>
            <a:pPr marL="0" indent="0">
              <a:spcAft>
                <a:spcPts val="800"/>
              </a:spcAft>
              <a:buNone/>
            </a:pPr>
            <a:r>
              <a:rPr lang="en-HK" dirty="0">
                <a:latin typeface="Georgia" panose="02040502050405020303" pitchFamily="18" charset="0"/>
              </a:rPr>
              <a:t>S=10-9 x 10 =10-8 </a:t>
            </a:r>
            <a:r>
              <a:rPr lang="en-HK" dirty="0" err="1">
                <a:latin typeface="Georgia" panose="02040502050405020303" pitchFamily="18" charset="0"/>
              </a:rPr>
              <a:t>liter</a:t>
            </a:r>
            <a:r>
              <a:rPr lang="en-HK" dirty="0">
                <a:latin typeface="Georgia" panose="02040502050405020303" pitchFamily="18" charset="0"/>
              </a:rPr>
              <a:t>-torr/sec</a:t>
            </a:r>
          </a:p>
          <a:p>
            <a:pPr marL="0" indent="0">
              <a:spcAft>
                <a:spcPts val="0"/>
              </a:spcAft>
              <a:buNone/>
            </a:pPr>
            <a:r>
              <a:rPr lang="en-HK" dirty="0">
                <a:latin typeface="Georgia" panose="02040502050405020303" pitchFamily="18" charset="0"/>
              </a:rPr>
              <a:t>The pressure differential is </a:t>
            </a:r>
          </a:p>
          <a:p>
            <a:pPr marL="0" indent="0">
              <a:spcAft>
                <a:spcPts val="0"/>
              </a:spcAft>
              <a:buNone/>
            </a:pPr>
            <a:r>
              <a:rPr lang="en-HK" dirty="0" err="1">
                <a:latin typeface="Georgia" panose="02040502050405020303" pitchFamily="18" charset="0"/>
              </a:rPr>
              <a:t>dP</a:t>
            </a:r>
            <a:r>
              <a:rPr lang="en-HK" dirty="0">
                <a:latin typeface="Georgia" panose="02040502050405020303" pitchFamily="18" charset="0"/>
              </a:rPr>
              <a:t>=S/C=10-8/1.2 x 10-3 </a:t>
            </a:r>
          </a:p>
          <a:p>
            <a:pPr marL="0" indent="0">
              <a:spcAft>
                <a:spcPts val="800"/>
              </a:spcAft>
              <a:buNone/>
            </a:pPr>
            <a:r>
              <a:rPr lang="en-HK" dirty="0">
                <a:latin typeface="Georgia" panose="02040502050405020303" pitchFamily="18" charset="0"/>
              </a:rPr>
              <a:t>    = 0.83 x 10-5 torr</a:t>
            </a:r>
          </a:p>
          <a:p>
            <a:pPr marL="0" indent="0">
              <a:spcAft>
                <a:spcPts val="800"/>
              </a:spcAft>
              <a:buNone/>
            </a:pPr>
            <a:r>
              <a:rPr lang="en-HK" dirty="0">
                <a:latin typeface="Georgia" panose="02040502050405020303" pitchFamily="18" charset="0"/>
              </a:rPr>
              <a:t>Then the pressure is 0.83 x 10-5 + 10 -9 torr = 0.83 x 10-5 Torr</a:t>
            </a:r>
          </a:p>
        </p:txBody>
      </p:sp>
    </p:spTree>
    <p:extLst>
      <p:ext uri="{BB962C8B-B14F-4D97-AF65-F5344CB8AC3E}">
        <p14:creationId xmlns:p14="http://schemas.microsoft.com/office/powerpoint/2010/main" val="393319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1219200" y="2334389"/>
            <a:ext cx="6934200" cy="2862322"/>
          </a:xfrm>
          <a:prstGeom prst="rect">
            <a:avLst/>
          </a:prstGeom>
          <a:noFill/>
          <a:ln w="9525">
            <a:noFill/>
            <a:miter lim="800000"/>
            <a:headEnd/>
            <a:tailEnd/>
          </a:ln>
        </p:spPr>
        <p:txBody>
          <a:bodyPr wrap="square" anchor="ctr">
            <a:spAutoFit/>
          </a:bodyPr>
          <a:lstStyle/>
          <a:p>
            <a:pPr algn="ctr"/>
            <a:r>
              <a:rPr lang="en-US" altLang="zh-TW" sz="2000" b="1" dirty="0">
                <a:latin typeface="Georgia" panose="02040502050405020303" pitchFamily="18" charset="0"/>
                <a:ea typeface="新細明體" pitchFamily="18" charset="-120"/>
              </a:rPr>
              <a:t>Definition:</a:t>
            </a:r>
            <a:r>
              <a:rPr lang="en-US" altLang="zh-TW" sz="2000" dirty="0">
                <a:latin typeface="Georgia" panose="02040502050405020303" pitchFamily="18" charset="0"/>
                <a:ea typeface="新細明體" pitchFamily="18" charset="-120"/>
              </a:rPr>
              <a:t> </a:t>
            </a:r>
          </a:p>
          <a:p>
            <a:pPr algn="ctr"/>
            <a:endParaRPr lang="en-US" altLang="zh-TW" sz="2000" dirty="0">
              <a:latin typeface="Georgia" panose="02040502050405020303" pitchFamily="18" charset="0"/>
              <a:ea typeface="新細明體" pitchFamily="18" charset="-120"/>
            </a:endParaRPr>
          </a:p>
          <a:p>
            <a:pPr algn="ctr"/>
            <a:r>
              <a:rPr lang="en-US" altLang="zh-TW" sz="2000" dirty="0">
                <a:latin typeface="Georgia" panose="02040502050405020303" pitchFamily="18" charset="0"/>
                <a:ea typeface="新細明體" pitchFamily="18" charset="-120"/>
              </a:rPr>
              <a:t>Radiation emitted by electrons travelling in a circular orbit at near light speed. Synchrotron radiation occurs in the x-ray and ultraviolet regions of the spectrum. Once considered a dissipative nuisance by accelerator physicists, it can be used to investigate phenomena as diverse as the structures of solids and the interiors of heart vessels</a:t>
            </a:r>
          </a:p>
          <a:p>
            <a:pPr algn="ctr"/>
            <a:endParaRPr lang="en-US" altLang="zh-TW" sz="2000" dirty="0">
              <a:latin typeface="Georgia" panose="02040502050405020303" pitchFamily="18" charset="0"/>
              <a:ea typeface="新細明體" pitchFamily="18" charset="-120"/>
            </a:endParaRPr>
          </a:p>
        </p:txBody>
      </p:sp>
      <p:sp>
        <p:nvSpPr>
          <p:cNvPr id="9219" name="Text Box 5"/>
          <p:cNvSpPr txBox="1">
            <a:spLocks noChangeArrowheads="1"/>
          </p:cNvSpPr>
          <p:nvPr/>
        </p:nvSpPr>
        <p:spPr bwMode="auto">
          <a:xfrm>
            <a:off x="2819400" y="1324783"/>
            <a:ext cx="3294492" cy="461665"/>
          </a:xfrm>
          <a:prstGeom prst="rect">
            <a:avLst/>
          </a:prstGeom>
          <a:noFill/>
          <a:ln w="9525">
            <a:noFill/>
            <a:miter lim="800000"/>
            <a:headEnd/>
            <a:tailEnd/>
          </a:ln>
        </p:spPr>
        <p:txBody>
          <a:bodyPr wrap="none">
            <a:spAutoFit/>
          </a:bodyPr>
          <a:lstStyle/>
          <a:p>
            <a:pPr algn="ctr"/>
            <a:r>
              <a:rPr lang="en-US" altLang="zh-TW" sz="2400" dirty="0">
                <a:latin typeface="Georgia" panose="02040502050405020303" pitchFamily="18" charset="0"/>
                <a:ea typeface="新細明體" pitchFamily="18" charset="-120"/>
              </a:rPr>
              <a:t>Synchrotron Radiation</a:t>
            </a:r>
          </a:p>
        </p:txBody>
      </p:sp>
      <p:sp>
        <p:nvSpPr>
          <p:cNvPr id="2" name="Slide Number Placeholder 1">
            <a:extLst>
              <a:ext uri="{FF2B5EF4-FFF2-40B4-BE49-F238E27FC236}">
                <a16:creationId xmlns:a16="http://schemas.microsoft.com/office/drawing/2014/main" id="{E775C496-6F02-4795-AA00-C85A0368D0C7}"/>
              </a:ext>
            </a:extLst>
          </p:cNvPr>
          <p:cNvSpPr>
            <a:spLocks noGrp="1"/>
          </p:cNvSpPr>
          <p:nvPr>
            <p:ph type="sldNum" sz="quarter" idx="11"/>
          </p:nvPr>
        </p:nvSpPr>
        <p:spPr/>
        <p:txBody>
          <a:bodyPr/>
          <a:lstStyle/>
          <a:p>
            <a:pPr>
              <a:defRPr/>
            </a:pPr>
            <a:fld id="{5A031570-0DA8-4A71-BBF6-3150CEB7570B}" type="slidenum">
              <a:rPr lang="zh-TW" altLang="en-US" smtClean="0"/>
              <a:pPr>
                <a:defRPr/>
              </a:pPr>
              <a:t>12</a:t>
            </a:fld>
            <a:endParaRPr lang="en-US" altLang="zh-TW"/>
          </a:p>
        </p:txBody>
      </p:sp>
      <p:sp>
        <p:nvSpPr>
          <p:cNvPr id="3" name="Rectangle 4">
            <a:extLst>
              <a:ext uri="{FF2B5EF4-FFF2-40B4-BE49-F238E27FC236}">
                <a16:creationId xmlns:a16="http://schemas.microsoft.com/office/drawing/2014/main" id="{C8131B00-40A0-EA1E-F623-863062696CED}"/>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Instrumentation-synchrotron radiation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31A3B1-3B68-4995-58C5-B7B3C0207013}"/>
              </a:ext>
            </a:extLst>
          </p:cNvPr>
          <p:cNvSpPr>
            <a:spLocks noGrp="1"/>
          </p:cNvSpPr>
          <p:nvPr>
            <p:ph type="sldNum" sz="quarter" idx="11"/>
          </p:nvPr>
        </p:nvSpPr>
        <p:spPr>
          <a:xfrm>
            <a:off x="6858000" y="6324600"/>
            <a:ext cx="2133600" cy="457200"/>
          </a:xfrm>
        </p:spPr>
        <p:txBody>
          <a:bodyPr/>
          <a:lstStyle/>
          <a:p>
            <a:pPr>
              <a:defRPr/>
            </a:pPr>
            <a:fld id="{5A031570-0DA8-4A71-BBF6-3150CEB7570B}" type="slidenum">
              <a:rPr lang="zh-TW" altLang="en-US" smtClean="0"/>
              <a:pPr>
                <a:defRPr/>
              </a:pPr>
              <a:t>13</a:t>
            </a:fld>
            <a:endParaRPr lang="en-US" altLang="zh-TW"/>
          </a:p>
        </p:txBody>
      </p:sp>
      <p:sp>
        <p:nvSpPr>
          <p:cNvPr id="3" name="Text Box 5">
            <a:extLst>
              <a:ext uri="{FF2B5EF4-FFF2-40B4-BE49-F238E27FC236}">
                <a16:creationId xmlns:a16="http://schemas.microsoft.com/office/drawing/2014/main" id="{F4BD01EC-7F1A-E4B1-2795-64A8A34DCA63}"/>
              </a:ext>
            </a:extLst>
          </p:cNvPr>
          <p:cNvSpPr txBox="1">
            <a:spLocks noChangeArrowheads="1"/>
          </p:cNvSpPr>
          <p:nvPr/>
        </p:nvSpPr>
        <p:spPr bwMode="auto">
          <a:xfrm>
            <a:off x="609600" y="152400"/>
            <a:ext cx="6492483" cy="523220"/>
          </a:xfrm>
          <a:prstGeom prst="rect">
            <a:avLst/>
          </a:prstGeom>
          <a:noFill/>
          <a:ln w="9525">
            <a:noFill/>
            <a:miter lim="800000"/>
            <a:headEnd/>
            <a:tailEnd/>
          </a:ln>
        </p:spPr>
        <p:txBody>
          <a:bodyPr wrap="none">
            <a:spAutoFit/>
          </a:bodyPr>
          <a:lstStyle/>
          <a:p>
            <a:pPr algn="ctr"/>
            <a:r>
              <a:rPr lang="en-US" altLang="zh-TW" sz="2800" dirty="0">
                <a:solidFill>
                  <a:schemeClr val="bg1"/>
                </a:solidFill>
                <a:latin typeface="Georgia" panose="02040502050405020303" pitchFamily="18" charset="0"/>
                <a:ea typeface="新細明體" pitchFamily="18" charset="-120"/>
              </a:rPr>
              <a:t>Basic principle of synchrotron radiation</a:t>
            </a:r>
          </a:p>
        </p:txBody>
      </p:sp>
      <p:sp>
        <p:nvSpPr>
          <p:cNvPr id="5" name="TextBox 4">
            <a:extLst>
              <a:ext uri="{FF2B5EF4-FFF2-40B4-BE49-F238E27FC236}">
                <a16:creationId xmlns:a16="http://schemas.microsoft.com/office/drawing/2014/main" id="{42A9A6B2-9140-4BF3-0979-92C815F3F8A0}"/>
              </a:ext>
            </a:extLst>
          </p:cNvPr>
          <p:cNvSpPr txBox="1"/>
          <p:nvPr/>
        </p:nvSpPr>
        <p:spPr>
          <a:xfrm>
            <a:off x="228600" y="914400"/>
            <a:ext cx="8382000" cy="1323439"/>
          </a:xfrm>
          <a:prstGeom prst="rect">
            <a:avLst/>
          </a:prstGeom>
          <a:noFill/>
        </p:spPr>
        <p:txBody>
          <a:bodyPr wrap="square">
            <a:spAutoFit/>
          </a:bodyPr>
          <a:lstStyle/>
          <a:p>
            <a:r>
              <a:rPr lang="en-US" sz="2000" b="0" i="0" dirty="0">
                <a:effectLst/>
                <a:latin typeface="Georgia" panose="02040502050405020303" pitchFamily="18" charset="0"/>
              </a:rPr>
              <a:t>Synchrotron radiation is a type of </a:t>
            </a:r>
            <a:r>
              <a:rPr lang="en-US" sz="2000" b="1" i="0" dirty="0">
                <a:solidFill>
                  <a:srgbClr val="000000"/>
                </a:solidFill>
                <a:effectLst/>
                <a:latin typeface="Georgia" panose="02040502050405020303" pitchFamily="18" charset="0"/>
              </a:rPr>
              <a:t>high-intensity, broadband, highly collimated electromagnetic radiation</a:t>
            </a:r>
            <a:r>
              <a:rPr lang="en-US" sz="2000" b="0" i="0" dirty="0">
                <a:effectLst/>
                <a:latin typeface="Georgia" panose="02040502050405020303" pitchFamily="18" charset="0"/>
              </a:rPr>
              <a:t> emitted </a:t>
            </a:r>
            <a:r>
              <a:rPr lang="en-US" sz="2000" b="0" i="0" dirty="0">
                <a:solidFill>
                  <a:srgbClr val="00B050"/>
                </a:solidFill>
                <a:effectLst/>
                <a:latin typeface="Georgia" panose="02040502050405020303" pitchFamily="18" charset="0"/>
              </a:rPr>
              <a:t>tangentially</a:t>
            </a:r>
            <a:r>
              <a:rPr lang="en-US" sz="2000" b="0" i="0" dirty="0">
                <a:effectLst/>
                <a:latin typeface="Georgia" panose="02040502050405020303" pitchFamily="18" charset="0"/>
              </a:rPr>
              <a:t> along the trajectory of</a:t>
            </a:r>
            <a:r>
              <a:rPr lang="en-US" sz="2000" b="0" i="0" dirty="0">
                <a:solidFill>
                  <a:srgbClr val="00B050"/>
                </a:solidFill>
                <a:effectLst/>
                <a:latin typeface="Georgia" panose="02040502050405020303" pitchFamily="18" charset="0"/>
              </a:rPr>
              <a:t> </a:t>
            </a:r>
            <a:r>
              <a:rPr lang="en-US" sz="2000" b="1" i="0" dirty="0">
                <a:solidFill>
                  <a:srgbClr val="00B050"/>
                </a:solidFill>
                <a:effectLst/>
                <a:latin typeface="Georgia" panose="02040502050405020303" pitchFamily="18" charset="0"/>
              </a:rPr>
              <a:t>relativistic charged particles</a:t>
            </a:r>
            <a:r>
              <a:rPr lang="en-US" sz="2000" b="0" i="0" dirty="0">
                <a:solidFill>
                  <a:srgbClr val="00B050"/>
                </a:solidFill>
                <a:effectLst/>
                <a:latin typeface="Georgia" panose="02040502050405020303" pitchFamily="18" charset="0"/>
              </a:rPr>
              <a:t> </a:t>
            </a:r>
            <a:r>
              <a:rPr lang="en-US" sz="2000" b="0" i="0" dirty="0">
                <a:effectLst/>
                <a:latin typeface="Georgia" panose="02040502050405020303" pitchFamily="18" charset="0"/>
              </a:rPr>
              <a:t>when they undergo </a:t>
            </a:r>
            <a:r>
              <a:rPr lang="en-US" sz="2000" b="0" i="0" dirty="0">
                <a:solidFill>
                  <a:srgbClr val="00B050"/>
                </a:solidFill>
                <a:effectLst/>
                <a:latin typeface="Georgia" panose="02040502050405020303" pitchFamily="18" charset="0"/>
              </a:rPr>
              <a:t>curved motion </a:t>
            </a:r>
            <a:r>
              <a:rPr lang="en-US" sz="2000" b="0" i="0" dirty="0">
                <a:effectLst/>
                <a:latin typeface="Georgia" panose="02040502050405020303" pitchFamily="18" charset="0"/>
              </a:rPr>
              <a:t>in a </a:t>
            </a:r>
            <a:r>
              <a:rPr lang="en-US" sz="2000" b="1" i="0" dirty="0">
                <a:solidFill>
                  <a:srgbClr val="00B050"/>
                </a:solidFill>
                <a:effectLst/>
                <a:latin typeface="Georgia" panose="02040502050405020303" pitchFamily="18" charset="0"/>
              </a:rPr>
              <a:t>magnetic field</a:t>
            </a:r>
            <a:r>
              <a:rPr lang="en-US" sz="2000" b="0" i="0" dirty="0">
                <a:effectLst/>
                <a:latin typeface="Georgia" panose="02040502050405020303" pitchFamily="18" charset="0"/>
              </a:rPr>
              <a:t>.</a:t>
            </a:r>
            <a:endParaRPr lang="en-HK" sz="2000" dirty="0">
              <a:latin typeface="Georgia" panose="02040502050405020303" pitchFamily="18" charset="0"/>
            </a:endParaRPr>
          </a:p>
        </p:txBody>
      </p:sp>
      <p:sp>
        <p:nvSpPr>
          <p:cNvPr id="7" name="TextBox 6">
            <a:extLst>
              <a:ext uri="{FF2B5EF4-FFF2-40B4-BE49-F238E27FC236}">
                <a16:creationId xmlns:a16="http://schemas.microsoft.com/office/drawing/2014/main" id="{48FB91E9-989E-32C9-C1F7-A88E21887A73}"/>
              </a:ext>
            </a:extLst>
          </p:cNvPr>
          <p:cNvSpPr txBox="1"/>
          <p:nvPr/>
        </p:nvSpPr>
        <p:spPr>
          <a:xfrm>
            <a:off x="228600" y="2619730"/>
            <a:ext cx="8229600" cy="1015663"/>
          </a:xfrm>
          <a:prstGeom prst="rect">
            <a:avLst/>
          </a:prstGeom>
          <a:noFill/>
        </p:spPr>
        <p:txBody>
          <a:bodyPr wrap="square">
            <a:spAutoFit/>
          </a:bodyPr>
          <a:lstStyle/>
          <a:p>
            <a:r>
              <a:rPr lang="en-US" sz="2000" b="0" i="0" dirty="0">
                <a:effectLst/>
                <a:latin typeface="Georgia" panose="02040502050405020303" pitchFamily="18" charset="0"/>
              </a:rPr>
              <a:t>The generation of synchrotron radiation first requires accelerating charged particles (usually electrons or positrons) to </a:t>
            </a:r>
            <a:r>
              <a:rPr lang="en-US" sz="2000" b="1" i="0" dirty="0">
                <a:solidFill>
                  <a:srgbClr val="00B050"/>
                </a:solidFill>
                <a:effectLst/>
                <a:latin typeface="Georgia" panose="02040502050405020303" pitchFamily="18" charset="0"/>
              </a:rPr>
              <a:t>relativistic speeds</a:t>
            </a:r>
            <a:r>
              <a:rPr lang="en-US" sz="2000" b="0" i="0" dirty="0">
                <a:effectLst/>
                <a:latin typeface="Georgia" panose="02040502050405020303" pitchFamily="18" charset="0"/>
              </a:rPr>
              <a:t> (close to the speed of light, GeV)</a:t>
            </a:r>
            <a:endParaRPr lang="en-HK" sz="2000" dirty="0">
              <a:latin typeface="Georgia" panose="02040502050405020303" pitchFamily="18" charset="0"/>
            </a:endParaRPr>
          </a:p>
        </p:txBody>
      </p:sp>
      <p:sp>
        <p:nvSpPr>
          <p:cNvPr id="11" name="TextBox 10">
            <a:extLst>
              <a:ext uri="{FF2B5EF4-FFF2-40B4-BE49-F238E27FC236}">
                <a16:creationId xmlns:a16="http://schemas.microsoft.com/office/drawing/2014/main" id="{60FEF082-5959-4BAB-BCDD-383030204B3D}"/>
              </a:ext>
            </a:extLst>
          </p:cNvPr>
          <p:cNvSpPr txBox="1"/>
          <p:nvPr/>
        </p:nvSpPr>
        <p:spPr>
          <a:xfrm>
            <a:off x="228600" y="3862161"/>
            <a:ext cx="8472889" cy="2554545"/>
          </a:xfrm>
          <a:prstGeom prst="rect">
            <a:avLst/>
          </a:prstGeom>
          <a:noFill/>
        </p:spPr>
        <p:txBody>
          <a:bodyPr wrap="square">
            <a:spAutoFit/>
          </a:bodyPr>
          <a:lstStyle/>
          <a:p>
            <a:pPr>
              <a:buNone/>
            </a:pPr>
            <a:r>
              <a:rPr lang="en-US" sz="2000" b="0" i="0" dirty="0">
                <a:effectLst/>
                <a:latin typeface="Georgia" panose="02040502050405020303" pitchFamily="18" charset="0"/>
              </a:rPr>
              <a:t>Dipole magnets generate a uniform bending magnetic field whose direction is perpendicular to the charged particle motion direction (subjected to the Lorentz force </a:t>
            </a:r>
            <a:r>
              <a:rPr lang="en-US" sz="2000" b="0" i="1" dirty="0">
                <a:effectLst/>
                <a:latin typeface="Georgia" panose="02040502050405020303" pitchFamily="18" charset="0"/>
              </a:rPr>
              <a:t>F</a:t>
            </a:r>
            <a:r>
              <a:rPr lang="en-US" sz="2000" b="0" i="0" dirty="0">
                <a:effectLst/>
                <a:latin typeface="Georgia" panose="02040502050405020303" pitchFamily="18" charset="0"/>
              </a:rPr>
              <a:t>=</a:t>
            </a:r>
            <a:r>
              <a:rPr lang="en-US" sz="2000" b="0" i="1" dirty="0" err="1">
                <a:effectLst/>
                <a:latin typeface="Georgia" panose="02040502050405020303" pitchFamily="18" charset="0"/>
              </a:rPr>
              <a:t>qv</a:t>
            </a:r>
            <a:r>
              <a:rPr lang="en-US" sz="2000" b="0" i="0" dirty="0" err="1">
                <a:effectLst/>
                <a:latin typeface="Georgia" panose="02040502050405020303" pitchFamily="18" charset="0"/>
              </a:rPr>
              <a:t>×</a:t>
            </a:r>
            <a:r>
              <a:rPr lang="en-US" sz="2000" b="0" i="1" dirty="0" err="1">
                <a:effectLst/>
                <a:latin typeface="Georgia" panose="02040502050405020303" pitchFamily="18" charset="0"/>
              </a:rPr>
              <a:t>B</a:t>
            </a:r>
            <a:r>
              <a:rPr lang="en-US" sz="2000" b="0" i="1" dirty="0">
                <a:effectLst/>
                <a:latin typeface="Georgia" panose="02040502050405020303" pitchFamily="18" charset="0"/>
              </a:rPr>
              <a:t>) </a:t>
            </a:r>
            <a:r>
              <a:rPr lang="en-US" sz="2000" dirty="0">
                <a:latin typeface="Georgia" panose="02040502050405020303" pitchFamily="18" charset="0"/>
              </a:rPr>
              <a:t>. </a:t>
            </a:r>
            <a:r>
              <a:rPr lang="en-US" sz="2000" b="0" i="0" dirty="0">
                <a:effectLst/>
                <a:latin typeface="Georgia" panose="02040502050405020303" pitchFamily="18" charset="0"/>
              </a:rPr>
              <a:t>The particles to move in a uniform circular motion along a circular orbit, with a </a:t>
            </a:r>
            <a:r>
              <a:rPr lang="en-US" sz="2000" b="1" i="0" dirty="0">
                <a:solidFill>
                  <a:srgbClr val="00B050"/>
                </a:solidFill>
                <a:effectLst/>
                <a:latin typeface="Georgia" panose="02040502050405020303" pitchFamily="18" charset="0"/>
              </a:rPr>
              <a:t>centripetal acceleration </a:t>
            </a:r>
            <a:r>
              <a:rPr lang="en-US" sz="2000" b="0" i="0" dirty="0">
                <a:solidFill>
                  <a:srgbClr val="00B050"/>
                </a:solidFill>
                <a:effectLst/>
                <a:latin typeface="Georgia" panose="02040502050405020303" pitchFamily="18" charset="0"/>
              </a:rPr>
              <a:t> </a:t>
            </a:r>
            <a:r>
              <a:rPr lang="en-US" sz="2000" b="0" i="0" dirty="0">
                <a:effectLst/>
                <a:latin typeface="Georgia" panose="02040502050405020303" pitchFamily="18" charset="0"/>
              </a:rPr>
              <a:t>that is the direct cause of synchrotron radiation generation.</a:t>
            </a:r>
          </a:p>
          <a:p>
            <a:pPr>
              <a:buNone/>
            </a:pPr>
            <a:endParaRPr lang="en-US" sz="2000" dirty="0">
              <a:latin typeface="Georgia" panose="02040502050405020303" pitchFamily="18" charset="0"/>
            </a:endParaRPr>
          </a:p>
          <a:p>
            <a:pPr>
              <a:buNone/>
            </a:pPr>
            <a:r>
              <a:rPr lang="en-US" sz="2000" dirty="0">
                <a:solidFill>
                  <a:schemeClr val="bg2">
                    <a:lumMod val="60000"/>
                    <a:lumOff val="40000"/>
                  </a:schemeClr>
                </a:solidFill>
                <a:latin typeface="Georgia" panose="02040502050405020303" pitchFamily="18" charset="0"/>
              </a:rPr>
              <a:t>vs. Bremsstrahlung</a:t>
            </a:r>
            <a:endParaRPr lang="en-HK" sz="2000" dirty="0">
              <a:solidFill>
                <a:schemeClr val="bg2">
                  <a:lumMod val="60000"/>
                  <a:lumOff val="40000"/>
                </a:schemeClr>
              </a:solidFill>
              <a:latin typeface="Georgia" panose="02040502050405020303" pitchFamily="18" charset="0"/>
            </a:endParaRPr>
          </a:p>
        </p:txBody>
      </p:sp>
    </p:spTree>
    <p:extLst>
      <p:ext uri="{BB962C8B-B14F-4D97-AF65-F5344CB8AC3E}">
        <p14:creationId xmlns:p14="http://schemas.microsoft.com/office/powerpoint/2010/main" val="280965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E6A0-78B9-7721-AC0E-131BD07DCE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7ECC59-8659-EAD3-CA6F-B3750505B84E}"/>
              </a:ext>
            </a:extLst>
          </p:cNvPr>
          <p:cNvSpPr>
            <a:spLocks noGrp="1"/>
          </p:cNvSpPr>
          <p:nvPr>
            <p:ph type="sldNum" sz="quarter" idx="11"/>
          </p:nvPr>
        </p:nvSpPr>
        <p:spPr/>
        <p:txBody>
          <a:bodyPr/>
          <a:lstStyle/>
          <a:p>
            <a:pPr>
              <a:defRPr/>
            </a:pPr>
            <a:fld id="{5A031570-0DA8-4A71-BBF6-3150CEB7570B}" type="slidenum">
              <a:rPr lang="zh-TW" altLang="en-US" smtClean="0"/>
              <a:pPr>
                <a:defRPr/>
              </a:pPr>
              <a:t>14</a:t>
            </a:fld>
            <a:endParaRPr lang="en-US" altLang="zh-TW"/>
          </a:p>
        </p:txBody>
      </p:sp>
      <p:sp>
        <p:nvSpPr>
          <p:cNvPr id="3" name="Text Box 5">
            <a:extLst>
              <a:ext uri="{FF2B5EF4-FFF2-40B4-BE49-F238E27FC236}">
                <a16:creationId xmlns:a16="http://schemas.microsoft.com/office/drawing/2014/main" id="{BC1BD796-9509-1AFE-CFDC-0656736249DA}"/>
              </a:ext>
            </a:extLst>
          </p:cNvPr>
          <p:cNvSpPr txBox="1">
            <a:spLocks noChangeArrowheads="1"/>
          </p:cNvSpPr>
          <p:nvPr/>
        </p:nvSpPr>
        <p:spPr bwMode="auto">
          <a:xfrm>
            <a:off x="685800" y="152400"/>
            <a:ext cx="5521063" cy="523220"/>
          </a:xfrm>
          <a:prstGeom prst="rect">
            <a:avLst/>
          </a:prstGeom>
          <a:noFill/>
          <a:ln w="9525">
            <a:noFill/>
            <a:miter lim="800000"/>
            <a:headEnd/>
            <a:tailEnd/>
          </a:ln>
        </p:spPr>
        <p:txBody>
          <a:bodyPr wrap="none">
            <a:spAutoFit/>
          </a:bodyPr>
          <a:lstStyle/>
          <a:p>
            <a:pPr algn="ctr"/>
            <a:r>
              <a:rPr lang="en-US" altLang="zh-TW" sz="2800" dirty="0">
                <a:solidFill>
                  <a:schemeClr val="bg1"/>
                </a:solidFill>
                <a:latin typeface="Georgia" panose="02040502050405020303" pitchFamily="18" charset="0"/>
                <a:ea typeface="新細明體" pitchFamily="18" charset="-120"/>
              </a:rPr>
              <a:t>Features of synchrotron radiation</a:t>
            </a:r>
          </a:p>
        </p:txBody>
      </p:sp>
      <p:sp>
        <p:nvSpPr>
          <p:cNvPr id="13" name="TextBox 12">
            <a:extLst>
              <a:ext uri="{FF2B5EF4-FFF2-40B4-BE49-F238E27FC236}">
                <a16:creationId xmlns:a16="http://schemas.microsoft.com/office/drawing/2014/main" id="{74C58F87-0571-E494-878C-5441BA1BC9F9}"/>
              </a:ext>
            </a:extLst>
          </p:cNvPr>
          <p:cNvSpPr txBox="1"/>
          <p:nvPr/>
        </p:nvSpPr>
        <p:spPr>
          <a:xfrm>
            <a:off x="228600" y="1036037"/>
            <a:ext cx="8629650" cy="4785926"/>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Georgia" panose="02040502050405020303" pitchFamily="18" charset="0"/>
              </a:rPr>
              <a:t>Highly collimated radiation</a:t>
            </a:r>
          </a:p>
          <a:p>
            <a:pPr marL="800100" lvl="1" indent="-342900">
              <a:buFont typeface="Arial" panose="020B0604020202020204" pitchFamily="34" charset="0"/>
              <a:buChar char="•"/>
            </a:pPr>
            <a:r>
              <a:rPr lang="en-US" sz="2000" dirty="0">
                <a:latin typeface="Georgia" panose="02040502050405020303" pitchFamily="18" charset="0"/>
              </a:rPr>
              <a:t>The axis of the cone coinciding with the tangential direction of the particle motion. </a:t>
            </a:r>
          </a:p>
          <a:p>
            <a:pPr marL="800100" lvl="1" indent="-342900">
              <a:buFont typeface="Arial" panose="020B0604020202020204" pitchFamily="34" charset="0"/>
              <a:buChar char="•"/>
            </a:pPr>
            <a:r>
              <a:rPr lang="en-US" sz="2000" dirty="0">
                <a:latin typeface="Georgia" panose="02040502050405020303" pitchFamily="18" charset="0"/>
              </a:rPr>
              <a:t>The cone angle θ is inversely proportional to the relativistic factor γ, so that the radiation cone angle is only on the order of milliradians. </a:t>
            </a:r>
          </a:p>
          <a:p>
            <a:pPr marL="800100" lvl="1" indent="-342900">
              <a:buFont typeface="Arial" panose="020B0604020202020204" pitchFamily="34" charset="0"/>
              <a:buChar char="•"/>
            </a:pPr>
            <a:r>
              <a:rPr lang="en-US" sz="2000" dirty="0">
                <a:latin typeface="Georgia" panose="02040502050405020303" pitchFamily="18" charset="0"/>
              </a:rPr>
              <a:t>The collimation of the radiation beam is comparable to that of a laser.</a:t>
            </a:r>
          </a:p>
          <a:p>
            <a:pPr marL="342900" indent="-342900">
              <a:buFont typeface="Arial" panose="020B0604020202020204" pitchFamily="34" charset="0"/>
              <a:buChar char="•"/>
            </a:pPr>
            <a:r>
              <a:rPr lang="en-US" sz="2000" b="1" dirty="0">
                <a:latin typeface="Georgia" panose="02040502050405020303" pitchFamily="18" charset="0"/>
              </a:rPr>
              <a:t>Continuous spectrum</a:t>
            </a:r>
          </a:p>
          <a:p>
            <a:pPr marL="800100" lvl="1" indent="-342900">
              <a:buFont typeface="Arial" panose="020B0604020202020204" pitchFamily="34" charset="0"/>
              <a:buChar char="•"/>
            </a:pPr>
            <a:r>
              <a:rPr lang="en-US" sz="2000" dirty="0">
                <a:latin typeface="Georgia" panose="02040502050405020303" pitchFamily="18" charset="0"/>
              </a:rPr>
              <a:t>Covering a wide wavelength range from far-infrared, visible light, and ultraviolet to soft X-rays and hard X-rays, with extremely high photon flux.</a:t>
            </a:r>
          </a:p>
          <a:p>
            <a:pPr marL="800100" lvl="1" indent="-342900">
              <a:spcAft>
                <a:spcPts val="600"/>
              </a:spcAft>
              <a:buFont typeface="Arial" panose="020B0604020202020204" pitchFamily="34" charset="0"/>
              <a:buChar char="•"/>
            </a:pPr>
            <a:r>
              <a:rPr lang="en-HK" sz="2000" dirty="0">
                <a:latin typeface="Georgia" panose="02040502050405020303" pitchFamily="18" charset="0"/>
              </a:rPr>
              <a:t>Energy range </a:t>
            </a:r>
            <a:r>
              <a:rPr lang="en-HK" sz="2000" i="1" dirty="0" err="1">
                <a:latin typeface="Georgia" panose="02040502050405020303" pitchFamily="18" charset="0"/>
              </a:rPr>
              <a:t>E</a:t>
            </a:r>
            <a:r>
              <a:rPr lang="en-HK" sz="2000" dirty="0" err="1">
                <a:latin typeface="Georgia" panose="02040502050405020303" pitchFamily="18" charset="0"/>
              </a:rPr>
              <a:t>~</a:t>
            </a:r>
            <a:r>
              <a:rPr lang="en-HK" sz="2000" dirty="0" err="1"/>
              <a:t>ℏ</a:t>
            </a:r>
            <a:r>
              <a:rPr lang="el-GR" sz="2000" i="1" dirty="0"/>
              <a:t>ω</a:t>
            </a:r>
            <a:r>
              <a:rPr lang="en-HK" sz="2000" i="1" baseline="-25000" dirty="0"/>
              <a:t>0</a:t>
            </a:r>
            <a:r>
              <a:rPr lang="en-HK" sz="2000" i="1" dirty="0">
                <a:latin typeface="Symbol" panose="05050102010706020507" pitchFamily="18" charset="2"/>
              </a:rPr>
              <a:t>g</a:t>
            </a:r>
            <a:r>
              <a:rPr lang="en-HK" sz="2000" i="1" baseline="30000" dirty="0"/>
              <a:t>3 </a:t>
            </a:r>
            <a:r>
              <a:rPr lang="en-HK" sz="2000" i="1" dirty="0">
                <a:latin typeface="Georgia" panose="02040502050405020303" pitchFamily="18" charset="0"/>
              </a:rPr>
              <a:t>, </a:t>
            </a:r>
            <a:r>
              <a:rPr lang="en-HK" sz="2000" dirty="0">
                <a:latin typeface="Georgia" panose="02040502050405020303" pitchFamily="18" charset="0"/>
              </a:rPr>
              <a:t>where</a:t>
            </a:r>
            <a:r>
              <a:rPr lang="en-HK" sz="2000" i="1" dirty="0">
                <a:latin typeface="Georgia" panose="02040502050405020303" pitchFamily="18" charset="0"/>
              </a:rPr>
              <a:t> </a:t>
            </a:r>
            <a:r>
              <a:rPr lang="en-HK" sz="2000" i="1" dirty="0">
                <a:latin typeface="Symbol" panose="05050102010706020507" pitchFamily="18" charset="2"/>
              </a:rPr>
              <a:t>g=</a:t>
            </a:r>
            <a:r>
              <a:rPr lang="en-HK" sz="2000" dirty="0">
                <a:latin typeface="Symbol" panose="05050102010706020507" pitchFamily="18" charset="2"/>
              </a:rPr>
              <a:t>(</a:t>
            </a:r>
            <a:r>
              <a:rPr lang="en-HK" sz="2000" dirty="0">
                <a:latin typeface="Georgia" panose="02040502050405020303" pitchFamily="18" charset="0"/>
              </a:rPr>
              <a:t>1-</a:t>
            </a:r>
            <a:r>
              <a:rPr lang="en-HK" sz="2000" i="1" dirty="0">
                <a:latin typeface="Georgia" panose="02040502050405020303" pitchFamily="18" charset="0"/>
              </a:rPr>
              <a:t>v</a:t>
            </a:r>
            <a:r>
              <a:rPr lang="en-HK" sz="2000" baseline="30000" dirty="0">
                <a:latin typeface="Georgia" panose="02040502050405020303" pitchFamily="18" charset="0"/>
              </a:rPr>
              <a:t>2</a:t>
            </a:r>
            <a:r>
              <a:rPr lang="en-HK" sz="2000" dirty="0">
                <a:latin typeface="Georgia" panose="02040502050405020303" pitchFamily="18" charset="0"/>
              </a:rPr>
              <a:t>/c</a:t>
            </a:r>
            <a:r>
              <a:rPr lang="en-HK" sz="2000" baseline="30000" dirty="0">
                <a:latin typeface="Georgia" panose="02040502050405020303" pitchFamily="18" charset="0"/>
              </a:rPr>
              <a:t>2</a:t>
            </a:r>
            <a:r>
              <a:rPr lang="en-HK" sz="2000" dirty="0">
                <a:latin typeface="Georgia" panose="02040502050405020303" pitchFamily="18" charset="0"/>
              </a:rPr>
              <a:t>) </a:t>
            </a:r>
            <a:r>
              <a:rPr lang="en-HK" sz="2000" baseline="30000" dirty="0">
                <a:latin typeface="Georgia" panose="02040502050405020303" pitchFamily="18" charset="0"/>
              </a:rPr>
              <a:t>-1/2 </a:t>
            </a:r>
            <a:r>
              <a:rPr lang="en-HK" sz="2000" i="1" baseline="30000" dirty="0">
                <a:latin typeface="Georgia" panose="02040502050405020303" pitchFamily="18" charset="0"/>
              </a:rPr>
              <a:t> </a:t>
            </a:r>
            <a:r>
              <a:rPr lang="en-HK" sz="2000" dirty="0">
                <a:latin typeface="Georgia" panose="02040502050405020303" pitchFamily="18" charset="0"/>
              </a:rPr>
              <a:t>is the ratio of electron mass to its rest mass, and </a:t>
            </a:r>
            <a:r>
              <a:rPr lang="el-GR" sz="2000" i="1" dirty="0"/>
              <a:t>ω</a:t>
            </a:r>
            <a:r>
              <a:rPr lang="en-HK" sz="2000" i="1" baseline="-25000" dirty="0"/>
              <a:t>0 </a:t>
            </a:r>
            <a:r>
              <a:rPr lang="en-HK" sz="2000" dirty="0">
                <a:latin typeface="Georgia" panose="02040502050405020303" pitchFamily="18" charset="0"/>
              </a:rPr>
              <a:t>is the orbital angular frequency.</a:t>
            </a:r>
          </a:p>
          <a:p>
            <a:pPr marL="342900" indent="-342900">
              <a:buFont typeface="Arial" panose="020B0604020202020204" pitchFamily="34" charset="0"/>
              <a:buChar char="•"/>
            </a:pPr>
            <a:r>
              <a:rPr lang="en-US" sz="2000" b="1" dirty="0">
                <a:latin typeface="Georgia" panose="02040502050405020303" pitchFamily="18" charset="0"/>
              </a:rPr>
              <a:t>Linearly polarized </a:t>
            </a:r>
            <a:r>
              <a:rPr lang="en-US" sz="2000" dirty="0">
                <a:latin typeface="Georgia" panose="02040502050405020303" pitchFamily="18" charset="0"/>
              </a:rPr>
              <a:t>within the orbital plane and elliptically polarized outside the plane. </a:t>
            </a:r>
            <a:endParaRPr lang="en-HK" sz="2000" dirty="0">
              <a:latin typeface="Georgia" panose="02040502050405020303" pitchFamily="18" charset="0"/>
            </a:endParaRPr>
          </a:p>
        </p:txBody>
      </p:sp>
    </p:spTree>
    <p:extLst>
      <p:ext uri="{BB962C8B-B14F-4D97-AF65-F5344CB8AC3E}">
        <p14:creationId xmlns:p14="http://schemas.microsoft.com/office/powerpoint/2010/main" val="2992243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SR1"/>
          <p:cNvPicPr>
            <a:picLocks noChangeAspect="1" noChangeArrowheads="1"/>
          </p:cNvPicPr>
          <p:nvPr/>
        </p:nvPicPr>
        <p:blipFill>
          <a:blip r:embed="rId2" cstate="print"/>
          <a:srcRect/>
          <a:stretch>
            <a:fillRect/>
          </a:stretch>
        </p:blipFill>
        <p:spPr bwMode="auto">
          <a:xfrm>
            <a:off x="990600" y="1626811"/>
            <a:ext cx="2952750" cy="3543300"/>
          </a:xfrm>
          <a:prstGeom prst="rect">
            <a:avLst/>
          </a:prstGeom>
          <a:noFill/>
          <a:ln w="9525">
            <a:noFill/>
            <a:miter lim="800000"/>
            <a:headEnd/>
            <a:tailEnd/>
          </a:ln>
        </p:spPr>
      </p:pic>
      <p:sp>
        <p:nvSpPr>
          <p:cNvPr id="10243" name="Text Box 6"/>
          <p:cNvSpPr txBox="1">
            <a:spLocks noChangeArrowheads="1"/>
          </p:cNvSpPr>
          <p:nvPr/>
        </p:nvSpPr>
        <p:spPr bwMode="auto">
          <a:xfrm>
            <a:off x="609600" y="4420975"/>
            <a:ext cx="8229600" cy="1314450"/>
          </a:xfrm>
          <a:prstGeom prst="rect">
            <a:avLst/>
          </a:prstGeom>
          <a:solidFill>
            <a:schemeClr val="bg1"/>
          </a:solidFill>
          <a:ln w="9525">
            <a:noFill/>
            <a:miter lim="800000"/>
            <a:headEnd/>
            <a:tailEnd/>
          </a:ln>
        </p:spPr>
        <p:txBody>
          <a:bodyPr>
            <a:spAutoFit/>
          </a:bodyPr>
          <a:lstStyle/>
          <a:p>
            <a:pPr algn="just">
              <a:spcBef>
                <a:spcPct val="50000"/>
              </a:spcBef>
            </a:pPr>
            <a:r>
              <a:rPr lang="en-US" altLang="zh-TW" sz="1600" dirty="0">
                <a:latin typeface="Georgia" panose="02040502050405020303" pitchFamily="18" charset="0"/>
                <a:ea typeface="新細明體" pitchFamily="18" charset="-120"/>
              </a:rPr>
              <a:t>Synchrotron radiation characteristically is highly </a:t>
            </a:r>
            <a:r>
              <a:rPr lang="en-US" altLang="zh-TW" sz="1600" dirty="0">
                <a:solidFill>
                  <a:srgbClr val="FF3300"/>
                </a:solidFill>
                <a:latin typeface="Georgia" panose="02040502050405020303" pitchFamily="18" charset="0"/>
                <a:ea typeface="新細明體" pitchFamily="18" charset="-120"/>
              </a:rPr>
              <a:t>polarized</a:t>
            </a:r>
            <a:r>
              <a:rPr lang="en-US" altLang="zh-TW" sz="1600" dirty="0">
                <a:latin typeface="Georgia" panose="02040502050405020303" pitchFamily="18" charset="0"/>
                <a:ea typeface="新細明體" pitchFamily="18" charset="-120"/>
              </a:rPr>
              <a:t> and </a:t>
            </a:r>
            <a:r>
              <a:rPr lang="en-US" altLang="zh-TW" sz="1600" dirty="0">
                <a:solidFill>
                  <a:srgbClr val="FF3300"/>
                </a:solidFill>
                <a:latin typeface="Georgia" panose="02040502050405020303" pitchFamily="18" charset="0"/>
                <a:ea typeface="新細明體" pitchFamily="18" charset="-120"/>
              </a:rPr>
              <a:t>continuous</a:t>
            </a:r>
            <a:r>
              <a:rPr lang="en-US" altLang="zh-TW" sz="1600" dirty="0">
                <a:latin typeface="Georgia" panose="02040502050405020303" pitchFamily="18" charset="0"/>
                <a:ea typeface="新細明體" pitchFamily="18" charset="-120"/>
              </a:rPr>
              <a:t>. Its intensity and frequency are directly related to the strength of the magnetic field and the energy of the charged particles affected by the field.  Accordingly, the stronger the magnetic field and the higher the energy of the particles, the greater the intensity and frequency of the emitted radiation.  Synchrotron radiation is thus often termed nonthermal radiation.</a:t>
            </a:r>
            <a:endParaRPr lang="zh-TW" altLang="en-US" sz="1600" dirty="0">
              <a:latin typeface="Georgia" panose="02040502050405020303" pitchFamily="18" charset="0"/>
              <a:ea typeface="新細明體" pitchFamily="18" charset="-120"/>
            </a:endParaRPr>
          </a:p>
        </p:txBody>
      </p:sp>
      <p:sp>
        <p:nvSpPr>
          <p:cNvPr id="10245" name="Text Box 8"/>
          <p:cNvSpPr txBox="1">
            <a:spLocks noChangeArrowheads="1"/>
          </p:cNvSpPr>
          <p:nvPr/>
        </p:nvSpPr>
        <p:spPr bwMode="auto">
          <a:xfrm>
            <a:off x="2659975" y="890752"/>
            <a:ext cx="3812262" cy="523220"/>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Synchrotron Radiation</a:t>
            </a:r>
          </a:p>
        </p:txBody>
      </p:sp>
      <p:pic>
        <p:nvPicPr>
          <p:cNvPr id="10246" name="Picture 11" descr="radiation"/>
          <p:cNvPicPr>
            <a:picLocks noChangeAspect="1" noChangeArrowheads="1"/>
          </p:cNvPicPr>
          <p:nvPr/>
        </p:nvPicPr>
        <p:blipFill>
          <a:blip r:embed="rId3" cstate="print"/>
          <a:srcRect/>
          <a:stretch>
            <a:fillRect/>
          </a:stretch>
        </p:blipFill>
        <p:spPr bwMode="auto">
          <a:xfrm>
            <a:off x="4648199" y="1864961"/>
            <a:ext cx="3648075" cy="2105025"/>
          </a:xfrm>
          <a:prstGeom prst="rect">
            <a:avLst/>
          </a:prstGeom>
          <a:noFill/>
          <a:ln w="9525">
            <a:noFill/>
            <a:miter lim="800000"/>
            <a:headEnd/>
            <a:tailEnd/>
          </a:ln>
        </p:spPr>
      </p:pic>
      <p:sp>
        <p:nvSpPr>
          <p:cNvPr id="10247" name="Text Box 12"/>
          <p:cNvSpPr txBox="1">
            <a:spLocks noChangeArrowheads="1"/>
          </p:cNvSpPr>
          <p:nvPr/>
        </p:nvSpPr>
        <p:spPr bwMode="auto">
          <a:xfrm>
            <a:off x="3372508" y="5729075"/>
            <a:ext cx="4453463" cy="369332"/>
          </a:xfrm>
          <a:prstGeom prst="rect">
            <a:avLst/>
          </a:prstGeom>
          <a:noFill/>
          <a:ln w="9525">
            <a:noFill/>
            <a:miter lim="800000"/>
            <a:headEnd/>
            <a:tailEnd/>
          </a:ln>
        </p:spPr>
        <p:txBody>
          <a:bodyPr wrap="none">
            <a:spAutoFit/>
          </a:bodyPr>
          <a:lstStyle/>
          <a:p>
            <a:r>
              <a:rPr lang="en-US" altLang="zh-TW" i="1" dirty="0">
                <a:solidFill>
                  <a:srgbClr val="006666"/>
                </a:solidFill>
                <a:latin typeface="Georgia" panose="02040502050405020303" pitchFamily="18" charset="0"/>
                <a:ea typeface="新細明體" pitchFamily="18" charset="-120"/>
              </a:rPr>
              <a:t>Classical theory of synchrotron radiation</a:t>
            </a:r>
            <a:endParaRPr lang="zh-TW" altLang="en-US" i="1" dirty="0">
              <a:solidFill>
                <a:srgbClr val="006666"/>
              </a:solidFill>
              <a:latin typeface="Georgia" panose="02040502050405020303" pitchFamily="18" charset="0"/>
              <a:ea typeface="新細明體" pitchFamily="18" charset="-120"/>
            </a:endParaRPr>
          </a:p>
        </p:txBody>
      </p:sp>
      <p:sp>
        <p:nvSpPr>
          <p:cNvPr id="10248" name="Text Box 13"/>
          <p:cNvSpPr txBox="1">
            <a:spLocks noChangeArrowheads="1"/>
          </p:cNvSpPr>
          <p:nvPr/>
        </p:nvSpPr>
        <p:spPr bwMode="auto">
          <a:xfrm>
            <a:off x="3276600" y="6119600"/>
            <a:ext cx="4371710" cy="369332"/>
          </a:xfrm>
          <a:prstGeom prst="rect">
            <a:avLst/>
          </a:prstGeom>
          <a:noFill/>
          <a:ln w="9525">
            <a:noFill/>
            <a:miter lim="800000"/>
            <a:headEnd/>
            <a:tailEnd/>
          </a:ln>
        </p:spPr>
        <p:txBody>
          <a:bodyPr wrap="none">
            <a:spAutoFit/>
          </a:bodyPr>
          <a:lstStyle/>
          <a:p>
            <a:r>
              <a:rPr lang="en-US" altLang="en-US" i="1" dirty="0">
                <a:solidFill>
                  <a:srgbClr val="006666"/>
                </a:solidFill>
                <a:latin typeface="Georgia" panose="02040502050405020303" pitchFamily="18" charset="0"/>
              </a:rPr>
              <a:t>Characteristics of synchrotron radiation</a:t>
            </a:r>
            <a:endParaRPr lang="zh-TW" altLang="en-US" i="1" dirty="0">
              <a:solidFill>
                <a:srgbClr val="006666"/>
              </a:solidFill>
              <a:latin typeface="Georgia" panose="02040502050405020303" pitchFamily="18" charset="0"/>
              <a:ea typeface="新細明體" pitchFamily="18" charset="-120"/>
            </a:endParaRPr>
          </a:p>
        </p:txBody>
      </p:sp>
      <p:sp>
        <p:nvSpPr>
          <p:cNvPr id="10249" name="Text Box 14"/>
          <p:cNvSpPr txBox="1">
            <a:spLocks noChangeArrowheads="1"/>
          </p:cNvSpPr>
          <p:nvPr/>
        </p:nvSpPr>
        <p:spPr bwMode="auto">
          <a:xfrm>
            <a:off x="800100" y="5729075"/>
            <a:ext cx="2744662" cy="369332"/>
          </a:xfrm>
          <a:prstGeom prst="rect">
            <a:avLst/>
          </a:prstGeom>
          <a:noFill/>
          <a:ln w="9525">
            <a:noFill/>
            <a:miter lim="800000"/>
            <a:headEnd/>
            <a:tailEnd/>
          </a:ln>
        </p:spPr>
        <p:txBody>
          <a:bodyPr wrap="none">
            <a:spAutoFit/>
          </a:bodyPr>
          <a:lstStyle/>
          <a:p>
            <a:r>
              <a:rPr lang="en-US" altLang="zh-TW" i="1" dirty="0">
                <a:solidFill>
                  <a:srgbClr val="006666"/>
                </a:solidFill>
                <a:latin typeface="Georgia" panose="02040502050405020303" pitchFamily="18" charset="0"/>
                <a:ea typeface="新細明體" pitchFamily="18" charset="-120"/>
              </a:rPr>
              <a:t>Supplementary reading:</a:t>
            </a:r>
          </a:p>
        </p:txBody>
      </p:sp>
      <p:sp>
        <p:nvSpPr>
          <p:cNvPr id="2" name="Slide Number Placeholder 1">
            <a:extLst>
              <a:ext uri="{FF2B5EF4-FFF2-40B4-BE49-F238E27FC236}">
                <a16:creationId xmlns:a16="http://schemas.microsoft.com/office/drawing/2014/main" id="{8C5ED3D6-37F7-410E-AF88-3160787C26B4}"/>
              </a:ext>
            </a:extLst>
          </p:cNvPr>
          <p:cNvSpPr>
            <a:spLocks noGrp="1"/>
          </p:cNvSpPr>
          <p:nvPr>
            <p:ph type="sldNum" sz="quarter" idx="11"/>
          </p:nvPr>
        </p:nvSpPr>
        <p:spPr>
          <a:xfrm>
            <a:off x="6629400" y="6119600"/>
            <a:ext cx="2133600" cy="457200"/>
          </a:xfrm>
        </p:spPr>
        <p:txBody>
          <a:bodyPr/>
          <a:lstStyle/>
          <a:p>
            <a:pPr>
              <a:defRPr/>
            </a:pPr>
            <a:fld id="{5A031570-0DA8-4A71-BBF6-3150CEB7570B}" type="slidenum">
              <a:rPr lang="zh-TW" altLang="en-US" smtClean="0">
                <a:latin typeface="Georgia" panose="02040502050405020303" pitchFamily="18" charset="0"/>
              </a:rPr>
              <a:pPr>
                <a:defRPr/>
              </a:pPr>
              <a:t>15</a:t>
            </a:fld>
            <a:endParaRPr lang="en-US" altLang="zh-TW">
              <a:latin typeface="Georgia" panose="02040502050405020303" pitchFamily="18" charset="0"/>
            </a:endParaRPr>
          </a:p>
        </p:txBody>
      </p:sp>
      <p:sp>
        <p:nvSpPr>
          <p:cNvPr id="3" name="Text Box 5">
            <a:extLst>
              <a:ext uri="{FF2B5EF4-FFF2-40B4-BE49-F238E27FC236}">
                <a16:creationId xmlns:a16="http://schemas.microsoft.com/office/drawing/2014/main" id="{8D28D1B3-7FE9-1778-95FD-CAEFD34D4D0F}"/>
              </a:ext>
            </a:extLst>
          </p:cNvPr>
          <p:cNvSpPr txBox="1">
            <a:spLocks noChangeArrowheads="1"/>
          </p:cNvSpPr>
          <p:nvPr/>
        </p:nvSpPr>
        <p:spPr bwMode="auto">
          <a:xfrm>
            <a:off x="904438" y="181303"/>
            <a:ext cx="5538696" cy="461665"/>
          </a:xfrm>
          <a:prstGeom prst="rect">
            <a:avLst/>
          </a:prstGeom>
          <a:noFill/>
          <a:ln w="9525">
            <a:noFill/>
            <a:miter lim="800000"/>
            <a:headEnd/>
            <a:tailEnd/>
          </a:ln>
        </p:spPr>
        <p:txBody>
          <a:bodyPr wrap="none">
            <a:spAutoFit/>
          </a:bodyPr>
          <a:lstStyle/>
          <a:p>
            <a:pPr algn="ctr"/>
            <a:r>
              <a:rPr lang="en-US" altLang="zh-TW" sz="2400" dirty="0">
                <a:solidFill>
                  <a:schemeClr val="bg1"/>
                </a:solidFill>
                <a:latin typeface="Georgia" panose="02040502050405020303" pitchFamily="18" charset="0"/>
                <a:ea typeface="新細明體" pitchFamily="18" charset="-120"/>
              </a:rPr>
              <a:t>Synchrotron radiation-instrumentation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Euro-SR"/>
          <p:cNvPicPr>
            <a:picLocks noChangeAspect="1" noChangeArrowheads="1"/>
          </p:cNvPicPr>
          <p:nvPr/>
        </p:nvPicPr>
        <p:blipFill>
          <a:blip r:embed="rId3" cstate="print"/>
          <a:srcRect/>
          <a:stretch>
            <a:fillRect/>
          </a:stretch>
        </p:blipFill>
        <p:spPr bwMode="auto">
          <a:xfrm>
            <a:off x="609600" y="3133824"/>
            <a:ext cx="3352800" cy="2379663"/>
          </a:xfrm>
          <a:prstGeom prst="rect">
            <a:avLst/>
          </a:prstGeom>
          <a:noFill/>
          <a:ln w="9525">
            <a:noFill/>
            <a:miter lim="800000"/>
            <a:headEnd/>
            <a:tailEnd/>
          </a:ln>
        </p:spPr>
      </p:pic>
      <p:sp>
        <p:nvSpPr>
          <p:cNvPr id="13315" name="Text Box 5"/>
          <p:cNvSpPr txBox="1">
            <a:spLocks noChangeArrowheads="1"/>
          </p:cNvSpPr>
          <p:nvPr/>
        </p:nvSpPr>
        <p:spPr bwMode="auto">
          <a:xfrm>
            <a:off x="106362" y="5692775"/>
            <a:ext cx="4359275" cy="581025"/>
          </a:xfrm>
          <a:prstGeom prst="rect">
            <a:avLst/>
          </a:prstGeom>
          <a:noFill/>
          <a:ln w="9525">
            <a:noFill/>
            <a:miter lim="800000"/>
            <a:headEnd/>
            <a:tailEnd/>
          </a:ln>
        </p:spPr>
        <p:txBody>
          <a:bodyPr>
            <a:spAutoFit/>
          </a:bodyPr>
          <a:lstStyle/>
          <a:p>
            <a:pPr algn="ctr"/>
            <a:r>
              <a:rPr lang="en-US" altLang="zh-TW" sz="1600" dirty="0">
                <a:latin typeface="Georgia" panose="02040502050405020303" pitchFamily="18" charset="0"/>
                <a:ea typeface="新細明體" pitchFamily="18" charset="-120"/>
              </a:rPr>
              <a:t>European Synchrotron Research Facility (ESRF) in Grenoble, France</a:t>
            </a:r>
            <a:endParaRPr lang="zh-TW" altLang="en-US" sz="1600" dirty="0">
              <a:latin typeface="Georgia" panose="02040502050405020303" pitchFamily="18" charset="0"/>
              <a:ea typeface="新細明體" pitchFamily="18" charset="-120"/>
            </a:endParaRPr>
          </a:p>
        </p:txBody>
      </p:sp>
      <p:pic>
        <p:nvPicPr>
          <p:cNvPr id="13316" name="Picture 6" descr="ALS"/>
          <p:cNvPicPr>
            <a:picLocks noChangeAspect="1" noChangeArrowheads="1"/>
          </p:cNvPicPr>
          <p:nvPr/>
        </p:nvPicPr>
        <p:blipFill>
          <a:blip r:embed="rId4" cstate="print"/>
          <a:srcRect/>
          <a:stretch>
            <a:fillRect/>
          </a:stretch>
        </p:blipFill>
        <p:spPr bwMode="auto">
          <a:xfrm>
            <a:off x="4211759" y="3133823"/>
            <a:ext cx="4539768" cy="2379663"/>
          </a:xfrm>
          <a:prstGeom prst="rect">
            <a:avLst/>
          </a:prstGeom>
          <a:noFill/>
          <a:ln w="9525">
            <a:noFill/>
            <a:miter lim="800000"/>
            <a:headEnd/>
            <a:tailEnd/>
          </a:ln>
        </p:spPr>
      </p:pic>
      <p:sp>
        <p:nvSpPr>
          <p:cNvPr id="13317" name="Text Box 7"/>
          <p:cNvSpPr txBox="1">
            <a:spLocks noChangeArrowheads="1"/>
          </p:cNvSpPr>
          <p:nvPr/>
        </p:nvSpPr>
        <p:spPr bwMode="auto">
          <a:xfrm>
            <a:off x="4373562" y="5692775"/>
            <a:ext cx="4359275" cy="581025"/>
          </a:xfrm>
          <a:prstGeom prst="rect">
            <a:avLst/>
          </a:prstGeom>
          <a:noFill/>
          <a:ln w="9525">
            <a:noFill/>
            <a:miter lim="800000"/>
            <a:headEnd/>
            <a:tailEnd/>
          </a:ln>
        </p:spPr>
        <p:txBody>
          <a:bodyPr>
            <a:spAutoFit/>
          </a:bodyPr>
          <a:lstStyle/>
          <a:p>
            <a:pPr algn="ctr"/>
            <a:r>
              <a:rPr lang="en-US" altLang="zh-TW" sz="1600" dirty="0">
                <a:latin typeface="Georgia" panose="02040502050405020303" pitchFamily="18" charset="0"/>
                <a:ea typeface="新細明體" pitchFamily="18" charset="-120"/>
              </a:rPr>
              <a:t>Advanced Photon Source</a:t>
            </a:r>
          </a:p>
          <a:p>
            <a:pPr algn="ctr"/>
            <a:r>
              <a:rPr lang="en-US" altLang="zh-TW" sz="1600" dirty="0">
                <a:latin typeface="Georgia" panose="02040502050405020303" pitchFamily="18" charset="0"/>
                <a:ea typeface="新細明體" pitchFamily="18" charset="-120"/>
              </a:rPr>
              <a:t>(APS) Argonne, USA</a:t>
            </a:r>
            <a:endParaRPr lang="zh-TW" altLang="en-US" sz="1600" dirty="0">
              <a:latin typeface="Georgia" panose="02040502050405020303" pitchFamily="18" charset="0"/>
              <a:ea typeface="新細明體" pitchFamily="18" charset="-120"/>
            </a:endParaRPr>
          </a:p>
        </p:txBody>
      </p:sp>
      <p:sp>
        <p:nvSpPr>
          <p:cNvPr id="13318" name="Text Box 8">
            <a:hlinkClick r:id="rId5"/>
          </p:cNvPr>
          <p:cNvSpPr txBox="1">
            <a:spLocks noChangeArrowheads="1"/>
          </p:cNvSpPr>
          <p:nvPr/>
        </p:nvSpPr>
        <p:spPr bwMode="auto">
          <a:xfrm>
            <a:off x="2669381" y="944562"/>
            <a:ext cx="3812262" cy="523220"/>
          </a:xfrm>
          <a:prstGeom prst="rect">
            <a:avLst/>
          </a:prstGeom>
          <a:noFill/>
          <a:ln w="9525">
            <a:noFill/>
            <a:miter lim="800000"/>
            <a:headEnd/>
            <a:tailEnd/>
          </a:ln>
        </p:spPr>
        <p:txBody>
          <a:bodyPr wrap="none">
            <a:spAutoFit/>
          </a:bodyPr>
          <a:lstStyle/>
          <a:p>
            <a:r>
              <a:rPr lang="en-US" altLang="zh-TW" sz="2800" dirty="0">
                <a:latin typeface="Georgia" panose="02040502050405020303" pitchFamily="18" charset="0"/>
                <a:ea typeface="新細明體" pitchFamily="18" charset="-120"/>
              </a:rPr>
              <a:t>Synchrotron Radiation</a:t>
            </a:r>
          </a:p>
        </p:txBody>
      </p:sp>
      <p:sp>
        <p:nvSpPr>
          <p:cNvPr id="13319" name="Text Box 9"/>
          <p:cNvSpPr txBox="1">
            <a:spLocks noChangeArrowheads="1"/>
          </p:cNvSpPr>
          <p:nvPr/>
        </p:nvSpPr>
        <p:spPr bwMode="auto">
          <a:xfrm>
            <a:off x="514350" y="1545372"/>
            <a:ext cx="8359775" cy="1323439"/>
          </a:xfrm>
          <a:prstGeom prst="rect">
            <a:avLst/>
          </a:prstGeom>
          <a:noFill/>
          <a:ln w="9525">
            <a:noFill/>
            <a:miter lim="800000"/>
            <a:headEnd/>
            <a:tailEnd/>
          </a:ln>
        </p:spPr>
        <p:txBody>
          <a:bodyPr wrap="square">
            <a:spAutoFit/>
          </a:bodyPr>
          <a:lstStyle/>
          <a:p>
            <a:pPr algn="just"/>
            <a:r>
              <a:rPr lang="en-US" altLang="zh-TW" sz="2000" dirty="0">
                <a:latin typeface="Georgia" panose="02040502050405020303" pitchFamily="18" charset="0"/>
                <a:ea typeface="新細明體" pitchFamily="18" charset="-120"/>
              </a:rPr>
              <a:t>A synchrotron radiation facility is composed of an injector and a storage ring.  The injector generates an electron beam and accelerates electrons to high energies.  The storage ring has a shape of a ring and accumulates the accelerated electrons in it. </a:t>
            </a:r>
            <a:endParaRPr lang="zh-TW" altLang="en-US" sz="2000" dirty="0">
              <a:latin typeface="Georgia" panose="02040502050405020303" pitchFamily="18" charset="0"/>
              <a:ea typeface="新細明體" pitchFamily="18" charset="-120"/>
            </a:endParaRPr>
          </a:p>
        </p:txBody>
      </p:sp>
      <p:sp>
        <p:nvSpPr>
          <p:cNvPr id="2" name="Slide Number Placeholder 1">
            <a:extLst>
              <a:ext uri="{FF2B5EF4-FFF2-40B4-BE49-F238E27FC236}">
                <a16:creationId xmlns:a16="http://schemas.microsoft.com/office/drawing/2014/main" id="{9B4EA904-6E72-4A48-B152-61AD5E9F10A2}"/>
              </a:ext>
            </a:extLst>
          </p:cNvPr>
          <p:cNvSpPr>
            <a:spLocks noGrp="1"/>
          </p:cNvSpPr>
          <p:nvPr>
            <p:ph type="sldNum" sz="quarter" idx="11"/>
          </p:nvPr>
        </p:nvSpPr>
        <p:spPr/>
        <p:txBody>
          <a:bodyPr/>
          <a:lstStyle/>
          <a:p>
            <a:pPr>
              <a:defRPr/>
            </a:pPr>
            <a:fld id="{5A031570-0DA8-4A71-BBF6-3150CEB7570B}" type="slidenum">
              <a:rPr lang="zh-TW" altLang="en-US" smtClean="0"/>
              <a:pPr>
                <a:defRPr/>
              </a:pPr>
              <a:t>16</a:t>
            </a:fld>
            <a:endParaRPr lang="en-US" altLang="zh-TW"/>
          </a:p>
        </p:txBody>
      </p:sp>
      <p:sp>
        <p:nvSpPr>
          <p:cNvPr id="3" name="Text Box 5">
            <a:extLst>
              <a:ext uri="{FF2B5EF4-FFF2-40B4-BE49-F238E27FC236}">
                <a16:creationId xmlns:a16="http://schemas.microsoft.com/office/drawing/2014/main" id="{85F2BFBF-7203-1355-0B6F-E33F8714785E}"/>
              </a:ext>
            </a:extLst>
          </p:cNvPr>
          <p:cNvSpPr txBox="1">
            <a:spLocks noChangeArrowheads="1"/>
          </p:cNvSpPr>
          <p:nvPr/>
        </p:nvSpPr>
        <p:spPr bwMode="auto">
          <a:xfrm>
            <a:off x="904438" y="181303"/>
            <a:ext cx="5538696" cy="461665"/>
          </a:xfrm>
          <a:prstGeom prst="rect">
            <a:avLst/>
          </a:prstGeom>
          <a:noFill/>
          <a:ln w="9525">
            <a:noFill/>
            <a:miter lim="800000"/>
            <a:headEnd/>
            <a:tailEnd/>
          </a:ln>
        </p:spPr>
        <p:txBody>
          <a:bodyPr wrap="none">
            <a:spAutoFit/>
          </a:bodyPr>
          <a:lstStyle/>
          <a:p>
            <a:pPr algn="ctr"/>
            <a:r>
              <a:rPr lang="en-US" altLang="zh-TW" sz="2400" dirty="0">
                <a:solidFill>
                  <a:schemeClr val="bg1"/>
                </a:solidFill>
                <a:latin typeface="Georgia" panose="02040502050405020303" pitchFamily="18" charset="0"/>
                <a:ea typeface="新細明體" pitchFamily="18" charset="-120"/>
              </a:rPr>
              <a:t>Synchrotron radiation-instrumentation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5" descr="NSRL"/>
          <p:cNvPicPr>
            <a:picLocks noChangeAspect="1" noChangeArrowheads="1"/>
          </p:cNvPicPr>
          <p:nvPr/>
        </p:nvPicPr>
        <p:blipFill>
          <a:blip r:embed="rId2" cstate="print"/>
          <a:srcRect/>
          <a:stretch>
            <a:fillRect/>
          </a:stretch>
        </p:blipFill>
        <p:spPr bwMode="auto">
          <a:xfrm>
            <a:off x="228600" y="1676400"/>
            <a:ext cx="3241239" cy="2428066"/>
          </a:xfrm>
          <a:prstGeom prst="rect">
            <a:avLst/>
          </a:prstGeom>
          <a:noFill/>
          <a:ln w="9525">
            <a:noFill/>
            <a:miter lim="800000"/>
            <a:headEnd/>
            <a:tailEnd/>
          </a:ln>
        </p:spPr>
      </p:pic>
      <p:sp>
        <p:nvSpPr>
          <p:cNvPr id="14340" name="Text Box 6"/>
          <p:cNvSpPr txBox="1">
            <a:spLocks noChangeArrowheads="1"/>
          </p:cNvSpPr>
          <p:nvPr/>
        </p:nvSpPr>
        <p:spPr bwMode="auto">
          <a:xfrm>
            <a:off x="366712" y="4800600"/>
            <a:ext cx="8410575" cy="1631216"/>
          </a:xfrm>
          <a:prstGeom prst="rect">
            <a:avLst/>
          </a:prstGeom>
          <a:noFill/>
          <a:ln w="9525">
            <a:noFill/>
            <a:miter lim="800000"/>
            <a:headEnd/>
            <a:tailEnd/>
          </a:ln>
        </p:spPr>
        <p:txBody>
          <a:bodyPr wrap="square">
            <a:spAutoFit/>
          </a:bodyPr>
          <a:lstStyle/>
          <a:p>
            <a:pPr algn="just"/>
            <a:r>
              <a:rPr lang="en-US" altLang="zh-TW" sz="2000" dirty="0">
                <a:latin typeface="Georgia" panose="02040502050405020303" pitchFamily="18" charset="0"/>
                <a:ea typeface="新細明體" pitchFamily="18" charset="-120"/>
              </a:rPr>
              <a:t>The National Synchrotron Radiation Laboratory (NSRL) is the first dedicated synchrotron radiation facility in China, which locates at the west campus of the University of Science and Technology of China (USTC), in Hefei city, Anhui Province.  </a:t>
            </a:r>
          </a:p>
          <a:p>
            <a:pPr algn="just"/>
            <a:r>
              <a:rPr lang="en-US" altLang="zh-TW" sz="2000" dirty="0">
                <a:solidFill>
                  <a:srgbClr val="FF0000"/>
                </a:solidFill>
                <a:latin typeface="Georgia" panose="02040502050405020303" pitchFamily="18" charset="0"/>
                <a:ea typeface="新細明體" pitchFamily="18" charset="-120"/>
              </a:rPr>
              <a:t>A new one has been operational in Shanghai since 2009</a:t>
            </a:r>
            <a:endParaRPr lang="zh-TW" altLang="en-US" sz="2000" dirty="0">
              <a:solidFill>
                <a:srgbClr val="FF0000"/>
              </a:solidFill>
              <a:latin typeface="Georgia" panose="02040502050405020303" pitchFamily="18" charset="0"/>
              <a:ea typeface="新細明體" pitchFamily="18" charset="-120"/>
            </a:endParaRPr>
          </a:p>
        </p:txBody>
      </p:sp>
      <p:sp>
        <p:nvSpPr>
          <p:cNvPr id="87047" name="Text Box 7"/>
          <p:cNvSpPr txBox="1">
            <a:spLocks noChangeArrowheads="1"/>
          </p:cNvSpPr>
          <p:nvPr/>
        </p:nvSpPr>
        <p:spPr bwMode="auto">
          <a:xfrm>
            <a:off x="1752600" y="866668"/>
            <a:ext cx="5245347" cy="461665"/>
          </a:xfrm>
          <a:prstGeom prst="rect">
            <a:avLst/>
          </a:prstGeom>
          <a:noFill/>
          <a:ln w="9525">
            <a:noFill/>
            <a:miter lim="800000"/>
            <a:headEnd/>
            <a:tailEnd/>
          </a:ln>
          <a:effectLst/>
        </p:spPr>
        <p:txBody>
          <a:bodyPr wrap="none">
            <a:spAutoFit/>
          </a:bodyPr>
          <a:lstStyle/>
          <a:p>
            <a:pPr>
              <a:defRPr/>
            </a:pPr>
            <a:r>
              <a:rPr lang="en-US" altLang="zh-TW" sz="2400" dirty="0">
                <a:latin typeface="Georgia" panose="02040502050405020303" pitchFamily="18" charset="0"/>
                <a:ea typeface="新細明體" pitchFamily="18" charset="-120"/>
              </a:rPr>
              <a:t>First Synchrotron Radiation in </a:t>
            </a:r>
            <a:r>
              <a:rPr lang="en-US" altLang="zh-TW" sz="2400" i="1" dirty="0">
                <a:solidFill>
                  <a:srgbClr val="990000"/>
                </a:solidFill>
                <a:effectLst>
                  <a:outerShdw blurRad="38100" dist="38100" dir="2700000" algn="tl">
                    <a:srgbClr val="C0C0C0"/>
                  </a:outerShdw>
                </a:effectLst>
                <a:latin typeface="Georgia" panose="02040502050405020303" pitchFamily="18" charset="0"/>
                <a:ea typeface="新細明體" pitchFamily="18" charset="-120"/>
              </a:rPr>
              <a:t>China</a:t>
            </a:r>
          </a:p>
        </p:txBody>
      </p:sp>
      <p:pic>
        <p:nvPicPr>
          <p:cNvPr id="14342" name="Picture 8" descr="China SR"/>
          <p:cNvPicPr>
            <a:picLocks noChangeAspect="1" noChangeArrowheads="1"/>
          </p:cNvPicPr>
          <p:nvPr/>
        </p:nvPicPr>
        <p:blipFill>
          <a:blip r:embed="rId3" cstate="print"/>
          <a:srcRect/>
          <a:stretch>
            <a:fillRect/>
          </a:stretch>
        </p:blipFill>
        <p:spPr bwMode="auto">
          <a:xfrm>
            <a:off x="3505200" y="1347694"/>
            <a:ext cx="5438775" cy="3295650"/>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43BCA1BB-E3F8-4704-965F-40405BAD118B}"/>
              </a:ext>
            </a:extLst>
          </p:cNvPr>
          <p:cNvSpPr>
            <a:spLocks noGrp="1"/>
          </p:cNvSpPr>
          <p:nvPr>
            <p:ph type="sldNum" sz="quarter" idx="11"/>
          </p:nvPr>
        </p:nvSpPr>
        <p:spPr/>
        <p:txBody>
          <a:bodyPr/>
          <a:lstStyle/>
          <a:p>
            <a:pPr>
              <a:defRPr/>
            </a:pPr>
            <a:fld id="{5A031570-0DA8-4A71-BBF6-3150CEB7570B}" type="slidenum">
              <a:rPr lang="zh-TW" altLang="en-US" smtClean="0"/>
              <a:pPr>
                <a:defRPr/>
              </a:pPr>
              <a:t>17</a:t>
            </a:fld>
            <a:endParaRPr lang="en-US" altLang="zh-TW"/>
          </a:p>
        </p:txBody>
      </p:sp>
      <p:sp>
        <p:nvSpPr>
          <p:cNvPr id="5" name="Text Box 5">
            <a:extLst>
              <a:ext uri="{FF2B5EF4-FFF2-40B4-BE49-F238E27FC236}">
                <a16:creationId xmlns:a16="http://schemas.microsoft.com/office/drawing/2014/main" id="{A0AB0040-7F13-DB63-207A-60954310F7D2}"/>
              </a:ext>
            </a:extLst>
          </p:cNvPr>
          <p:cNvSpPr txBox="1">
            <a:spLocks noChangeArrowheads="1"/>
          </p:cNvSpPr>
          <p:nvPr/>
        </p:nvSpPr>
        <p:spPr bwMode="auto">
          <a:xfrm>
            <a:off x="904438" y="181303"/>
            <a:ext cx="5538696" cy="461665"/>
          </a:xfrm>
          <a:prstGeom prst="rect">
            <a:avLst/>
          </a:prstGeom>
          <a:noFill/>
          <a:ln w="9525">
            <a:noFill/>
            <a:miter lim="800000"/>
            <a:headEnd/>
            <a:tailEnd/>
          </a:ln>
        </p:spPr>
        <p:txBody>
          <a:bodyPr wrap="none">
            <a:spAutoFit/>
          </a:bodyPr>
          <a:lstStyle/>
          <a:p>
            <a:pPr algn="ctr"/>
            <a:r>
              <a:rPr lang="en-US" altLang="zh-TW" sz="2400" dirty="0">
                <a:solidFill>
                  <a:schemeClr val="bg1"/>
                </a:solidFill>
                <a:latin typeface="Georgia" panose="02040502050405020303" pitchFamily="18" charset="0"/>
                <a:ea typeface="新細明體" pitchFamily="18" charset="-120"/>
              </a:rPr>
              <a:t>Synchrotron radiation-instrumentation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ChangeArrowheads="1"/>
          </p:cNvSpPr>
          <p:nvPr/>
        </p:nvSpPr>
        <p:spPr bwMode="auto">
          <a:xfrm>
            <a:off x="914400" y="226953"/>
            <a:ext cx="6553200" cy="400110"/>
          </a:xfrm>
          <a:prstGeom prst="rect">
            <a:avLst/>
          </a:prstGeom>
          <a:noFill/>
          <a:ln w="9525">
            <a:noFill/>
            <a:miter lim="800000"/>
            <a:headEnd/>
            <a:tailEnd/>
          </a:ln>
        </p:spPr>
        <p:txBody>
          <a:bodyPr>
            <a:spAutoFit/>
          </a:bodyPr>
          <a:lstStyle/>
          <a:p>
            <a:r>
              <a:rPr lang="en-US" altLang="zh-CN" sz="2000" b="1" dirty="0">
                <a:solidFill>
                  <a:schemeClr val="bg1"/>
                </a:solidFill>
                <a:latin typeface="Georgia" panose="02040502050405020303" pitchFamily="18" charset="0"/>
                <a:ea typeface="宋体" charset="-122"/>
              </a:rPr>
              <a:t>Shanghai Synchrotron Radiation Facility</a:t>
            </a:r>
            <a:r>
              <a:rPr lang="en-US" altLang="zh-CN" sz="2000" dirty="0">
                <a:solidFill>
                  <a:schemeClr val="bg1"/>
                </a:solidFill>
                <a:latin typeface="Georgia" panose="02040502050405020303" pitchFamily="18" charset="0"/>
                <a:ea typeface="宋体" charset="-122"/>
              </a:rPr>
              <a:t>  (SSRF)</a:t>
            </a:r>
            <a:endParaRPr lang="zh-CN" altLang="en-US" sz="2000" dirty="0">
              <a:solidFill>
                <a:schemeClr val="bg1"/>
              </a:solidFill>
              <a:latin typeface="Georgia" panose="02040502050405020303" pitchFamily="18" charset="0"/>
              <a:ea typeface="宋体" charset="-122"/>
            </a:endParaRPr>
          </a:p>
        </p:txBody>
      </p:sp>
      <p:pic>
        <p:nvPicPr>
          <p:cNvPr id="15363" name="Picture 3" descr="http://ssrf.sinap.ac.cn/english/images/bujuindex.gif"/>
          <p:cNvPicPr>
            <a:picLocks noChangeAspect="1" noChangeArrowheads="1"/>
          </p:cNvPicPr>
          <p:nvPr/>
        </p:nvPicPr>
        <p:blipFill>
          <a:blip r:embed="rId2" cstate="print"/>
          <a:srcRect/>
          <a:stretch>
            <a:fillRect/>
          </a:stretch>
        </p:blipFill>
        <p:spPr bwMode="auto">
          <a:xfrm>
            <a:off x="990600" y="735013"/>
            <a:ext cx="3055938" cy="2922587"/>
          </a:xfrm>
          <a:prstGeom prst="rect">
            <a:avLst/>
          </a:prstGeom>
          <a:noFill/>
          <a:ln w="9525">
            <a:noFill/>
            <a:miter lim="800000"/>
            <a:headEnd/>
            <a:tailEnd/>
          </a:ln>
        </p:spPr>
      </p:pic>
      <p:graphicFrame>
        <p:nvGraphicFramePr>
          <p:cNvPr id="5" name="Table 4"/>
          <p:cNvGraphicFramePr>
            <a:graphicFrameLocks noGrp="1"/>
          </p:cNvGraphicFramePr>
          <p:nvPr/>
        </p:nvGraphicFramePr>
        <p:xfrm>
          <a:off x="4343400" y="838200"/>
          <a:ext cx="3767138" cy="2627313"/>
        </p:xfrm>
        <a:graphic>
          <a:graphicData uri="http://schemas.openxmlformats.org/drawingml/2006/table">
            <a:tbl>
              <a:tblPr/>
              <a:tblGrid>
                <a:gridCol w="2403475">
                  <a:extLst>
                    <a:ext uri="{9D8B030D-6E8A-4147-A177-3AD203B41FA5}">
                      <a16:colId xmlns:a16="http://schemas.microsoft.com/office/drawing/2014/main" val="20000"/>
                    </a:ext>
                  </a:extLst>
                </a:gridCol>
                <a:gridCol w="1363663">
                  <a:extLst>
                    <a:ext uri="{9D8B030D-6E8A-4147-A177-3AD203B41FA5}">
                      <a16:colId xmlns:a16="http://schemas.microsoft.com/office/drawing/2014/main" val="20001"/>
                    </a:ext>
                  </a:extLst>
                </a:gridCol>
              </a:tblGrid>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Energy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3.5GeV</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0"/>
                  </a:ext>
                </a:extLst>
              </a:tr>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Circumference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432m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1"/>
                  </a:ext>
                </a:extLst>
              </a:tr>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Lattice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DBA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2"/>
                  </a:ext>
                </a:extLst>
              </a:tr>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Number of Cells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20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Straight Sections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4×12m, 16×6.50m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4"/>
                  </a:ext>
                </a:extLst>
              </a:tr>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Current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200~300mA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5"/>
                  </a:ext>
                </a:extLst>
              </a:tr>
              <a:tr h="165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Emittance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3.9 nm-rad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6"/>
                  </a:ext>
                </a:extLst>
              </a:tr>
              <a:tr h="646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Life time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&gt; 10hrs (Top-up injection available later)</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7"/>
                  </a:ext>
                </a:extLst>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charset="0"/>
                          <a:ea typeface="宋体" charset="-122"/>
                        </a:rPr>
                        <a:t> Beam position stability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dirty="0">
                          <a:ln>
                            <a:noFill/>
                          </a:ln>
                          <a:solidFill>
                            <a:schemeClr val="tx1"/>
                          </a:solidFill>
                          <a:effectLst/>
                          <a:latin typeface="Arial" charset="0"/>
                          <a:ea typeface="宋体" charset="-122"/>
                        </a:rPr>
                        <a:t> ±10% (&lt; ± 3mm)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alpha val="78822"/>
                      </a:srgbClr>
                    </a:solidFill>
                  </a:tcPr>
                </a:tc>
                <a:extLst>
                  <a:ext uri="{0D108BD9-81ED-4DB2-BD59-A6C34878D82A}">
                    <a16:rowId xmlns:a16="http://schemas.microsoft.com/office/drawing/2014/main" val="10008"/>
                  </a:ext>
                </a:extLst>
              </a:tr>
            </a:tbl>
          </a:graphicData>
        </a:graphic>
      </p:graphicFrame>
      <p:pic>
        <p:nvPicPr>
          <p:cNvPr id="15396" name="Picture 5" descr="http://lpap.epfl.ch/files/content/sites/lpap/files/images/SSRF.jpg"/>
          <p:cNvPicPr>
            <a:picLocks noChangeAspect="1" noChangeArrowheads="1"/>
          </p:cNvPicPr>
          <p:nvPr/>
        </p:nvPicPr>
        <p:blipFill>
          <a:blip r:embed="rId3" cstate="print"/>
          <a:srcRect/>
          <a:stretch>
            <a:fillRect/>
          </a:stretch>
        </p:blipFill>
        <p:spPr bwMode="auto">
          <a:xfrm>
            <a:off x="588963" y="3657600"/>
            <a:ext cx="3906837" cy="2857500"/>
          </a:xfrm>
          <a:prstGeom prst="rect">
            <a:avLst/>
          </a:prstGeom>
          <a:noFill/>
          <a:ln w="9525">
            <a:noFill/>
            <a:miter lim="800000"/>
            <a:headEnd/>
            <a:tailEnd/>
          </a:ln>
        </p:spPr>
      </p:pic>
      <p:pic>
        <p:nvPicPr>
          <p:cNvPr id="15397" name="Picture 7" descr="http://news.xinhuanet.com/english/2009-03/16/xinsrc_11203061620553283241442.jpg"/>
          <p:cNvPicPr>
            <a:picLocks noChangeAspect="1" noChangeArrowheads="1"/>
          </p:cNvPicPr>
          <p:nvPr/>
        </p:nvPicPr>
        <p:blipFill>
          <a:blip r:embed="rId4" cstate="print"/>
          <a:srcRect/>
          <a:stretch>
            <a:fillRect/>
          </a:stretch>
        </p:blipFill>
        <p:spPr bwMode="auto">
          <a:xfrm>
            <a:off x="4572000" y="3657600"/>
            <a:ext cx="4286250" cy="2886075"/>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3D466C73-65D2-4095-A2F5-E1EA474B66EE}"/>
              </a:ext>
            </a:extLst>
          </p:cNvPr>
          <p:cNvSpPr>
            <a:spLocks noGrp="1"/>
          </p:cNvSpPr>
          <p:nvPr>
            <p:ph type="sldNum" sz="quarter" idx="11"/>
          </p:nvPr>
        </p:nvSpPr>
        <p:spPr/>
        <p:txBody>
          <a:bodyPr/>
          <a:lstStyle/>
          <a:p>
            <a:pPr>
              <a:defRPr/>
            </a:pPr>
            <a:fld id="{5A031570-0DA8-4A71-BBF6-3150CEB7570B}" type="slidenum">
              <a:rPr lang="zh-TW" altLang="en-US" smtClean="0"/>
              <a:pPr>
                <a:defRPr/>
              </a:pPr>
              <a:t>18</a:t>
            </a:fld>
            <a:endParaRPr lang="en-US" altLang="zh-TW"/>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381000" y="923865"/>
            <a:ext cx="8382000" cy="5324535"/>
          </a:xfrm>
          <a:prstGeom prst="rect">
            <a:avLst/>
          </a:prstGeom>
          <a:noFill/>
          <a:ln w="9525">
            <a:noFill/>
            <a:miter lim="800000"/>
            <a:headEnd/>
            <a:tailEnd/>
          </a:ln>
        </p:spPr>
        <p:txBody>
          <a:bodyPr wrap="square">
            <a:spAutoFit/>
          </a:bodyPr>
          <a:lstStyle/>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Ultraviolet photoemission spectroscopy (UPS) is very similar to XPS.  However, instead of an x-ray source, a UV source is used to excite the sample.</a:t>
            </a:r>
          </a:p>
          <a:p>
            <a:pPr marL="187325" indent="-187325" algn="just" eaLnBrk="1" hangingPunct="1">
              <a:buFont typeface="Wingdings" pitchFamily="2" charset="2"/>
              <a:buChar char="§"/>
            </a:pPr>
            <a:endParaRPr lang="en-US" altLang="zh-TW" sz="2000" dirty="0">
              <a:latin typeface="Georgia" panose="02040502050405020303" pitchFamily="18" charset="0"/>
              <a:ea typeface="新細明體" pitchFamily="18" charset="-120"/>
            </a:endParaRP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Upon UV excitation, photoemission proceeds, leading to ejection of photoelectrons as in XPS.</a:t>
            </a:r>
          </a:p>
          <a:p>
            <a:pPr marL="187325" indent="-187325" algn="just" eaLnBrk="1" hangingPunct="1">
              <a:buFont typeface="Wingdings" pitchFamily="2" charset="2"/>
              <a:buChar char="§"/>
            </a:pPr>
            <a:endParaRPr lang="en-US" altLang="zh-TW" sz="2000" dirty="0">
              <a:latin typeface="Georgia" panose="02040502050405020303" pitchFamily="18" charset="0"/>
              <a:ea typeface="新細明體" pitchFamily="18" charset="-120"/>
            </a:endParaRP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The UV photons have an energy of about several tens eV, which is not enough to photo-ionize core level electrons.</a:t>
            </a:r>
          </a:p>
          <a:p>
            <a:pPr marL="187325" indent="-187325" algn="just" eaLnBrk="1" hangingPunct="1">
              <a:buFont typeface="Wingdings" pitchFamily="2" charset="2"/>
              <a:buChar char="§"/>
            </a:pPr>
            <a:endParaRPr lang="zh-TW" altLang="en-US" sz="2000" dirty="0">
              <a:latin typeface="Georgia" panose="02040502050405020303" pitchFamily="18" charset="0"/>
              <a:ea typeface="新細明體" pitchFamily="18" charset="-120"/>
            </a:endParaRP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Electrons of more loosely bound states (e.g. VB in semiconductors; HOMO in organic substances) could  be photo-emitted upon UV illumination.</a:t>
            </a:r>
          </a:p>
          <a:p>
            <a:pPr marL="187325" indent="-187325" algn="just" eaLnBrk="1" hangingPunct="1">
              <a:buFont typeface="Wingdings" pitchFamily="2" charset="2"/>
              <a:buNone/>
            </a:pPr>
            <a:endParaRPr lang="en-US" altLang="zh-TW" sz="2000" dirty="0">
              <a:latin typeface="Georgia" panose="02040502050405020303" pitchFamily="18" charset="0"/>
              <a:ea typeface="新細明體" pitchFamily="18" charset="-120"/>
            </a:endParaRP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These photoelectrons can reveal details about the electronic band structure (energy level and crystal momentum) of the sample under study.</a:t>
            </a:r>
          </a:p>
        </p:txBody>
      </p:sp>
      <p:sp>
        <p:nvSpPr>
          <p:cNvPr id="16387" name="Rectangle 6"/>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Principles</a:t>
            </a:r>
          </a:p>
        </p:txBody>
      </p:sp>
      <p:sp>
        <p:nvSpPr>
          <p:cNvPr id="2" name="Slide Number Placeholder 1">
            <a:extLst>
              <a:ext uri="{FF2B5EF4-FFF2-40B4-BE49-F238E27FC236}">
                <a16:creationId xmlns:a16="http://schemas.microsoft.com/office/drawing/2014/main" id="{60918292-C8DB-4011-A5C6-5BECCDCABA87}"/>
              </a:ext>
            </a:extLst>
          </p:cNvPr>
          <p:cNvSpPr>
            <a:spLocks noGrp="1"/>
          </p:cNvSpPr>
          <p:nvPr>
            <p:ph type="sldNum" sz="quarter" idx="11"/>
          </p:nvPr>
        </p:nvSpPr>
        <p:spPr/>
        <p:txBody>
          <a:bodyPr/>
          <a:lstStyle/>
          <a:p>
            <a:pPr>
              <a:defRPr/>
            </a:pPr>
            <a:fld id="{5A031570-0DA8-4A71-BBF6-3150CEB7570B}" type="slidenum">
              <a:rPr lang="zh-TW" altLang="en-US" smtClean="0"/>
              <a:pPr>
                <a:defRPr/>
              </a:pPr>
              <a:t>19</a:t>
            </a:fld>
            <a:endParaRPr lang="en-US" altLang="zh-TW"/>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1"/>
          <p:cNvPicPr>
            <a:picLocks noChangeAspect="1" noChangeArrowheads="1"/>
          </p:cNvPicPr>
          <p:nvPr/>
        </p:nvPicPr>
        <p:blipFill>
          <a:blip r:embed="rId2" cstate="print">
            <a:lum bright="-28000" contrast="44000"/>
          </a:blip>
          <a:srcRect/>
          <a:stretch>
            <a:fillRect/>
          </a:stretch>
        </p:blipFill>
        <p:spPr bwMode="auto">
          <a:xfrm>
            <a:off x="533400" y="914400"/>
            <a:ext cx="3784365" cy="2743200"/>
          </a:xfrm>
          <a:prstGeom prst="rect">
            <a:avLst/>
          </a:prstGeom>
          <a:noFill/>
          <a:ln w="9525">
            <a:noFill/>
            <a:miter lim="800000"/>
            <a:headEnd/>
            <a:tailEnd/>
          </a:ln>
        </p:spPr>
      </p:pic>
      <p:sp>
        <p:nvSpPr>
          <p:cNvPr id="17412" name="Rectangle 6"/>
          <p:cNvSpPr>
            <a:spLocks noChangeArrowheads="1"/>
          </p:cNvSpPr>
          <p:nvPr/>
        </p:nvSpPr>
        <p:spPr bwMode="auto">
          <a:xfrm>
            <a:off x="4051065" y="914400"/>
            <a:ext cx="4750035" cy="5632311"/>
          </a:xfrm>
          <a:prstGeom prst="rect">
            <a:avLst/>
          </a:prstGeom>
          <a:noFill/>
          <a:ln w="9525">
            <a:noFill/>
            <a:miter lim="800000"/>
            <a:headEnd/>
            <a:tailEnd/>
          </a:ln>
        </p:spPr>
        <p:txBody>
          <a:bodyPr wrap="square">
            <a:spAutoFit/>
          </a:bodyPr>
          <a:lstStyle/>
          <a:p>
            <a:pPr marL="342900" indent="-342900" algn="just" eaLnBrk="1" hangingPunct="1">
              <a:spcBef>
                <a:spcPct val="50000"/>
              </a:spcBef>
              <a:buFont typeface="Arial" panose="020B0604020202020204" pitchFamily="34" charset="0"/>
              <a:buChar char="•"/>
            </a:pPr>
            <a:r>
              <a:rPr lang="en-US" altLang="zh-TW" sz="2000" dirty="0">
                <a:latin typeface="Georgia" panose="02040502050405020303" pitchFamily="18" charset="0"/>
                <a:ea typeface="新細明體" pitchFamily="18" charset="-120"/>
              </a:rPr>
              <a:t>In high resolution UPS analysis, the valence band structure of a compound, a molecule or a crystal structure can be revealed;</a:t>
            </a:r>
          </a:p>
          <a:p>
            <a:pPr marL="342900" indent="-342900" algn="just" eaLnBrk="1" hangingPunct="1">
              <a:spcBef>
                <a:spcPct val="50000"/>
              </a:spcBef>
              <a:buFont typeface="Arial" panose="020B0604020202020204" pitchFamily="34" charset="0"/>
              <a:buChar char="•"/>
            </a:pPr>
            <a:r>
              <a:rPr lang="en-US" altLang="zh-TW" sz="2000" dirty="0">
                <a:latin typeface="Georgia" panose="02040502050405020303" pitchFamily="18" charset="0"/>
                <a:ea typeface="新細明體" pitchFamily="18" charset="-120"/>
              </a:rPr>
              <a:t>the UPS peaks can be assigned to different valence energy levels;</a:t>
            </a:r>
          </a:p>
          <a:p>
            <a:pPr marL="342900" indent="-342900" algn="just" eaLnBrk="1" hangingPunct="1">
              <a:spcBef>
                <a:spcPct val="50000"/>
              </a:spcBef>
              <a:buFont typeface="Arial" panose="020B0604020202020204" pitchFamily="34" charset="0"/>
              <a:buChar char="•"/>
            </a:pPr>
            <a:r>
              <a:rPr lang="en-US" altLang="zh-TW" sz="2000" dirty="0">
                <a:latin typeface="Georgia" panose="02040502050405020303" pitchFamily="18" charset="0"/>
                <a:ea typeface="新細明體" pitchFamily="18" charset="-120"/>
              </a:rPr>
              <a:t>the UPS peaks can be regarded as the fingerprint for a specific compound, molecule or crystal structure;</a:t>
            </a:r>
          </a:p>
          <a:p>
            <a:pPr marL="342900" indent="-342900" algn="just" eaLnBrk="1" hangingPunct="1">
              <a:spcBef>
                <a:spcPct val="50000"/>
              </a:spcBef>
              <a:buFont typeface="Arial" panose="020B0604020202020204" pitchFamily="34" charset="0"/>
              <a:buChar char="•"/>
            </a:pPr>
            <a:r>
              <a:rPr lang="en-US" altLang="zh-TW" sz="2000" dirty="0">
                <a:latin typeface="Georgia" panose="02040502050405020303" pitchFamily="18" charset="0"/>
                <a:ea typeface="新細明體" pitchFamily="18" charset="-120"/>
              </a:rPr>
              <a:t>also, UPS peaks may be used to construct the valence band energy diagram;</a:t>
            </a:r>
          </a:p>
          <a:p>
            <a:pPr marL="342900" indent="-342900" algn="just" eaLnBrk="1" hangingPunct="1">
              <a:spcBef>
                <a:spcPct val="50000"/>
              </a:spcBef>
              <a:buFont typeface="Arial" panose="020B0604020202020204" pitchFamily="34" charset="0"/>
              <a:buChar char="•"/>
            </a:pPr>
            <a:r>
              <a:rPr lang="en-US" altLang="zh-TW" sz="2000" dirty="0">
                <a:latin typeface="Georgia" panose="02040502050405020303" pitchFamily="18" charset="0"/>
                <a:ea typeface="新細明體" pitchFamily="18" charset="-120"/>
              </a:rPr>
              <a:t>usually, the UPS spectra will be compared with theoretical energy levels calculated through computation.</a:t>
            </a:r>
          </a:p>
        </p:txBody>
      </p:sp>
      <p:sp>
        <p:nvSpPr>
          <p:cNvPr id="2" name="Slide Number Placeholder 1">
            <a:extLst>
              <a:ext uri="{FF2B5EF4-FFF2-40B4-BE49-F238E27FC236}">
                <a16:creationId xmlns:a16="http://schemas.microsoft.com/office/drawing/2014/main" id="{60FF75E2-D9A3-43CC-BACB-5D21B6DC2C5E}"/>
              </a:ext>
            </a:extLst>
          </p:cNvPr>
          <p:cNvSpPr>
            <a:spLocks noGrp="1"/>
          </p:cNvSpPr>
          <p:nvPr>
            <p:ph type="sldNum" sz="quarter" idx="11"/>
          </p:nvPr>
        </p:nvSpPr>
        <p:spPr/>
        <p:txBody>
          <a:bodyPr/>
          <a:lstStyle/>
          <a:p>
            <a:pPr>
              <a:defRPr/>
            </a:pPr>
            <a:fld id="{5A031570-0DA8-4A71-BBF6-3150CEB7570B}" type="slidenum">
              <a:rPr lang="zh-TW" altLang="en-US" smtClean="0"/>
              <a:pPr>
                <a:defRPr/>
              </a:pPr>
              <a:t>20</a:t>
            </a:fld>
            <a:endParaRPr lang="en-US" altLang="zh-TW"/>
          </a:p>
        </p:txBody>
      </p:sp>
      <p:sp>
        <p:nvSpPr>
          <p:cNvPr id="4" name="Rectangle 6">
            <a:extLst>
              <a:ext uri="{FF2B5EF4-FFF2-40B4-BE49-F238E27FC236}">
                <a16:creationId xmlns:a16="http://schemas.microsoft.com/office/drawing/2014/main" id="{A1B512CA-8B1C-81DA-5A23-E2EE8F6A0BF2}"/>
              </a:ext>
            </a:extLst>
          </p:cNvPr>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UPS Principles</a:t>
            </a:r>
          </a:p>
        </p:txBody>
      </p:sp>
      <p:pic>
        <p:nvPicPr>
          <p:cNvPr id="3" name="Picture 2">
            <a:extLst>
              <a:ext uri="{FF2B5EF4-FFF2-40B4-BE49-F238E27FC236}">
                <a16:creationId xmlns:a16="http://schemas.microsoft.com/office/drawing/2014/main" id="{CD1C49E9-A290-5AA6-DAF8-C97731970746}"/>
              </a:ext>
            </a:extLst>
          </p:cNvPr>
          <p:cNvPicPr>
            <a:picLocks noChangeAspect="1"/>
          </p:cNvPicPr>
          <p:nvPr/>
        </p:nvPicPr>
        <p:blipFill>
          <a:blip r:embed="rId3"/>
          <a:stretch>
            <a:fillRect/>
          </a:stretch>
        </p:blipFill>
        <p:spPr>
          <a:xfrm>
            <a:off x="676275" y="3730555"/>
            <a:ext cx="3231915" cy="2891475"/>
          </a:xfrm>
          <a:prstGeom prst="rect">
            <a:avLst/>
          </a:prstGeom>
        </p:spPr>
      </p:pic>
      <p:sp>
        <p:nvSpPr>
          <p:cNvPr id="6" name="TextBox 5">
            <a:extLst>
              <a:ext uri="{FF2B5EF4-FFF2-40B4-BE49-F238E27FC236}">
                <a16:creationId xmlns:a16="http://schemas.microsoft.com/office/drawing/2014/main" id="{0F851240-F159-8E12-BC82-37EC0E1ED843}"/>
              </a:ext>
            </a:extLst>
          </p:cNvPr>
          <p:cNvSpPr txBox="1"/>
          <p:nvPr/>
        </p:nvSpPr>
        <p:spPr>
          <a:xfrm>
            <a:off x="838200" y="3609201"/>
            <a:ext cx="2819400" cy="276999"/>
          </a:xfrm>
          <a:prstGeom prst="rect">
            <a:avLst/>
          </a:prstGeom>
          <a:noFill/>
        </p:spPr>
        <p:txBody>
          <a:bodyPr wrap="square">
            <a:spAutoFit/>
          </a:bodyPr>
          <a:lstStyle/>
          <a:p>
            <a:r>
              <a:rPr lang="en-HK" sz="1200" i="0" strike="noStrike" dirty="0">
                <a:effectLst/>
                <a:latin typeface="Georgia" panose="02040502050405020303" pitchFamily="18" charset="0"/>
              </a:rPr>
              <a:t>Ruddlesden–Popper Perovskites</a:t>
            </a:r>
            <a:endParaRPr lang="en-HK" sz="1200" dirty="0">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ChangeAspect="1"/>
          </p:cNvGraphicFramePr>
          <p:nvPr>
            <p:extLst>
              <p:ext uri="{D42A27DB-BD31-4B8C-83A1-F6EECF244321}">
                <p14:modId xmlns:p14="http://schemas.microsoft.com/office/powerpoint/2010/main" val="1001723093"/>
              </p:ext>
            </p:extLst>
          </p:nvPr>
        </p:nvGraphicFramePr>
        <p:xfrm>
          <a:off x="5216569" y="781685"/>
          <a:ext cx="3317831" cy="2604681"/>
        </p:xfrm>
        <a:graphic>
          <a:graphicData uri="http://schemas.openxmlformats.org/presentationml/2006/ole">
            <mc:AlternateContent xmlns:mc="http://schemas.openxmlformats.org/markup-compatibility/2006">
              <mc:Choice xmlns:v="urn:schemas-microsoft-com:vml" Requires="v">
                <p:oleObj name="CorelDRAW" r:id="rId2" imgW="4596840" imgH="3609360" progId="">
                  <p:embed/>
                </p:oleObj>
              </mc:Choice>
              <mc:Fallback>
                <p:oleObj name="CorelDRAW" r:id="rId2" imgW="4596840" imgH="3609360"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569" y="781685"/>
                        <a:ext cx="3317831" cy="26046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2051" name="Object 5"/>
          <p:cNvGraphicFramePr>
            <a:graphicFrameLocks noChangeAspect="1"/>
          </p:cNvGraphicFramePr>
          <p:nvPr>
            <p:extLst>
              <p:ext uri="{D42A27DB-BD31-4B8C-83A1-F6EECF244321}">
                <p14:modId xmlns:p14="http://schemas.microsoft.com/office/powerpoint/2010/main" val="4028121217"/>
              </p:ext>
            </p:extLst>
          </p:nvPr>
        </p:nvGraphicFramePr>
        <p:xfrm>
          <a:off x="209550" y="3635375"/>
          <a:ext cx="3594100" cy="2822575"/>
        </p:xfrm>
        <a:graphic>
          <a:graphicData uri="http://schemas.openxmlformats.org/presentationml/2006/ole">
            <mc:AlternateContent xmlns:mc="http://schemas.openxmlformats.org/markup-compatibility/2006">
              <mc:Choice xmlns:v="urn:schemas-microsoft-com:vml" Requires="v">
                <p:oleObj name="CorelDRAW" r:id="rId4" imgW="4596840" imgH="3609360" progId="">
                  <p:embed/>
                </p:oleObj>
              </mc:Choice>
              <mc:Fallback>
                <p:oleObj name="CorelDRAW" r:id="rId4" imgW="4596840" imgH="36093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550" y="3635375"/>
                        <a:ext cx="3594100" cy="2822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2052" name="Rectangle 6"/>
          <p:cNvSpPr>
            <a:spLocks noChangeArrowheads="1"/>
          </p:cNvSpPr>
          <p:nvPr/>
        </p:nvSpPr>
        <p:spPr bwMode="auto">
          <a:xfrm>
            <a:off x="209550" y="1383923"/>
            <a:ext cx="4743450" cy="2554545"/>
          </a:xfrm>
          <a:prstGeom prst="rect">
            <a:avLst/>
          </a:prstGeom>
          <a:noFill/>
          <a:ln w="9525">
            <a:noFill/>
            <a:miter lim="800000"/>
            <a:headEnd/>
            <a:tailEnd/>
          </a:ln>
        </p:spPr>
        <p:txBody>
          <a:bodyPr wrap="square">
            <a:spAutoFit/>
          </a:bodyPr>
          <a:lstStyle/>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in angle-integrated UPS, a large cone of photoelectrons are collected</a:t>
            </a:r>
          </a:p>
          <a:p>
            <a:pPr marL="187325" indent="-187325" algn="just" eaLnBrk="1" hangingPunct="1">
              <a:buFont typeface="Wingdings" pitchFamily="2" charset="2"/>
              <a:buNone/>
            </a:pPr>
            <a:r>
              <a:rPr lang="en-US" altLang="zh-TW" sz="2000" dirty="0">
                <a:latin typeface="Georgia" panose="02040502050405020303" pitchFamily="18" charset="0"/>
                <a:ea typeface="新細明體" pitchFamily="18" charset="-120"/>
              </a:rPr>
              <a:t>	i.e. photoelectrons originated from different </a:t>
            </a:r>
            <a:r>
              <a:rPr lang="en-US" altLang="zh-TW" sz="2000" i="1" dirty="0">
                <a:latin typeface="Georgia" panose="02040502050405020303" pitchFamily="18" charset="0"/>
                <a:ea typeface="新細明體" pitchFamily="18" charset="-120"/>
              </a:rPr>
              <a:t>k</a:t>
            </a:r>
            <a:r>
              <a:rPr lang="en-US" altLang="zh-TW" sz="2000" dirty="0">
                <a:latin typeface="Georgia" panose="02040502050405020303" pitchFamily="18" charset="0"/>
                <a:ea typeface="新細明體" pitchFamily="18" charset="-120"/>
              </a:rPr>
              <a:t> values are collected</a:t>
            </a: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as a result, the angular effect is averaged out</a:t>
            </a: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detailed band structures are hidden</a:t>
            </a:r>
            <a:endParaRPr lang="en-US" altLang="zh-TW" sz="2000" i="1" dirty="0">
              <a:latin typeface="Georgia" panose="02040502050405020303" pitchFamily="18" charset="0"/>
              <a:ea typeface="新細明體" pitchFamily="18" charset="-120"/>
            </a:endParaRPr>
          </a:p>
          <a:p>
            <a:pPr marL="187325" indent="-187325" algn="just" eaLnBrk="1" hangingPunct="1">
              <a:buFont typeface="Wingdings" pitchFamily="2" charset="2"/>
              <a:buChar char="§"/>
            </a:pPr>
            <a:endParaRPr lang="en-US" altLang="zh-TW" sz="2000" dirty="0">
              <a:latin typeface="Georgia" panose="02040502050405020303" pitchFamily="18" charset="0"/>
              <a:ea typeface="新細明體" pitchFamily="18" charset="-120"/>
            </a:endParaRPr>
          </a:p>
        </p:txBody>
      </p:sp>
      <p:sp>
        <p:nvSpPr>
          <p:cNvPr id="2053" name="Rectangle 7"/>
          <p:cNvSpPr>
            <a:spLocks noChangeArrowheads="1"/>
          </p:cNvSpPr>
          <p:nvPr/>
        </p:nvSpPr>
        <p:spPr bwMode="auto">
          <a:xfrm>
            <a:off x="1133918" y="781685"/>
            <a:ext cx="2666114" cy="400110"/>
          </a:xfrm>
          <a:prstGeom prst="rect">
            <a:avLst/>
          </a:prstGeom>
          <a:noFill/>
          <a:ln w="9525">
            <a:noFill/>
            <a:miter lim="800000"/>
            <a:headEnd/>
            <a:tailEnd/>
          </a:ln>
        </p:spPr>
        <p:txBody>
          <a:bodyPr wrap="none">
            <a:spAutoFit/>
          </a:bodyPr>
          <a:lstStyle/>
          <a:p>
            <a:pPr eaLnBrk="1" hangingPunct="1"/>
            <a:r>
              <a:rPr lang="en-US" altLang="zh-TW" sz="2000" u="sng" dirty="0">
                <a:solidFill>
                  <a:schemeClr val="hlink"/>
                </a:solidFill>
                <a:latin typeface="Georgia" panose="02040502050405020303" pitchFamily="18" charset="0"/>
                <a:ea typeface="新細明體" pitchFamily="18" charset="-120"/>
              </a:rPr>
              <a:t>Angle-integrated UPS</a:t>
            </a:r>
          </a:p>
        </p:txBody>
      </p:sp>
      <p:sp>
        <p:nvSpPr>
          <p:cNvPr id="2054" name="Rectangle 8"/>
          <p:cNvSpPr>
            <a:spLocks noChangeArrowheads="1"/>
          </p:cNvSpPr>
          <p:nvPr/>
        </p:nvSpPr>
        <p:spPr bwMode="auto">
          <a:xfrm>
            <a:off x="3879850" y="4196804"/>
            <a:ext cx="5054600" cy="2554545"/>
          </a:xfrm>
          <a:prstGeom prst="rect">
            <a:avLst/>
          </a:prstGeom>
          <a:noFill/>
          <a:ln w="9525">
            <a:noFill/>
            <a:miter lim="800000"/>
            <a:headEnd/>
            <a:tailEnd/>
          </a:ln>
        </p:spPr>
        <p:txBody>
          <a:bodyPr wrap="square">
            <a:spAutoFit/>
          </a:bodyPr>
          <a:lstStyle/>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in angle-resolved UPS, a very small cone of photoelectrons is collected, i.e. photoelectrons originated from different </a:t>
            </a:r>
            <a:r>
              <a:rPr lang="en-US" altLang="zh-TW" sz="2000" i="1" dirty="0">
                <a:latin typeface="Georgia" panose="02040502050405020303" pitchFamily="18" charset="0"/>
                <a:ea typeface="新細明體" pitchFamily="18" charset="-120"/>
              </a:rPr>
              <a:t>k</a:t>
            </a:r>
            <a:r>
              <a:rPr lang="en-US" altLang="zh-TW" sz="2000" dirty="0">
                <a:latin typeface="Georgia" panose="02040502050405020303" pitchFamily="18" charset="0"/>
                <a:ea typeface="新細明體" pitchFamily="18" charset="-120"/>
              </a:rPr>
              <a:t> values can be collected separately by varying the detection angle</a:t>
            </a:r>
          </a:p>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detailed band structures can thus be revealed</a:t>
            </a:r>
          </a:p>
          <a:p>
            <a:pPr marL="187325" indent="-187325" algn="just" eaLnBrk="1" hangingPunct="1">
              <a:buFont typeface="Wingdings" pitchFamily="2" charset="2"/>
              <a:buChar char="§"/>
            </a:pPr>
            <a:endParaRPr lang="en-US" altLang="zh-TW" sz="2000" dirty="0">
              <a:latin typeface="Georgia" panose="02040502050405020303" pitchFamily="18" charset="0"/>
              <a:ea typeface="新細明體" pitchFamily="18" charset="-120"/>
            </a:endParaRPr>
          </a:p>
        </p:txBody>
      </p:sp>
      <p:sp>
        <p:nvSpPr>
          <p:cNvPr id="2055" name="Rectangle 9"/>
          <p:cNvSpPr>
            <a:spLocks noChangeArrowheads="1"/>
          </p:cNvSpPr>
          <p:nvPr/>
        </p:nvSpPr>
        <p:spPr bwMode="auto">
          <a:xfrm>
            <a:off x="5229269" y="3627978"/>
            <a:ext cx="2496196" cy="400110"/>
          </a:xfrm>
          <a:prstGeom prst="rect">
            <a:avLst/>
          </a:prstGeom>
          <a:noFill/>
          <a:ln w="9525">
            <a:noFill/>
            <a:miter lim="800000"/>
            <a:headEnd/>
            <a:tailEnd/>
          </a:ln>
        </p:spPr>
        <p:txBody>
          <a:bodyPr wrap="none">
            <a:spAutoFit/>
          </a:bodyPr>
          <a:lstStyle/>
          <a:p>
            <a:pPr eaLnBrk="1" hangingPunct="1"/>
            <a:r>
              <a:rPr lang="en-US" altLang="zh-TW" sz="2000" u="sng" dirty="0">
                <a:solidFill>
                  <a:schemeClr val="hlink"/>
                </a:solidFill>
                <a:latin typeface="Georgia" panose="02040502050405020303" pitchFamily="18" charset="0"/>
                <a:ea typeface="新細明體" pitchFamily="18" charset="-120"/>
              </a:rPr>
              <a:t>Angle-resolved UPS</a:t>
            </a:r>
          </a:p>
        </p:txBody>
      </p:sp>
      <p:sp>
        <p:nvSpPr>
          <p:cNvPr id="2057" name="Rectangle 11"/>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UV Photoemission Analysis</a:t>
            </a:r>
          </a:p>
        </p:txBody>
      </p:sp>
      <p:sp>
        <p:nvSpPr>
          <p:cNvPr id="2" name="Slide Number Placeholder 1">
            <a:extLst>
              <a:ext uri="{FF2B5EF4-FFF2-40B4-BE49-F238E27FC236}">
                <a16:creationId xmlns:a16="http://schemas.microsoft.com/office/drawing/2014/main" id="{8CAF9286-19B9-418D-B251-79F2D6851481}"/>
              </a:ext>
            </a:extLst>
          </p:cNvPr>
          <p:cNvSpPr>
            <a:spLocks noGrp="1"/>
          </p:cNvSpPr>
          <p:nvPr>
            <p:ph type="sldNum" sz="quarter" idx="11"/>
          </p:nvPr>
        </p:nvSpPr>
        <p:spPr/>
        <p:txBody>
          <a:bodyPr/>
          <a:lstStyle/>
          <a:p>
            <a:pPr>
              <a:defRPr/>
            </a:pPr>
            <a:fld id="{5A031570-0DA8-4A71-BBF6-3150CEB7570B}" type="slidenum">
              <a:rPr lang="zh-TW" altLang="en-US" smtClean="0"/>
              <a:pPr>
                <a:defRPr/>
              </a:pPr>
              <a:t>21</a:t>
            </a:fld>
            <a:endParaRPr lang="en-US" altLang="zh-TW"/>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Angle integrated UPS</a:t>
            </a:r>
          </a:p>
        </p:txBody>
      </p:sp>
      <p:pic>
        <p:nvPicPr>
          <p:cNvPr id="20483" name="Picture 5" descr="BAND"/>
          <p:cNvPicPr>
            <a:picLocks noChangeAspect="1" noChangeArrowheads="1"/>
          </p:cNvPicPr>
          <p:nvPr/>
        </p:nvPicPr>
        <p:blipFill>
          <a:blip r:embed="rId2" cstate="print"/>
          <a:srcRect/>
          <a:stretch>
            <a:fillRect/>
          </a:stretch>
        </p:blipFill>
        <p:spPr bwMode="auto">
          <a:xfrm>
            <a:off x="228600" y="1787525"/>
            <a:ext cx="5638800" cy="4370388"/>
          </a:xfrm>
          <a:prstGeom prst="rect">
            <a:avLst/>
          </a:prstGeom>
          <a:noFill/>
          <a:ln w="9525">
            <a:noFill/>
            <a:miter lim="800000"/>
            <a:headEnd/>
            <a:tailEnd/>
          </a:ln>
        </p:spPr>
      </p:pic>
      <p:sp>
        <p:nvSpPr>
          <p:cNvPr id="20484" name="Rectangle 6"/>
          <p:cNvSpPr>
            <a:spLocks noChangeArrowheads="1"/>
          </p:cNvSpPr>
          <p:nvPr/>
        </p:nvSpPr>
        <p:spPr bwMode="auto">
          <a:xfrm>
            <a:off x="381000" y="757535"/>
            <a:ext cx="6295313" cy="461665"/>
          </a:xfrm>
          <a:prstGeom prst="rect">
            <a:avLst/>
          </a:prstGeom>
          <a:noFill/>
          <a:ln w="9525">
            <a:noFill/>
            <a:miter lim="800000"/>
            <a:headEnd/>
            <a:tailEnd/>
          </a:ln>
        </p:spPr>
        <p:txBody>
          <a:bodyPr wrap="none">
            <a:spAutoFit/>
          </a:bodyPr>
          <a:lstStyle/>
          <a:p>
            <a:pPr eaLnBrk="1" hangingPunct="1"/>
            <a:r>
              <a:rPr lang="en-US" altLang="zh-TW" sz="2400" b="1" u="sng" dirty="0">
                <a:latin typeface="Georgia" panose="02040502050405020303" pitchFamily="18" charset="0"/>
                <a:ea typeface="Ebrima" panose="02000000000000000000" pitchFamily="2" charset="0"/>
                <a:cs typeface="Ebrima" panose="02000000000000000000" pitchFamily="2" charset="0"/>
              </a:rPr>
              <a:t>Taking a semiconductor as an example</a:t>
            </a:r>
          </a:p>
        </p:txBody>
      </p:sp>
      <p:pic>
        <p:nvPicPr>
          <p:cNvPr id="5" name="Picture 4">
            <a:extLst>
              <a:ext uri="{FF2B5EF4-FFF2-40B4-BE49-F238E27FC236}">
                <a16:creationId xmlns:a16="http://schemas.microsoft.com/office/drawing/2014/main" id="{CB3F95FF-E92C-4FB7-B7E1-59C5D9976EBD}"/>
              </a:ext>
            </a:extLst>
          </p:cNvPr>
          <p:cNvPicPr>
            <a:picLocks noChangeAspect="1" noChangeArrowheads="1"/>
          </p:cNvPicPr>
          <p:nvPr/>
        </p:nvPicPr>
        <p:blipFill>
          <a:blip r:embed="rId3" cstate="print"/>
          <a:srcRect l="24590"/>
          <a:stretch>
            <a:fillRect/>
          </a:stretch>
        </p:blipFill>
        <p:spPr bwMode="auto">
          <a:xfrm>
            <a:off x="5962453" y="1219200"/>
            <a:ext cx="3029147" cy="4757737"/>
          </a:xfrm>
          <a:prstGeom prst="rect">
            <a:avLst/>
          </a:prstGeom>
          <a:noFill/>
          <a:ln w="9525">
            <a:noFill/>
            <a:miter lim="800000"/>
            <a:headEnd/>
            <a:tailEnd/>
          </a:ln>
          <a:effectLst/>
        </p:spPr>
      </p:pic>
      <p:sp>
        <p:nvSpPr>
          <p:cNvPr id="2" name="Slide Number Placeholder 1">
            <a:extLst>
              <a:ext uri="{FF2B5EF4-FFF2-40B4-BE49-F238E27FC236}">
                <a16:creationId xmlns:a16="http://schemas.microsoft.com/office/drawing/2014/main" id="{9DB648E4-1DFB-4429-BB98-328231D707AE}"/>
              </a:ext>
            </a:extLst>
          </p:cNvPr>
          <p:cNvSpPr>
            <a:spLocks noGrp="1"/>
          </p:cNvSpPr>
          <p:nvPr>
            <p:ph type="sldNum" sz="quarter" idx="11"/>
          </p:nvPr>
        </p:nvSpPr>
        <p:spPr/>
        <p:txBody>
          <a:bodyPr/>
          <a:lstStyle/>
          <a:p>
            <a:pPr>
              <a:defRPr/>
            </a:pPr>
            <a:fld id="{5A031570-0DA8-4A71-BBF6-3150CEB7570B}" type="slidenum">
              <a:rPr lang="zh-TW" altLang="en-US" smtClean="0"/>
              <a:pPr>
                <a:defRPr/>
              </a:pPr>
              <a:t>22</a:t>
            </a:fld>
            <a:endParaRPr lang="en-US" altLang="zh-TW"/>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Angle integrated UPS</a:t>
            </a:r>
          </a:p>
        </p:txBody>
      </p:sp>
      <mc:AlternateContent xmlns:mc="http://schemas.openxmlformats.org/markup-compatibility/2006" xmlns:a14="http://schemas.microsoft.com/office/drawing/2010/main">
        <mc:Choice Requires="a14">
          <p:sp>
            <p:nvSpPr>
              <p:cNvPr id="21508" name="Rectangle 6"/>
              <p:cNvSpPr>
                <a:spLocks noChangeArrowheads="1"/>
              </p:cNvSpPr>
              <p:nvPr/>
            </p:nvSpPr>
            <p:spPr bwMode="auto">
              <a:xfrm>
                <a:off x="695326" y="4617426"/>
                <a:ext cx="8077200" cy="1678536"/>
              </a:xfrm>
              <a:prstGeom prst="rect">
                <a:avLst/>
              </a:prstGeom>
              <a:noFill/>
              <a:ln w="9525">
                <a:noFill/>
                <a:miter lim="800000"/>
                <a:headEnd/>
                <a:tailEnd/>
              </a:ln>
            </p:spPr>
            <p:txBody>
              <a:bodyPr wrap="square">
                <a:spAutoFit/>
              </a:bodyPr>
              <a:lstStyle/>
              <a:p>
                <a:pPr marL="285750" indent="-285750" algn="just" eaLnBrk="1" hangingPunct="1">
                  <a:spcBef>
                    <a:spcPts val="0"/>
                  </a:spcBef>
                  <a:buFont typeface="Arial" panose="020B0604020202020204" pitchFamily="34" charset="0"/>
                  <a:buChar char="•"/>
                </a:pPr>
                <a:endParaRPr lang="en-US" altLang="zh-TW" sz="2000" dirty="0">
                  <a:latin typeface="Georgia" panose="02040502050405020303" pitchFamily="18" charset="0"/>
                  <a:ea typeface="新細明體" pitchFamily="18" charset="-120"/>
                </a:endParaRPr>
              </a:p>
              <a:p>
                <a:pPr marL="285750" indent="-285750" algn="just" eaLnBrk="1" hangingPunct="1">
                  <a:spcBef>
                    <a:spcPts val="0"/>
                  </a:spcBef>
                  <a:buFont typeface="Arial" panose="020B0604020202020204" pitchFamily="34" charset="0"/>
                  <a:buChar char="•"/>
                </a:pPr>
                <a14:m>
                  <m:oMath xmlns:m="http://schemas.openxmlformats.org/officeDocument/2006/math">
                    <m:sSub>
                      <m:sSubPr>
                        <m:ctrlPr>
                          <a:rPr lang="en-US" altLang="zh-TW" sz="2000" b="0" i="1" smtClean="0">
                            <a:latin typeface="Cambria Math" panose="02040503050406030204" pitchFamily="18" charset="0"/>
                            <a:ea typeface="新細明體" pitchFamily="18" charset="-120"/>
                          </a:rPr>
                        </m:ctrlPr>
                      </m:sSubPr>
                      <m:e>
                        <m:r>
                          <a:rPr lang="en-US" altLang="zh-TW" sz="2000" b="0" i="1" smtClean="0">
                            <a:latin typeface="Cambria Math" panose="02040503050406030204" pitchFamily="18" charset="0"/>
                            <a:ea typeface="新細明體" pitchFamily="18" charset="-120"/>
                          </a:rPr>
                          <m:t>𝐸</m:t>
                        </m:r>
                      </m:e>
                      <m:sub>
                        <m:r>
                          <a:rPr lang="en-US" altLang="zh-TW" sz="2000" b="0" i="1" smtClean="0">
                            <a:latin typeface="Cambria Math" panose="02040503050406030204" pitchFamily="18" charset="0"/>
                            <a:ea typeface="新細明體" pitchFamily="18" charset="-120"/>
                          </a:rPr>
                          <m:t>𝑉𝐵𝑀</m:t>
                        </m:r>
                      </m:sub>
                    </m:sSub>
                    <m:r>
                      <a:rPr lang="en-US" altLang="zh-TW" sz="2000" b="0" i="1" smtClean="0">
                        <a:latin typeface="Cambria Math" panose="02040503050406030204" pitchFamily="18" charset="0"/>
                        <a:ea typeface="新細明體" pitchFamily="18" charset="-120"/>
                      </a:rPr>
                      <m:t>=</m:t>
                    </m:r>
                    <m:r>
                      <a:rPr lang="en-US" altLang="zh-TW" sz="2000" b="0" i="1" smtClean="0">
                        <a:latin typeface="Cambria Math" panose="02040503050406030204" pitchFamily="18" charset="0"/>
                        <a:ea typeface="新細明體" pitchFamily="18" charset="-120"/>
                      </a:rPr>
                      <m:t>ℎ</m:t>
                    </m:r>
                    <m:r>
                      <a:rPr lang="en-US" altLang="zh-TW" sz="2000" b="0" i="1" smtClean="0">
                        <a:latin typeface="Cambria Math" panose="02040503050406030204" pitchFamily="18" charset="0"/>
                        <a:ea typeface="新細明體" pitchFamily="18" charset="-120"/>
                      </a:rPr>
                      <m:t>𝜈</m:t>
                    </m:r>
                    <m:r>
                      <a:rPr lang="en-US" altLang="zh-TW" sz="2000" b="0" i="1" smtClean="0">
                        <a:latin typeface="Cambria Math" panose="02040503050406030204" pitchFamily="18" charset="0"/>
                        <a:ea typeface="新細明體" pitchFamily="18" charset="-120"/>
                      </a:rPr>
                      <m:t>−</m:t>
                    </m:r>
                    <m:sSub>
                      <m:sSubPr>
                        <m:ctrlPr>
                          <a:rPr lang="en-US" altLang="zh-TW" sz="2000" b="0" i="1" smtClean="0">
                            <a:latin typeface="Cambria Math" panose="02040503050406030204" pitchFamily="18" charset="0"/>
                            <a:ea typeface="新細明體" pitchFamily="18" charset="-120"/>
                          </a:rPr>
                        </m:ctrlPr>
                      </m:sSubPr>
                      <m:e>
                        <m:r>
                          <a:rPr lang="en-US" altLang="zh-TW" sz="2000" b="0" i="1" smtClean="0">
                            <a:latin typeface="Cambria Math" panose="02040503050406030204" pitchFamily="18" charset="0"/>
                            <a:ea typeface="新細明體" pitchFamily="18" charset="-120"/>
                          </a:rPr>
                          <m:t>𝐸</m:t>
                        </m:r>
                      </m:e>
                      <m:sub>
                        <m:r>
                          <a:rPr lang="en-US" altLang="zh-TW" sz="2000" b="0" i="1" smtClean="0">
                            <a:latin typeface="Cambria Math" panose="02040503050406030204" pitchFamily="18" charset="0"/>
                            <a:ea typeface="新細明體" pitchFamily="18" charset="-120"/>
                          </a:rPr>
                          <m:t>𝑘</m:t>
                        </m:r>
                      </m:sub>
                    </m:sSub>
                    <m:r>
                      <a:rPr lang="en-US" altLang="zh-TW" sz="2000" b="0" i="1" smtClean="0">
                        <a:latin typeface="Cambria Math" panose="02040503050406030204" pitchFamily="18" charset="0"/>
                        <a:ea typeface="新細明體" pitchFamily="18" charset="-120"/>
                      </a:rPr>
                      <m:t>−</m:t>
                    </m:r>
                    <m:sSub>
                      <m:sSubPr>
                        <m:ctrlPr>
                          <a:rPr lang="en-US" altLang="zh-TW" sz="2000" b="0" i="1" smtClean="0">
                            <a:latin typeface="Cambria Math" panose="02040503050406030204" pitchFamily="18" charset="0"/>
                            <a:ea typeface="新細明體" pitchFamily="18" charset="-120"/>
                          </a:rPr>
                        </m:ctrlPr>
                      </m:sSubPr>
                      <m:e>
                        <m:r>
                          <a:rPr lang="en-US" altLang="zh-TW" sz="2000" b="0" i="1" smtClean="0">
                            <a:latin typeface="Cambria Math" panose="02040503050406030204" pitchFamily="18" charset="0"/>
                            <a:ea typeface="新細明體" pitchFamily="18" charset="-120"/>
                          </a:rPr>
                          <m:t>𝜙</m:t>
                        </m:r>
                      </m:e>
                      <m:sub>
                        <m:r>
                          <a:rPr lang="en-US" altLang="zh-TW" sz="2000" b="0" i="1" smtClean="0">
                            <a:latin typeface="Cambria Math" panose="02040503050406030204" pitchFamily="18" charset="0"/>
                            <a:ea typeface="新細明體" pitchFamily="18" charset="-120"/>
                          </a:rPr>
                          <m:t>𝑠𝑝𝑒𝑐</m:t>
                        </m:r>
                      </m:sub>
                    </m:sSub>
                  </m:oMath>
                </a14:m>
                <a:r>
                  <a:rPr lang="en-US" altLang="zh-TW" sz="2000" b="0" dirty="0">
                    <a:latin typeface="Georgia" panose="02040502050405020303" pitchFamily="18" charset="0"/>
                    <a:ea typeface="新細明體" pitchFamily="18" charset="-120"/>
                  </a:rPr>
                  <a:t> - sample is connected to the spectrometer</a:t>
                </a:r>
              </a:p>
              <a:p>
                <a:pPr marL="285750" indent="-285750" algn="just" eaLnBrk="1" hangingPunct="1">
                  <a:spcBef>
                    <a:spcPts val="0"/>
                  </a:spcBef>
                  <a:buFont typeface="Arial" panose="020B0604020202020204" pitchFamily="34" charset="0"/>
                  <a:buChar char="•"/>
                </a:pPr>
                <a:endParaRPr lang="en-US" altLang="zh-TW" sz="2000" dirty="0">
                  <a:latin typeface="Georgia" panose="02040502050405020303" pitchFamily="18" charset="0"/>
                  <a:ea typeface="新細明體" pitchFamily="18" charset="-120"/>
                </a:endParaRPr>
              </a:p>
              <a:p>
                <a:pPr marL="285750" indent="-285750" algn="just" eaLnBrk="1" hangingPunct="1">
                  <a:spcBef>
                    <a:spcPts val="0"/>
                  </a:spcBef>
                  <a:buFont typeface="Arial" panose="020B0604020202020204" pitchFamily="34" charset="0"/>
                  <a:buChar char="•"/>
                </a:pPr>
                <a:r>
                  <a:rPr lang="en-US" altLang="zh-TW" sz="2000" b="0" dirty="0">
                    <a:latin typeface="Georgia" panose="02040502050405020303" pitchFamily="18" charset="0"/>
                    <a:ea typeface="新細明體" pitchFamily="18" charset="-120"/>
                  </a:rPr>
                  <a:t>This  holds for metal, in which the VBM line up with Fermi level</a:t>
                </a:r>
              </a:p>
              <a:p>
                <a:pPr marL="285750" indent="-285750" algn="just" eaLnBrk="1" hangingPunct="1">
                  <a:spcBef>
                    <a:spcPts val="0"/>
                  </a:spcBef>
                  <a:buFont typeface="Arial" panose="020B0604020202020204" pitchFamily="34" charset="0"/>
                  <a:buChar char="•"/>
                </a:pPr>
                <a:r>
                  <a:rPr lang="en-US" altLang="zh-TW" sz="2000" dirty="0">
                    <a:latin typeface="Georgia" panose="02040502050405020303" pitchFamily="18" charset="0"/>
                    <a:ea typeface="新細明體" pitchFamily="18" charset="-120"/>
                  </a:rPr>
                  <a:t>In semiconductors </a:t>
                </a:r>
                <a14:m>
                  <m:oMath xmlns:m="http://schemas.openxmlformats.org/officeDocument/2006/math">
                    <m:sSub>
                      <m:sSubPr>
                        <m:ctrlPr>
                          <a:rPr lang="en-US" altLang="zh-TW" sz="2000" i="1">
                            <a:latin typeface="Cambria Math" panose="02040503050406030204" pitchFamily="18" charset="0"/>
                            <a:ea typeface="新細明體" pitchFamily="18" charset="-120"/>
                          </a:rPr>
                        </m:ctrlPr>
                      </m:sSubPr>
                      <m:e>
                        <m:r>
                          <a:rPr lang="en-US" altLang="zh-TW" sz="2000" i="1">
                            <a:latin typeface="Cambria Math" panose="02040503050406030204" pitchFamily="18" charset="0"/>
                            <a:ea typeface="新細明體" pitchFamily="18" charset="-120"/>
                          </a:rPr>
                          <m:t>𝐸</m:t>
                        </m:r>
                      </m:e>
                      <m:sub>
                        <m:r>
                          <a:rPr lang="en-US" altLang="zh-TW" sz="2000" i="1">
                            <a:latin typeface="Cambria Math" panose="02040503050406030204" pitchFamily="18" charset="0"/>
                            <a:ea typeface="新細明體" pitchFamily="18" charset="-120"/>
                          </a:rPr>
                          <m:t>𝑉𝐵𝑀</m:t>
                        </m:r>
                      </m:sub>
                    </m:sSub>
                    <m:r>
                      <a:rPr lang="en-US" altLang="zh-TW" sz="2000" i="1">
                        <a:latin typeface="Cambria Math" panose="02040503050406030204" pitchFamily="18" charset="0"/>
                        <a:ea typeface="新細明體" pitchFamily="18" charset="-120"/>
                      </a:rPr>
                      <m:t>=</m:t>
                    </m:r>
                    <m:r>
                      <a:rPr lang="en-US" altLang="zh-TW" sz="2000" i="1">
                        <a:latin typeface="Cambria Math" panose="02040503050406030204" pitchFamily="18" charset="0"/>
                        <a:ea typeface="新細明體" pitchFamily="18" charset="-120"/>
                      </a:rPr>
                      <m:t>ℎ</m:t>
                    </m:r>
                    <m:r>
                      <a:rPr lang="en-US" altLang="zh-TW" sz="2000" i="1">
                        <a:latin typeface="Cambria Math" panose="02040503050406030204" pitchFamily="18" charset="0"/>
                        <a:ea typeface="新細明體" pitchFamily="18" charset="-120"/>
                      </a:rPr>
                      <m:t>𝜈</m:t>
                    </m:r>
                    <m:r>
                      <a:rPr lang="en-US" altLang="zh-TW" sz="2000" i="1">
                        <a:latin typeface="Cambria Math" panose="02040503050406030204" pitchFamily="18" charset="0"/>
                        <a:ea typeface="新細明體" pitchFamily="18" charset="-120"/>
                      </a:rPr>
                      <m:t>−</m:t>
                    </m:r>
                    <m:sSub>
                      <m:sSubPr>
                        <m:ctrlPr>
                          <a:rPr lang="en-US" altLang="zh-TW" sz="2000" i="1">
                            <a:latin typeface="Cambria Math" panose="02040503050406030204" pitchFamily="18" charset="0"/>
                            <a:ea typeface="新細明體" pitchFamily="18" charset="-120"/>
                          </a:rPr>
                        </m:ctrlPr>
                      </m:sSubPr>
                      <m:e>
                        <m:r>
                          <a:rPr lang="en-US" altLang="zh-TW" sz="2000" i="1">
                            <a:latin typeface="Cambria Math" panose="02040503050406030204" pitchFamily="18" charset="0"/>
                            <a:ea typeface="新細明體" pitchFamily="18" charset="-120"/>
                          </a:rPr>
                          <m:t>𝐸</m:t>
                        </m:r>
                      </m:e>
                      <m:sub>
                        <m:r>
                          <a:rPr lang="en-US" altLang="zh-TW" sz="2000" i="1">
                            <a:latin typeface="Cambria Math" panose="02040503050406030204" pitchFamily="18" charset="0"/>
                            <a:ea typeface="新細明體" pitchFamily="18" charset="-120"/>
                          </a:rPr>
                          <m:t>𝑘</m:t>
                        </m:r>
                      </m:sub>
                    </m:sSub>
                    <m:r>
                      <a:rPr lang="en-US" altLang="zh-TW" sz="2000" i="1">
                        <a:latin typeface="Cambria Math" panose="02040503050406030204" pitchFamily="18" charset="0"/>
                        <a:ea typeface="新細明體" pitchFamily="18" charset="-120"/>
                      </a:rPr>
                      <m:t>−</m:t>
                    </m:r>
                    <m:sSub>
                      <m:sSubPr>
                        <m:ctrlPr>
                          <a:rPr lang="en-US" altLang="zh-TW" sz="2000" i="1">
                            <a:latin typeface="Cambria Math" panose="02040503050406030204" pitchFamily="18" charset="0"/>
                            <a:ea typeface="新細明體" pitchFamily="18" charset="-120"/>
                          </a:rPr>
                        </m:ctrlPr>
                      </m:sSubPr>
                      <m:e>
                        <m:r>
                          <a:rPr lang="en-US" altLang="zh-TW" sz="2000" i="1">
                            <a:latin typeface="Cambria Math" panose="02040503050406030204" pitchFamily="18" charset="0"/>
                            <a:ea typeface="新細明體" pitchFamily="18" charset="-120"/>
                          </a:rPr>
                          <m:t>𝜙</m:t>
                        </m:r>
                      </m:e>
                      <m:sub>
                        <m:r>
                          <a:rPr lang="en-US" altLang="zh-TW" sz="2000" i="1">
                            <a:latin typeface="Cambria Math" panose="02040503050406030204" pitchFamily="18" charset="0"/>
                            <a:ea typeface="新細明體" pitchFamily="18" charset="-120"/>
                          </a:rPr>
                          <m:t>𝑠𝑝𝑒𝑐</m:t>
                        </m:r>
                      </m:sub>
                    </m:sSub>
                  </m:oMath>
                </a14:m>
                <a:r>
                  <a:rPr lang="en-US" altLang="zh-TW" sz="2000" b="0" dirty="0">
                    <a:latin typeface="Georgia" panose="02040502050405020303" pitchFamily="18" charset="0"/>
                    <a:ea typeface="新細明體" pitchFamily="18" charset="-120"/>
                  </a:rPr>
                  <a:t>- </a:t>
                </a:r>
                <a14:m>
                  <m:oMath xmlns:m="http://schemas.openxmlformats.org/officeDocument/2006/math">
                    <m:sSub>
                      <m:sSubPr>
                        <m:ctrlPr>
                          <a:rPr lang="en-US" altLang="zh-TW" sz="2000" i="1">
                            <a:latin typeface="Cambria Math" panose="02040503050406030204" pitchFamily="18" charset="0"/>
                            <a:ea typeface="新細明體" pitchFamily="18" charset="-120"/>
                          </a:rPr>
                        </m:ctrlPr>
                      </m:sSubPr>
                      <m:e>
                        <m:r>
                          <a:rPr lang="en-US" altLang="zh-TW" sz="2000" i="1">
                            <a:latin typeface="Cambria Math" panose="02040503050406030204" pitchFamily="18" charset="0"/>
                            <a:ea typeface="新細明體" pitchFamily="18" charset="-120"/>
                          </a:rPr>
                          <m:t>𝐸</m:t>
                        </m:r>
                      </m:e>
                      <m:sub>
                        <m:r>
                          <a:rPr lang="en-HK" altLang="zh-TW" sz="2000" b="0" i="1" smtClean="0">
                            <a:latin typeface="Cambria Math" panose="02040503050406030204" pitchFamily="18" charset="0"/>
                            <a:ea typeface="新細明體" pitchFamily="18" charset="-120"/>
                          </a:rPr>
                          <m:t>𝑉𝐹</m:t>
                        </m:r>
                      </m:sub>
                    </m:sSub>
                  </m:oMath>
                </a14:m>
                <a:endParaRPr lang="en-US" altLang="zh-TW" sz="2000" b="0" dirty="0">
                  <a:latin typeface="Georgia" panose="02040502050405020303" pitchFamily="18" charset="0"/>
                  <a:ea typeface="新細明體" pitchFamily="18" charset="-120"/>
                </a:endParaRPr>
              </a:p>
            </p:txBody>
          </p:sp>
        </mc:Choice>
        <mc:Fallback xmlns="">
          <p:sp>
            <p:nvSpPr>
              <p:cNvPr id="21508" name="Rectangle 6"/>
              <p:cNvSpPr>
                <a:spLocks noRot="1" noChangeAspect="1" noMove="1" noResize="1" noEditPoints="1" noAdjustHandles="1" noChangeArrowheads="1" noChangeShapeType="1" noTextEdit="1"/>
              </p:cNvSpPr>
              <p:nvPr/>
            </p:nvSpPr>
            <p:spPr bwMode="auto">
              <a:xfrm>
                <a:off x="695326" y="4617426"/>
                <a:ext cx="8077200" cy="1678536"/>
              </a:xfrm>
              <a:prstGeom prst="rect">
                <a:avLst/>
              </a:prstGeom>
              <a:blipFill>
                <a:blip r:embed="rId2"/>
                <a:stretch>
                  <a:fillRect l="-679" b="-3623"/>
                </a:stretch>
              </a:blipFill>
              <a:ln w="9525">
                <a:noFill/>
                <a:miter lim="800000"/>
                <a:headEnd/>
                <a:tailEnd/>
              </a:ln>
            </p:spPr>
            <p:txBody>
              <a:bodyPr/>
              <a:lstStyle/>
              <a:p>
                <a:r>
                  <a:rPr lang="en-HK">
                    <a:noFill/>
                  </a:rPr>
                  <a:t> </a:t>
                </a:r>
              </a:p>
            </p:txBody>
          </p:sp>
        </mc:Fallback>
      </mc:AlternateContent>
      <p:sp>
        <p:nvSpPr>
          <p:cNvPr id="2" name="Slide Number Placeholder 1">
            <a:extLst>
              <a:ext uri="{FF2B5EF4-FFF2-40B4-BE49-F238E27FC236}">
                <a16:creationId xmlns:a16="http://schemas.microsoft.com/office/drawing/2014/main" id="{C1E6866D-D3A5-4069-B53E-B1E6546818D2}"/>
              </a:ext>
            </a:extLst>
          </p:cNvPr>
          <p:cNvSpPr>
            <a:spLocks noGrp="1"/>
          </p:cNvSpPr>
          <p:nvPr>
            <p:ph type="sldNum" sz="quarter" idx="11"/>
          </p:nvPr>
        </p:nvSpPr>
        <p:spPr>
          <a:xfrm>
            <a:off x="6638926" y="6258141"/>
            <a:ext cx="2133600" cy="457200"/>
          </a:xfrm>
        </p:spPr>
        <p:txBody>
          <a:bodyPr/>
          <a:lstStyle/>
          <a:p>
            <a:pPr>
              <a:defRPr/>
            </a:pPr>
            <a:fld id="{5A031570-0DA8-4A71-BBF6-3150CEB7570B}" type="slidenum">
              <a:rPr lang="zh-TW" altLang="en-US" smtClean="0"/>
              <a:pPr>
                <a:defRPr/>
              </a:pPr>
              <a:t>23</a:t>
            </a:fld>
            <a:endParaRPr lang="en-US" altLang="zh-TW" dirty="0"/>
          </a:p>
        </p:txBody>
      </p:sp>
      <p:pic>
        <p:nvPicPr>
          <p:cNvPr id="5" name="Picture 4">
            <a:extLst>
              <a:ext uri="{FF2B5EF4-FFF2-40B4-BE49-F238E27FC236}">
                <a16:creationId xmlns:a16="http://schemas.microsoft.com/office/drawing/2014/main" id="{D5461805-C529-712B-7DEA-98667B74D57F}"/>
              </a:ext>
            </a:extLst>
          </p:cNvPr>
          <p:cNvPicPr>
            <a:picLocks noChangeAspect="1"/>
          </p:cNvPicPr>
          <p:nvPr/>
        </p:nvPicPr>
        <p:blipFill>
          <a:blip r:embed="rId3"/>
          <a:stretch>
            <a:fillRect/>
          </a:stretch>
        </p:blipFill>
        <p:spPr>
          <a:xfrm>
            <a:off x="1676400" y="981396"/>
            <a:ext cx="5488747" cy="335513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0" name="Picture 3" descr="ARPESgeneral.png"/>
          <p:cNvPicPr>
            <a:picLocks noChangeAspect="1"/>
          </p:cNvPicPr>
          <p:nvPr/>
        </p:nvPicPr>
        <p:blipFill>
          <a:blip r:embed="rId3" cstate="print"/>
          <a:srcRect/>
          <a:stretch>
            <a:fillRect/>
          </a:stretch>
        </p:blipFill>
        <p:spPr bwMode="auto">
          <a:xfrm>
            <a:off x="306860" y="911895"/>
            <a:ext cx="8630074" cy="5034210"/>
          </a:xfrm>
          <a:prstGeom prst="rect">
            <a:avLst/>
          </a:prstGeom>
          <a:noFill/>
          <a:ln w="9525">
            <a:noFill/>
            <a:miter lim="800000"/>
            <a:headEnd/>
            <a:tailEnd/>
          </a:ln>
        </p:spPr>
      </p:pic>
      <p:sp>
        <p:nvSpPr>
          <p:cNvPr id="19461" name="矩形 4"/>
          <p:cNvSpPr>
            <a:spLocks noChangeArrowheads="1"/>
          </p:cNvSpPr>
          <p:nvPr/>
        </p:nvSpPr>
        <p:spPr bwMode="auto">
          <a:xfrm>
            <a:off x="306860" y="3505200"/>
            <a:ext cx="2536134" cy="2031325"/>
          </a:xfrm>
          <a:prstGeom prst="rect">
            <a:avLst/>
          </a:prstGeom>
          <a:noFill/>
          <a:ln w="9525">
            <a:noFill/>
            <a:miter lim="800000"/>
            <a:headEnd/>
            <a:tailEnd/>
          </a:ln>
        </p:spPr>
        <p:txBody>
          <a:bodyPr wrap="square">
            <a:spAutoFit/>
          </a:bodyPr>
          <a:lstStyle/>
          <a:p>
            <a:r>
              <a:rPr lang="en-HK" b="1" dirty="0">
                <a:latin typeface="Georgia" panose="02040502050405020303" pitchFamily="18" charset="0"/>
                <a:ea typeface="宋体" charset="-122"/>
              </a:rPr>
              <a:t>ARUPS</a:t>
            </a:r>
            <a:r>
              <a:rPr lang="en-HK" dirty="0">
                <a:latin typeface="Georgia" panose="02040502050405020303" pitchFamily="18" charset="0"/>
                <a:ea typeface="宋体" charset="-122"/>
              </a:rPr>
              <a:t> is commonly known as Angle-Resolved Photoemission Spectroscopy (</a:t>
            </a:r>
            <a:r>
              <a:rPr lang="en-US" altLang="zh-CN" b="1" dirty="0">
                <a:latin typeface="Georgia" panose="02040502050405020303" pitchFamily="18" charset="0"/>
                <a:ea typeface="宋体" charset="-122"/>
              </a:rPr>
              <a:t>ARPES)</a:t>
            </a:r>
          </a:p>
          <a:p>
            <a:endParaRPr lang="en-US" altLang="zh-CN" dirty="0">
              <a:latin typeface="Georgia" panose="02040502050405020303" pitchFamily="18" charset="0"/>
              <a:ea typeface="宋体" charset="-122"/>
            </a:endParaRPr>
          </a:p>
        </p:txBody>
      </p:sp>
      <p:sp>
        <p:nvSpPr>
          <p:cNvPr id="2" name="Rectangle 1">
            <a:extLst>
              <a:ext uri="{FF2B5EF4-FFF2-40B4-BE49-F238E27FC236}">
                <a16:creationId xmlns:a16="http://schemas.microsoft.com/office/drawing/2014/main" id="{49B3BE9A-85E9-403D-8FC3-8962E5745578}"/>
              </a:ext>
            </a:extLst>
          </p:cNvPr>
          <p:cNvSpPr/>
          <p:nvPr/>
        </p:nvSpPr>
        <p:spPr>
          <a:xfrm>
            <a:off x="6019800" y="3940076"/>
            <a:ext cx="2917134" cy="2308324"/>
          </a:xfrm>
          <a:prstGeom prst="rect">
            <a:avLst/>
          </a:prstGeom>
          <a:solidFill>
            <a:schemeClr val="bg1"/>
          </a:solidFill>
        </p:spPr>
        <p:txBody>
          <a:bodyPr wrap="square">
            <a:spAutoFit/>
          </a:bodyPr>
          <a:lstStyle/>
          <a:p>
            <a:pPr eaLnBrk="1" hangingPunct="1"/>
            <a:r>
              <a:rPr lang="en-US" altLang="zh-TW" dirty="0">
                <a:latin typeface="Georgia" panose="02040502050405020303" pitchFamily="18" charset="0"/>
                <a:ea typeface="新細明體" pitchFamily="18" charset="-120"/>
              </a:rPr>
              <a:t>When UV photoelectrons are collected at different angles, the resultant UPS spectrum will reflect the specific band structure at a certain </a:t>
            </a:r>
            <a:r>
              <a:rPr lang="en-US" altLang="zh-TW" i="1" dirty="0">
                <a:latin typeface="Georgia" panose="02040502050405020303" pitchFamily="18" charset="0"/>
                <a:ea typeface="新細明體" pitchFamily="18" charset="-120"/>
              </a:rPr>
              <a:t>k</a:t>
            </a:r>
            <a:r>
              <a:rPr lang="en-US" altLang="zh-TW" dirty="0">
                <a:latin typeface="Georgia" panose="02040502050405020303" pitchFamily="18" charset="0"/>
                <a:ea typeface="新細明體" pitchFamily="18" charset="-120"/>
              </a:rPr>
              <a:t> value corresponding to the specific angle of collection.</a:t>
            </a:r>
          </a:p>
        </p:txBody>
      </p:sp>
      <p:sp>
        <p:nvSpPr>
          <p:cNvPr id="3" name="Slide Number Placeholder 2">
            <a:extLst>
              <a:ext uri="{FF2B5EF4-FFF2-40B4-BE49-F238E27FC236}">
                <a16:creationId xmlns:a16="http://schemas.microsoft.com/office/drawing/2014/main" id="{637C9181-4FAB-4DBF-92DA-EAE54A276E3E}"/>
              </a:ext>
            </a:extLst>
          </p:cNvPr>
          <p:cNvSpPr>
            <a:spLocks noGrp="1"/>
          </p:cNvSpPr>
          <p:nvPr>
            <p:ph type="sldNum" sz="quarter" idx="11"/>
          </p:nvPr>
        </p:nvSpPr>
        <p:spPr/>
        <p:txBody>
          <a:bodyPr/>
          <a:lstStyle/>
          <a:p>
            <a:pPr>
              <a:defRPr/>
            </a:pPr>
            <a:fld id="{5A031570-0DA8-4A71-BBF6-3150CEB7570B}" type="slidenum">
              <a:rPr lang="zh-TW" altLang="en-US" smtClean="0"/>
              <a:pPr>
                <a:defRPr/>
              </a:pPr>
              <a:t>24</a:t>
            </a:fld>
            <a:endParaRPr lang="en-US" altLang="zh-TW"/>
          </a:p>
        </p:txBody>
      </p:sp>
      <p:sp>
        <p:nvSpPr>
          <p:cNvPr id="4" name="Rectangle 4">
            <a:extLst>
              <a:ext uri="{FF2B5EF4-FFF2-40B4-BE49-F238E27FC236}">
                <a16:creationId xmlns:a16="http://schemas.microsoft.com/office/drawing/2014/main" id="{C1F698E5-429A-79C9-BE2F-208F1FC5C24A}"/>
              </a:ext>
            </a:extLst>
          </p:cNvPr>
          <p:cNvSpPr>
            <a:spLocks noChangeArrowheads="1"/>
          </p:cNvSpPr>
          <p:nvPr/>
        </p:nvSpPr>
        <p:spPr bwMode="auto">
          <a:xfrm>
            <a:off x="679450" y="20947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Angle resolved UPS (ARUPS)</a:t>
            </a:r>
          </a:p>
        </p:txBody>
      </p:sp>
      <p:sp>
        <p:nvSpPr>
          <p:cNvPr id="5" name="矩形 4">
            <a:extLst>
              <a:ext uri="{FF2B5EF4-FFF2-40B4-BE49-F238E27FC236}">
                <a16:creationId xmlns:a16="http://schemas.microsoft.com/office/drawing/2014/main" id="{C9815939-B1AE-CA27-D74F-B7B801D6C248}"/>
              </a:ext>
            </a:extLst>
          </p:cNvPr>
          <p:cNvSpPr>
            <a:spLocks noChangeArrowheads="1"/>
          </p:cNvSpPr>
          <p:nvPr/>
        </p:nvSpPr>
        <p:spPr bwMode="auto">
          <a:xfrm>
            <a:off x="306860" y="5473601"/>
            <a:ext cx="3890824" cy="1200329"/>
          </a:xfrm>
          <a:prstGeom prst="rect">
            <a:avLst/>
          </a:prstGeom>
          <a:noFill/>
          <a:ln w="9525">
            <a:noFill/>
            <a:miter lim="800000"/>
            <a:headEnd/>
            <a:tailEnd/>
          </a:ln>
        </p:spPr>
        <p:txBody>
          <a:bodyPr wrap="square">
            <a:spAutoFit/>
          </a:bodyPr>
          <a:lstStyle/>
          <a:p>
            <a:endParaRPr lang="en-US" altLang="zh-CN" dirty="0">
              <a:latin typeface="Georgia" panose="02040502050405020303" pitchFamily="18" charset="0"/>
              <a:ea typeface="宋体" charset="-122"/>
            </a:endParaRPr>
          </a:p>
          <a:p>
            <a:r>
              <a:rPr lang="en-US" altLang="zh-CN" dirty="0">
                <a:latin typeface="Georgia" panose="02040502050405020303" pitchFamily="18" charset="0"/>
                <a:ea typeface="宋体" charset="-122"/>
              </a:rPr>
              <a:t>It is one of the most direct methods of studying the electronic structure of solid surface</a:t>
            </a:r>
            <a:endParaRPr lang="zh-CN" altLang="en-US" dirty="0">
              <a:latin typeface="Georgia" panose="02040502050405020303" pitchFamily="18" charset="0"/>
              <a:ea typeface="宋体"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13"/>
          <p:cNvGraphicFramePr>
            <a:graphicFrameLocks noChangeAspect="1"/>
          </p:cNvGraphicFramePr>
          <p:nvPr>
            <p:extLst>
              <p:ext uri="{D42A27DB-BD31-4B8C-83A1-F6EECF244321}">
                <p14:modId xmlns:p14="http://schemas.microsoft.com/office/powerpoint/2010/main" val="745968371"/>
              </p:ext>
            </p:extLst>
          </p:nvPr>
        </p:nvGraphicFramePr>
        <p:xfrm>
          <a:off x="914400" y="2664506"/>
          <a:ext cx="3094038" cy="506413"/>
        </p:xfrm>
        <a:graphic>
          <a:graphicData uri="http://schemas.openxmlformats.org/presentationml/2006/ole">
            <mc:AlternateContent xmlns:mc="http://schemas.openxmlformats.org/markup-compatibility/2006">
              <mc:Choice xmlns:v="urn:schemas-microsoft-com:vml" Requires="v">
                <p:oleObj name="Equation" r:id="rId2" imgW="1637589" imgH="266584" progId="Equation.3">
                  <p:embed/>
                </p:oleObj>
              </mc:Choice>
              <mc:Fallback>
                <p:oleObj name="Equation" r:id="rId2" imgW="1637589" imgH="266584" progId="Equation.3">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664506"/>
                        <a:ext cx="3094038" cy="50641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39940" name="Text Box 16"/>
          <p:cNvSpPr txBox="1">
            <a:spLocks noChangeArrowheads="1"/>
          </p:cNvSpPr>
          <p:nvPr/>
        </p:nvSpPr>
        <p:spPr bwMode="auto">
          <a:xfrm>
            <a:off x="2743200" y="3233431"/>
            <a:ext cx="1276503" cy="400110"/>
          </a:xfrm>
          <a:prstGeom prst="rect">
            <a:avLst/>
          </a:prstGeom>
          <a:noFill/>
          <a:ln w="9525">
            <a:noFill/>
            <a:miter lim="800000"/>
            <a:headEnd/>
            <a:tailEnd/>
          </a:ln>
          <a:effectLst/>
        </p:spPr>
        <p:txBody>
          <a:bodyPr wrap="none">
            <a:spAutoFit/>
          </a:bodyPr>
          <a:lstStyle/>
          <a:p>
            <a:r>
              <a:rPr lang="en-US" altLang="zh-CN" sz="2000" b="1" dirty="0">
                <a:latin typeface="Times New Roman" pitchFamily="18" charset="0"/>
                <a:ea typeface="宋体" pitchFamily="2" charset="-122"/>
                <a:cs typeface="Times New Roman" pitchFamily="18" charset="0"/>
              </a:rPr>
              <a:t>Measured</a:t>
            </a:r>
          </a:p>
        </p:txBody>
      </p:sp>
      <p:sp>
        <p:nvSpPr>
          <p:cNvPr id="2" name="Slide Number Placeholder 1">
            <a:extLst>
              <a:ext uri="{FF2B5EF4-FFF2-40B4-BE49-F238E27FC236}">
                <a16:creationId xmlns:a16="http://schemas.microsoft.com/office/drawing/2014/main" id="{BEB02035-48BA-4A41-8ED8-B47E0454858D}"/>
              </a:ext>
            </a:extLst>
          </p:cNvPr>
          <p:cNvSpPr>
            <a:spLocks noGrp="1"/>
          </p:cNvSpPr>
          <p:nvPr>
            <p:ph type="sldNum" sz="quarter" idx="11"/>
          </p:nvPr>
        </p:nvSpPr>
        <p:spPr/>
        <p:txBody>
          <a:bodyPr/>
          <a:lstStyle/>
          <a:p>
            <a:pPr>
              <a:defRPr/>
            </a:pPr>
            <a:fld id="{5A031570-0DA8-4A71-BBF6-3150CEB7570B}" type="slidenum">
              <a:rPr lang="zh-TW" altLang="en-US" smtClean="0"/>
              <a:pPr>
                <a:defRPr/>
              </a:pPr>
              <a:t>25</a:t>
            </a:fld>
            <a:endParaRPr lang="en-US" altLang="zh-TW"/>
          </a:p>
        </p:txBody>
      </p:sp>
      <p:sp>
        <p:nvSpPr>
          <p:cNvPr id="3" name="Rectangle 34">
            <a:extLst>
              <a:ext uri="{FF2B5EF4-FFF2-40B4-BE49-F238E27FC236}">
                <a16:creationId xmlns:a16="http://schemas.microsoft.com/office/drawing/2014/main" id="{3904BF1E-E831-9FC3-598F-AE22099A77AD}"/>
              </a:ext>
            </a:extLst>
          </p:cNvPr>
          <p:cNvSpPr>
            <a:spLocks noChangeArrowheads="1"/>
          </p:cNvSpPr>
          <p:nvPr/>
        </p:nvSpPr>
        <p:spPr bwMode="auto">
          <a:xfrm>
            <a:off x="571500" y="1054583"/>
            <a:ext cx="8267700" cy="1323439"/>
          </a:xfrm>
          <a:prstGeom prst="rect">
            <a:avLst/>
          </a:prstGeom>
          <a:noFill/>
          <a:ln w="9525">
            <a:noFill/>
            <a:miter lim="800000"/>
            <a:headEnd/>
            <a:tailEnd/>
          </a:ln>
          <a:effectLst/>
        </p:spPr>
        <p:txBody>
          <a:bodyPr wrap="square">
            <a:spAutoFit/>
          </a:bodyPr>
          <a:lstStyle/>
          <a:p>
            <a:r>
              <a:rPr lang="en-US" sz="2000" dirty="0">
                <a:latin typeface="Georgia" panose="02040502050405020303" pitchFamily="18" charset="0"/>
              </a:rPr>
              <a:t>The key of ARPES is to establish a quantitative connection between the </a:t>
            </a:r>
            <a:r>
              <a:rPr lang="en-US" sz="2000" b="1" dirty="0">
                <a:latin typeface="Georgia" panose="02040502050405020303" pitchFamily="18" charset="0"/>
              </a:rPr>
              <a:t>emission angle of photoelectrons</a:t>
            </a:r>
            <a:r>
              <a:rPr lang="en-US" sz="2000" dirty="0">
                <a:latin typeface="Georgia" panose="02040502050405020303" pitchFamily="18" charset="0"/>
              </a:rPr>
              <a:t> and the </a:t>
            </a:r>
            <a:r>
              <a:rPr lang="en-US" sz="2000" b="1" dirty="0">
                <a:latin typeface="Georgia" panose="02040502050405020303" pitchFamily="18" charset="0"/>
              </a:rPr>
              <a:t>in-plane momentum of electrons inside the sample</a:t>
            </a:r>
            <a:r>
              <a:rPr lang="en-US" sz="2000" dirty="0">
                <a:latin typeface="Georgia" panose="02040502050405020303" pitchFamily="18" charset="0"/>
              </a:rPr>
              <a:t>, thereby deriving the intrinsic electronic structure of the material.</a:t>
            </a:r>
            <a:r>
              <a:rPr lang="en-US" altLang="zh-CN" sz="2000" dirty="0">
                <a:latin typeface="Georgia" panose="02040502050405020303" pitchFamily="18" charset="0"/>
                <a:ea typeface="宋体" pitchFamily="2" charset="-122"/>
              </a:rPr>
              <a:t>.</a:t>
            </a:r>
            <a:endParaRPr lang="zh-CN" altLang="en-US" sz="2000" dirty="0">
              <a:latin typeface="Georgia" panose="02040502050405020303" pitchFamily="18" charset="0"/>
              <a:ea typeface="宋体" pitchFamily="2" charset="-122"/>
            </a:endParaRPr>
          </a:p>
        </p:txBody>
      </p:sp>
      <p:sp>
        <p:nvSpPr>
          <p:cNvPr id="4" name="Rectangle 25">
            <a:extLst>
              <a:ext uri="{FF2B5EF4-FFF2-40B4-BE49-F238E27FC236}">
                <a16:creationId xmlns:a16="http://schemas.microsoft.com/office/drawing/2014/main" id="{AC240A28-FCDC-B733-30EE-E4941227BAE0}"/>
              </a:ext>
            </a:extLst>
          </p:cNvPr>
          <p:cNvSpPr>
            <a:spLocks noChangeArrowheads="1"/>
          </p:cNvSpPr>
          <p:nvPr/>
        </p:nvSpPr>
        <p:spPr bwMode="auto">
          <a:xfrm>
            <a:off x="4400550" y="2281885"/>
            <a:ext cx="4267200" cy="2031325"/>
          </a:xfrm>
          <a:prstGeom prst="rect">
            <a:avLst/>
          </a:prstGeom>
          <a:noFill/>
          <a:ln w="9525">
            <a:noFill/>
            <a:miter lim="800000"/>
            <a:headEnd/>
            <a:tailEnd/>
          </a:ln>
          <a:effectLst/>
        </p:spPr>
        <p:txBody>
          <a:bodyPr wrap="square" anchor="ctr">
            <a:spAutoFit/>
          </a:bodyPr>
          <a:lstStyle/>
          <a:p>
            <a:pPr eaLnBrk="1" hangingPunct="1"/>
            <a:br>
              <a:rPr lang="en-US" altLang="zh-CN" dirty="0">
                <a:latin typeface="Times New Roman" pitchFamily="18" charset="0"/>
                <a:ea typeface="宋体" pitchFamily="2" charset="-122"/>
                <a:cs typeface="Times New Roman" pitchFamily="18" charset="0"/>
              </a:rPr>
            </a:br>
            <a:r>
              <a:rPr lang="en-US" altLang="zh-CN" dirty="0">
                <a:solidFill>
                  <a:schemeClr val="bg2">
                    <a:lumMod val="60000"/>
                    <a:lumOff val="40000"/>
                  </a:schemeClr>
                </a:solidFill>
                <a:latin typeface="Times New Roman" pitchFamily="18" charset="0"/>
                <a:ea typeface="宋体" pitchFamily="2" charset="-122"/>
                <a:cs typeface="Times New Roman" pitchFamily="18" charset="0"/>
              </a:rPr>
              <a:t>E</a:t>
            </a:r>
            <a:r>
              <a:rPr lang="en-US" altLang="zh-CN" baseline="-25000" dirty="0">
                <a:solidFill>
                  <a:schemeClr val="bg2">
                    <a:lumMod val="60000"/>
                    <a:lumOff val="40000"/>
                  </a:schemeClr>
                </a:solidFill>
                <a:latin typeface="Times New Roman" pitchFamily="18" charset="0"/>
                <a:ea typeface="宋体" pitchFamily="2" charset="-122"/>
                <a:cs typeface="Times New Roman" pitchFamily="18" charset="0"/>
              </a:rPr>
              <a:t>k</a:t>
            </a:r>
            <a:r>
              <a:rPr lang="en-US" altLang="zh-CN" dirty="0">
                <a:solidFill>
                  <a:schemeClr val="bg2">
                    <a:lumMod val="60000"/>
                    <a:lumOff val="40000"/>
                  </a:schemeClr>
                </a:solidFill>
                <a:latin typeface="Times New Roman" pitchFamily="18" charset="0"/>
                <a:ea typeface="宋体" pitchFamily="2" charset="-122"/>
                <a:cs typeface="Times New Roman" pitchFamily="18" charset="0"/>
              </a:rPr>
              <a:t> </a:t>
            </a:r>
            <a:r>
              <a:rPr lang="en-US" altLang="zh-CN" dirty="0">
                <a:latin typeface="Times New Roman" pitchFamily="18" charset="0"/>
                <a:ea typeface="宋体" pitchFamily="2" charset="-122"/>
                <a:cs typeface="Times New Roman" pitchFamily="18" charset="0"/>
              </a:rPr>
              <a:t>         </a:t>
            </a:r>
          </a:p>
          <a:p>
            <a:pPr eaLnBrk="1" hangingPunct="1"/>
            <a:r>
              <a:rPr lang="en-US" altLang="zh-CN" dirty="0">
                <a:latin typeface="Times New Roman" pitchFamily="18" charset="0"/>
                <a:ea typeface="宋体" pitchFamily="2" charset="-122"/>
                <a:cs typeface="Times New Roman" pitchFamily="18" charset="0"/>
              </a:rPr>
              <a:t>kinetic energy of the outgoing electron</a:t>
            </a:r>
          </a:p>
          <a:p>
            <a:pPr eaLnBrk="1" hangingPunct="1"/>
            <a:br>
              <a:rPr lang="en-US" altLang="zh-CN" dirty="0">
                <a:solidFill>
                  <a:srgbClr val="0000FF"/>
                </a:solidFill>
                <a:latin typeface="Times New Roman" pitchFamily="18" charset="0"/>
                <a:ea typeface="宋体" pitchFamily="2" charset="-122"/>
                <a:cs typeface="Times New Roman" pitchFamily="18" charset="0"/>
              </a:rPr>
            </a:br>
            <a:r>
              <a:rPr lang="en-US" altLang="zh-CN" dirty="0" err="1">
                <a:solidFill>
                  <a:schemeClr val="bg2">
                    <a:lumMod val="60000"/>
                    <a:lumOff val="40000"/>
                  </a:schemeClr>
                </a:solidFill>
                <a:latin typeface="Times New Roman" pitchFamily="18" charset="0"/>
                <a:ea typeface="宋体" pitchFamily="2" charset="-122"/>
                <a:cs typeface="Times New Roman" pitchFamily="18" charset="0"/>
              </a:rPr>
              <a:t>hk</a:t>
            </a:r>
            <a:r>
              <a:rPr lang="en-US" altLang="zh-CN" baseline="-25000" dirty="0" err="1">
                <a:solidFill>
                  <a:schemeClr val="bg2">
                    <a:lumMod val="60000"/>
                    <a:lumOff val="40000"/>
                  </a:schemeClr>
                </a:solidFill>
                <a:latin typeface="Times New Roman" pitchFamily="18" charset="0"/>
                <a:ea typeface="宋体" pitchFamily="2" charset="-122"/>
                <a:cs typeface="Times New Roman" pitchFamily="18" charset="0"/>
              </a:rPr>
              <a:t>vacuum</a:t>
            </a:r>
            <a:r>
              <a:rPr lang="en-US" altLang="zh-CN" dirty="0">
                <a:solidFill>
                  <a:schemeClr val="bg2">
                    <a:lumMod val="60000"/>
                    <a:lumOff val="40000"/>
                  </a:schemeClr>
                </a:solidFill>
                <a:latin typeface="Times New Roman" pitchFamily="18" charset="0"/>
                <a:ea typeface="宋体" pitchFamily="2" charset="-122"/>
                <a:cs typeface="Times New Roman" pitchFamily="18" charset="0"/>
              </a:rPr>
              <a:t>   </a:t>
            </a:r>
            <a:r>
              <a:rPr lang="en-US" altLang="zh-CN" dirty="0">
                <a:latin typeface="Times New Roman" pitchFamily="18" charset="0"/>
                <a:ea typeface="宋体" pitchFamily="2" charset="-122"/>
                <a:cs typeface="Times New Roman" pitchFamily="18" charset="0"/>
              </a:rPr>
              <a:t>       </a:t>
            </a:r>
          </a:p>
          <a:p>
            <a:pPr eaLnBrk="1" hangingPunct="1"/>
            <a:r>
              <a:rPr lang="en-US" altLang="zh-CN" dirty="0">
                <a:latin typeface="Times New Roman" pitchFamily="18" charset="0"/>
                <a:ea typeface="宋体" pitchFamily="2" charset="-122"/>
                <a:cs typeface="Times New Roman" pitchFamily="18" charset="0"/>
              </a:rPr>
              <a:t>momentum of the outgoing electron</a:t>
            </a:r>
            <a:br>
              <a:rPr lang="en-US" altLang="zh-CN" dirty="0">
                <a:solidFill>
                  <a:srgbClr val="0000FF"/>
                </a:solidFill>
                <a:latin typeface="Times New Roman" pitchFamily="18" charset="0"/>
                <a:ea typeface="宋体" pitchFamily="2" charset="-122"/>
                <a:cs typeface="Times New Roman" pitchFamily="18" charset="0"/>
              </a:rPr>
            </a:br>
            <a:endParaRPr lang="en-US" altLang="zh-CN" dirty="0">
              <a:latin typeface="Times New Roman" pitchFamily="18" charset="0"/>
              <a:ea typeface="宋体" pitchFamily="2" charset="-122"/>
              <a:cs typeface="Times New Roman" pitchFamily="18" charset="0"/>
            </a:endParaRPr>
          </a:p>
        </p:txBody>
      </p:sp>
      <p:sp>
        <p:nvSpPr>
          <p:cNvPr id="5" name="TextBox 4">
            <a:extLst>
              <a:ext uri="{FF2B5EF4-FFF2-40B4-BE49-F238E27FC236}">
                <a16:creationId xmlns:a16="http://schemas.microsoft.com/office/drawing/2014/main" id="{94882FE6-1614-F532-D2E2-FF455E701A99}"/>
              </a:ext>
            </a:extLst>
          </p:cNvPr>
          <p:cNvSpPr txBox="1"/>
          <p:nvPr/>
        </p:nvSpPr>
        <p:spPr>
          <a:xfrm>
            <a:off x="685800" y="4313210"/>
            <a:ext cx="7924800" cy="2015936"/>
          </a:xfrm>
          <a:prstGeom prst="rect">
            <a:avLst/>
          </a:prstGeom>
          <a:noFill/>
        </p:spPr>
        <p:txBody>
          <a:bodyPr wrap="square">
            <a:spAutoFit/>
          </a:bodyPr>
          <a:lstStyle/>
          <a:p>
            <a:pPr algn="l">
              <a:spcBef>
                <a:spcPts val="0"/>
              </a:spcBef>
              <a:spcAft>
                <a:spcPts val="600"/>
              </a:spcAft>
              <a:buFont typeface="+mj-lt"/>
              <a:buAutoNum type="arabicPeriod"/>
            </a:pPr>
            <a:r>
              <a:rPr lang="en-US" sz="2000" b="1" i="0" dirty="0">
                <a:solidFill>
                  <a:srgbClr val="000000"/>
                </a:solidFill>
                <a:effectLst/>
                <a:latin typeface="Georgia" panose="02040502050405020303" pitchFamily="18" charset="0"/>
              </a:rPr>
              <a:t>Vertical momentum component (</a:t>
            </a:r>
            <a:r>
              <a:rPr lang="en-US" sz="2000" b="1" i="1" dirty="0">
                <a:solidFill>
                  <a:srgbClr val="000000"/>
                </a:solidFill>
                <a:effectLst/>
                <a:latin typeface="Georgia" panose="02040502050405020303" pitchFamily="18" charset="0"/>
              </a:rPr>
              <a:t>p</a:t>
            </a:r>
            <a:r>
              <a:rPr lang="en-US" sz="2000" b="1" i="0" dirty="0">
                <a:solidFill>
                  <a:srgbClr val="000000"/>
                </a:solidFill>
                <a:effectLst/>
                <a:latin typeface="Georgia" panose="02040502050405020303" pitchFamily="18" charset="0"/>
              </a:rPr>
              <a:t>⊥​)</a:t>
            </a:r>
            <a:r>
              <a:rPr lang="en-US" sz="2000" b="0" i="0" dirty="0">
                <a:solidFill>
                  <a:srgbClr val="222222"/>
                </a:solidFill>
                <a:effectLst/>
                <a:latin typeface="Georgia" panose="02040502050405020303" pitchFamily="18" charset="0"/>
              </a:rPr>
              <a:t>: Perpendicular to the sample surface, its magnitude is related to the binding energy of electrons and the surface barrier (work function).</a:t>
            </a:r>
          </a:p>
          <a:p>
            <a:pPr algn="l">
              <a:spcBef>
                <a:spcPts val="0"/>
              </a:spcBef>
              <a:spcAft>
                <a:spcPts val="600"/>
              </a:spcAft>
              <a:buFont typeface="+mj-lt"/>
              <a:buAutoNum type="arabicPeriod"/>
            </a:pPr>
            <a:r>
              <a:rPr lang="en-US" sz="2000" b="1" i="0" dirty="0">
                <a:solidFill>
                  <a:srgbClr val="000000"/>
                </a:solidFill>
                <a:effectLst/>
                <a:latin typeface="Georgia" panose="02040502050405020303" pitchFamily="18" charset="0"/>
              </a:rPr>
              <a:t>In-plane momentum component (</a:t>
            </a:r>
            <a:r>
              <a:rPr lang="en-US" sz="2000" b="1" i="1" dirty="0">
                <a:solidFill>
                  <a:srgbClr val="000000"/>
                </a:solidFill>
                <a:effectLst/>
                <a:latin typeface="Georgia" panose="02040502050405020303" pitchFamily="18" charset="0"/>
              </a:rPr>
              <a:t>p</a:t>
            </a:r>
            <a:r>
              <a:rPr lang="en-US" sz="2000" b="1" i="0" dirty="0">
                <a:solidFill>
                  <a:srgbClr val="000000"/>
                </a:solidFill>
                <a:effectLst/>
                <a:latin typeface="Georgia" panose="02040502050405020303" pitchFamily="18" charset="0"/>
              </a:rPr>
              <a:t>∣∣​)</a:t>
            </a:r>
            <a:r>
              <a:rPr lang="en-US" sz="2000" b="0" i="0" dirty="0">
                <a:solidFill>
                  <a:srgbClr val="222222"/>
                </a:solidFill>
                <a:effectLst/>
                <a:latin typeface="Georgia" panose="02040502050405020303" pitchFamily="18" charset="0"/>
              </a:rPr>
              <a:t>: Parallel to the sample surface, it is the key physical quantity for ARPES to characterize the electronic structure.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FFEBC-BF01-9089-EC1D-E4B6D42A30E5}"/>
            </a:ext>
          </a:extLst>
        </p:cNvPr>
        <p:cNvGrpSpPr/>
        <p:nvPr/>
      </p:nvGrpSpPr>
      <p:grpSpPr>
        <a:xfrm>
          <a:off x="0" y="0"/>
          <a:ext cx="0" cy="0"/>
          <a:chOff x="0" y="0"/>
          <a:chExt cx="0" cy="0"/>
        </a:xfrm>
      </p:grpSpPr>
      <p:sp>
        <p:nvSpPr>
          <p:cNvPr id="39947" name="Rectangle 34">
            <a:extLst>
              <a:ext uri="{FF2B5EF4-FFF2-40B4-BE49-F238E27FC236}">
                <a16:creationId xmlns:a16="http://schemas.microsoft.com/office/drawing/2014/main" id="{BDF34A0F-7363-76DC-23D0-3F8119ADC773}"/>
              </a:ext>
            </a:extLst>
          </p:cNvPr>
          <p:cNvSpPr>
            <a:spLocks noChangeArrowheads="1"/>
          </p:cNvSpPr>
          <p:nvPr/>
        </p:nvSpPr>
        <p:spPr bwMode="auto">
          <a:xfrm>
            <a:off x="457200" y="2426607"/>
            <a:ext cx="4876800" cy="1323439"/>
          </a:xfrm>
          <a:prstGeom prst="rect">
            <a:avLst/>
          </a:prstGeom>
          <a:noFill/>
          <a:ln w="9525">
            <a:noFill/>
            <a:miter lim="800000"/>
            <a:headEnd/>
            <a:tailEnd/>
          </a:ln>
          <a:effectLst/>
        </p:spPr>
        <p:txBody>
          <a:bodyPr wrap="square">
            <a:spAutoFit/>
          </a:bodyPr>
          <a:lstStyle/>
          <a:p>
            <a:r>
              <a:rPr lang="en-US" altLang="zh-CN" sz="2000" dirty="0">
                <a:latin typeface="Georgia" panose="02040502050405020303" pitchFamily="18" charset="0"/>
                <a:ea typeface="宋体" pitchFamily="2" charset="-122"/>
              </a:rPr>
              <a:t>Measurement of the dispersion curve requires a determination of the initial wave vector of the emitted photoelectrons.</a:t>
            </a:r>
            <a:endParaRPr lang="zh-CN" altLang="en-US" sz="2000" dirty="0">
              <a:latin typeface="Georgia" panose="02040502050405020303" pitchFamily="18" charset="0"/>
              <a:ea typeface="宋体" pitchFamily="2" charset="-122"/>
            </a:endParaRPr>
          </a:p>
        </p:txBody>
      </p:sp>
      <p:sp>
        <p:nvSpPr>
          <p:cNvPr id="2" name="Slide Number Placeholder 1">
            <a:extLst>
              <a:ext uri="{FF2B5EF4-FFF2-40B4-BE49-F238E27FC236}">
                <a16:creationId xmlns:a16="http://schemas.microsoft.com/office/drawing/2014/main" id="{C916AAD1-0899-14A9-367B-171699E26C4F}"/>
              </a:ext>
            </a:extLst>
          </p:cNvPr>
          <p:cNvSpPr>
            <a:spLocks noGrp="1"/>
          </p:cNvSpPr>
          <p:nvPr>
            <p:ph type="sldNum" sz="quarter" idx="11"/>
          </p:nvPr>
        </p:nvSpPr>
        <p:spPr/>
        <p:txBody>
          <a:bodyPr/>
          <a:lstStyle/>
          <a:p>
            <a:pPr>
              <a:defRPr/>
            </a:pPr>
            <a:fld id="{5A031570-0DA8-4A71-BBF6-3150CEB7570B}" type="slidenum">
              <a:rPr lang="zh-TW" altLang="en-US" smtClean="0"/>
              <a:pPr>
                <a:defRPr/>
              </a:pPr>
              <a:t>26</a:t>
            </a:fld>
            <a:endParaRPr lang="en-US" altLang="zh-TW"/>
          </a:p>
        </p:txBody>
      </p:sp>
      <mc:AlternateContent xmlns:mc="http://schemas.openxmlformats.org/markup-compatibility/2006" xmlns:a14="http://schemas.microsoft.com/office/drawing/2010/main">
        <mc:Choice Requires="a14">
          <p:sp>
            <p:nvSpPr>
              <p:cNvPr id="7" name="Object 13">
                <a:extLst>
                  <a:ext uri="{FF2B5EF4-FFF2-40B4-BE49-F238E27FC236}">
                    <a16:creationId xmlns:a16="http://schemas.microsoft.com/office/drawing/2014/main" id="{C27C2460-0959-6F3D-547F-AE8D6128CE7E}"/>
                  </a:ext>
                </a:extLst>
              </p:cNvPr>
              <p:cNvSpPr txBox="1"/>
              <p:nvPr/>
            </p:nvSpPr>
            <p:spPr bwMode="auto">
              <a:xfrm>
                <a:off x="-762000" y="1197929"/>
                <a:ext cx="7095877" cy="1143000"/>
              </a:xfrm>
              <a:prstGeom prst="rect">
                <a:avLst/>
              </a:prstGeom>
              <a:noFill/>
              <a:extLst>
                <a:ext uri="{909E8E84-426E-40dd-AFC4-6F175D3DCCD1}">
                  <a14:hiddenFill xmlns="">
                    <a:solidFill>
                      <a:srgbClr val="FFFFFF"/>
                    </a:solidFill>
                  </a14:hiddenFill>
                </a:ext>
              </a:extLst>
            </p:spPr>
            <p:txBody>
              <a:bodyPr>
                <a:normAutofit/>
              </a:bodyPr>
              <a:lstStyle/>
              <a:p>
                <a:pPr/>
                <a14:m>
                  <m:oMathPara xmlns:m="http://schemas.openxmlformats.org/officeDocument/2006/math">
                    <m:oMath>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𝑝</m:t>
                          </m:r>
                        </m:e>
                        <m:sub>
                          <m:r>
                            <a:rPr lang="en-HK" sz="2400" i="1">
                              <a:solidFill>
                                <a:srgbClr val="000000"/>
                              </a:solidFill>
                              <a:latin typeface="Cambria Math" panose="02040503050406030204" pitchFamily="18" charset="0"/>
                            </a:rPr>
                            <m:t>𝑣𝑎𝑐𝑢𝑢𝑚</m:t>
                          </m:r>
                          <m:r>
                            <a:rPr lang="en-HK" sz="2400" b="0" i="1" smtClean="0">
                              <a:solidFill>
                                <a:srgbClr val="000000"/>
                              </a:solidFill>
                              <a:latin typeface="Cambria Math" panose="02040503050406030204" pitchFamily="18" charset="0"/>
                            </a:rPr>
                            <m:t>, </m:t>
                          </m:r>
                          <m:r>
                            <a:rPr lang="en-HK" sz="2400" b="0" i="1" smtClean="0">
                              <a:solidFill>
                                <a:srgbClr val="000000"/>
                              </a:solidFill>
                              <a:latin typeface="Cambria Math" panose="02040503050406030204" pitchFamily="18" charset="0"/>
                              <a:ea typeface="Cambria Math" panose="02040503050406030204" pitchFamily="18" charset="0"/>
                            </a:rPr>
                            <m:t>∥</m:t>
                          </m:r>
                        </m:sub>
                      </m:sSub>
                      <m:r>
                        <a:rPr lang="en-HK" sz="2400" i="1">
                          <a:solidFill>
                            <a:srgbClr val="000000"/>
                          </a:solidFill>
                          <a:latin typeface="Cambria Math" panose="02040503050406030204" pitchFamily="18" charset="0"/>
                        </a:rPr>
                        <m:t>=</m:t>
                      </m:r>
                      <m:r>
                        <m:rPr>
                          <m:sty m:val="p"/>
                        </m:rPr>
                        <a:rPr lang="en-HK" sz="2400" i="1">
                          <a:solidFill>
                            <a:srgbClr val="000000"/>
                          </a:solidFill>
                          <a:latin typeface="Cambria Math" panose="02040503050406030204" pitchFamily="18" charset="0"/>
                        </a:rPr>
                        <m:t>ℏ</m:t>
                      </m:r>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𝑘</m:t>
                          </m:r>
                        </m:e>
                        <m:sub>
                          <m:r>
                            <a:rPr lang="en-HK" sz="2400" i="1">
                              <a:solidFill>
                                <a:srgbClr val="000000"/>
                              </a:solidFill>
                              <a:latin typeface="Cambria Math" panose="02040503050406030204" pitchFamily="18" charset="0"/>
                            </a:rPr>
                            <m:t>𝑣𝑎𝑐𝑢𝑢𝑚</m:t>
                          </m:r>
                          <m:r>
                            <a:rPr lang="en-HK" sz="2400" b="0" i="1" smtClean="0">
                              <a:solidFill>
                                <a:srgbClr val="000000"/>
                              </a:solidFill>
                              <a:latin typeface="Cambria Math" panose="02040503050406030204" pitchFamily="18" charset="0"/>
                            </a:rPr>
                            <m:t>,</m:t>
                          </m:r>
                          <m:r>
                            <a:rPr lang="en-HK" sz="2400" i="1">
                              <a:solidFill>
                                <a:srgbClr val="000000"/>
                              </a:solidFill>
                              <a:latin typeface="Cambria Math" panose="02040503050406030204" pitchFamily="18" charset="0"/>
                              <a:ea typeface="Cambria Math" panose="02040503050406030204" pitchFamily="18" charset="0"/>
                            </a:rPr>
                            <m:t>∥</m:t>
                          </m:r>
                        </m:sub>
                      </m:sSub>
                      <m:r>
                        <a:rPr lang="en-HK" sz="2400" i="1">
                          <a:solidFill>
                            <a:srgbClr val="000000"/>
                          </a:solidFill>
                          <a:latin typeface="Cambria Math" panose="02040503050406030204" pitchFamily="18" charset="0"/>
                        </a:rPr>
                        <m:t>=</m:t>
                      </m:r>
                      <m:rad>
                        <m:radPr>
                          <m:degHide m:val="on"/>
                          <m:ctrlPr>
                            <a:rPr lang="en-HK" sz="2400" i="1">
                              <a:solidFill>
                                <a:srgbClr val="000000"/>
                              </a:solidFill>
                              <a:latin typeface="Cambria Math" panose="02040503050406030204" pitchFamily="18" charset="0"/>
                            </a:rPr>
                          </m:ctrlPr>
                        </m:radPr>
                        <m:deg/>
                        <m:e>
                          <m:r>
                            <a:rPr lang="en-HK" sz="2400" i="1">
                              <a:solidFill>
                                <a:srgbClr val="000000"/>
                              </a:solidFill>
                              <a:latin typeface="Cambria Math" panose="02040503050406030204" pitchFamily="18" charset="0"/>
                            </a:rPr>
                            <m:t>2</m:t>
                          </m:r>
                          <m:r>
                            <a:rPr lang="en-HK" sz="2400" i="1">
                              <a:solidFill>
                                <a:srgbClr val="000000"/>
                              </a:solidFill>
                              <a:latin typeface="Cambria Math" panose="02040503050406030204" pitchFamily="18" charset="0"/>
                            </a:rPr>
                            <m:t>𝑚</m:t>
                          </m:r>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𝐸</m:t>
                              </m:r>
                            </m:e>
                            <m:sub>
                              <m:r>
                                <a:rPr lang="en-HK" sz="2400" i="1">
                                  <a:solidFill>
                                    <a:srgbClr val="000000"/>
                                  </a:solidFill>
                                  <a:latin typeface="Cambria Math" panose="02040503050406030204" pitchFamily="18" charset="0"/>
                                </a:rPr>
                                <m:t>𝑘</m:t>
                              </m:r>
                              <m:r>
                                <a:rPr lang="en-HK" sz="2400" b="0" i="1" smtClean="0">
                                  <a:solidFill>
                                    <a:srgbClr val="000000"/>
                                  </a:solidFill>
                                  <a:latin typeface="Cambria Math" panose="02040503050406030204" pitchFamily="18" charset="0"/>
                                </a:rPr>
                                <m:t>,</m:t>
                              </m:r>
                              <m:r>
                                <a:rPr lang="en-HK" sz="2400" b="0" i="1" smtClean="0">
                                  <a:solidFill>
                                    <a:srgbClr val="000000"/>
                                  </a:solidFill>
                                  <a:latin typeface="Cambria Math" panose="02040503050406030204" pitchFamily="18" charset="0"/>
                                  <a:ea typeface="Cambria Math" panose="02040503050406030204" pitchFamily="18" charset="0"/>
                                </a:rPr>
                                <m:t>∥</m:t>
                              </m:r>
                            </m:sub>
                          </m:sSub>
                        </m:e>
                      </m:rad>
                    </m:oMath>
                  </m:oMathPara>
                </a14:m>
                <a:endParaRPr lang="en-HK" sz="2400" b="0" dirty="0">
                  <a:solidFill>
                    <a:srgbClr val="000000"/>
                  </a:solidFill>
                  <a:ea typeface="Cambria Math" panose="02040503050406030204" pitchFamily="18" charset="0"/>
                </a:endParaRPr>
              </a:p>
              <a:p>
                <a:r>
                  <a:rPr lang="en-HK" sz="2400" dirty="0"/>
                  <a:t>		        </a:t>
                </a:r>
                <a14:m>
                  <m:oMath xmlns:m="http://schemas.openxmlformats.org/officeDocument/2006/math">
                    <m:r>
                      <a:rPr lang="en-HK" sz="2400" i="1">
                        <a:solidFill>
                          <a:srgbClr val="000000"/>
                        </a:solidFill>
                        <a:latin typeface="Cambria Math" panose="02040503050406030204" pitchFamily="18" charset="0"/>
                      </a:rPr>
                      <m:t>=</m:t>
                    </m:r>
                    <m:rad>
                      <m:radPr>
                        <m:degHide m:val="on"/>
                        <m:ctrlPr>
                          <a:rPr lang="en-HK" sz="2400" i="1">
                            <a:solidFill>
                              <a:srgbClr val="000000"/>
                            </a:solidFill>
                            <a:latin typeface="Cambria Math" panose="02040503050406030204" pitchFamily="18" charset="0"/>
                          </a:rPr>
                        </m:ctrlPr>
                      </m:radPr>
                      <m:deg/>
                      <m:e>
                        <m:r>
                          <a:rPr lang="en-HK" sz="2400" i="1">
                            <a:solidFill>
                              <a:srgbClr val="000000"/>
                            </a:solidFill>
                            <a:latin typeface="Cambria Math" panose="02040503050406030204" pitchFamily="18" charset="0"/>
                          </a:rPr>
                          <m:t>2</m:t>
                        </m:r>
                        <m:r>
                          <a:rPr lang="en-HK" sz="2400" i="1">
                            <a:solidFill>
                              <a:srgbClr val="000000"/>
                            </a:solidFill>
                            <a:latin typeface="Cambria Math" panose="02040503050406030204" pitchFamily="18" charset="0"/>
                          </a:rPr>
                          <m:t>𝑚</m:t>
                        </m:r>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𝐸</m:t>
                            </m:r>
                          </m:e>
                          <m:sub>
                            <m:r>
                              <a:rPr lang="en-HK" sz="2400" i="1">
                                <a:solidFill>
                                  <a:srgbClr val="000000"/>
                                </a:solidFill>
                                <a:latin typeface="Cambria Math" panose="02040503050406030204" pitchFamily="18" charset="0"/>
                              </a:rPr>
                              <m:t>𝑘</m:t>
                            </m:r>
                          </m:sub>
                        </m:sSub>
                      </m:e>
                    </m:rad>
                    <m:func>
                      <m:funcPr>
                        <m:ctrlPr>
                          <a:rPr lang="en-HK" sz="2400">
                            <a:solidFill>
                              <a:srgbClr val="000000"/>
                            </a:solidFill>
                            <a:latin typeface="Cambria Math" panose="02040503050406030204" pitchFamily="18" charset="0"/>
                          </a:rPr>
                        </m:ctrlPr>
                      </m:funcPr>
                      <m:fName>
                        <m:r>
                          <m:rPr>
                            <m:sty m:val="p"/>
                          </m:rPr>
                          <a:rPr lang="en-HK" sz="2400">
                            <a:solidFill>
                              <a:srgbClr val="000000"/>
                            </a:solidFill>
                            <a:latin typeface="Cambria Math" panose="02040503050406030204" pitchFamily="18" charset="0"/>
                          </a:rPr>
                          <m:t>sin</m:t>
                        </m:r>
                      </m:fName>
                      <m:e>
                        <m:r>
                          <a:rPr lang="en-HK" sz="2400" i="1">
                            <a:solidFill>
                              <a:srgbClr val="000000"/>
                            </a:solidFill>
                            <a:latin typeface="Cambria Math" panose="02040503050406030204" pitchFamily="18" charset="0"/>
                            <a:ea typeface="Cambria Math" panose="02040503050406030204" pitchFamily="18" charset="0"/>
                          </a:rPr>
                          <m:t>𝜃</m:t>
                        </m:r>
                      </m:e>
                    </m:func>
                  </m:oMath>
                </a14:m>
                <a:r>
                  <a:rPr lang="en-HK" sz="2400" dirty="0">
                    <a:solidFill>
                      <a:srgbClr val="000000"/>
                    </a:solidFill>
                  </a:rPr>
                  <a:t> </a:t>
                </a:r>
                <a:endParaRPr lang="en-HK" sz="2400" dirty="0"/>
              </a:p>
            </p:txBody>
          </p:sp>
        </mc:Choice>
        <mc:Fallback xmlns="">
          <p:sp>
            <p:nvSpPr>
              <p:cNvPr id="7" name="Object 13">
                <a:extLst>
                  <a:ext uri="{FF2B5EF4-FFF2-40B4-BE49-F238E27FC236}">
                    <a16:creationId xmlns:a16="http://schemas.microsoft.com/office/drawing/2014/main" id="{C27C2460-0959-6F3D-547F-AE8D6128CE7E}"/>
                  </a:ext>
                </a:extLst>
              </p:cNvPr>
              <p:cNvSpPr txBox="1">
                <a:spLocks noRot="1" noChangeAspect="1" noMove="1" noResize="1" noEditPoints="1" noAdjustHandles="1" noChangeArrowheads="1" noChangeShapeType="1" noTextEdit="1"/>
              </p:cNvSpPr>
              <p:nvPr/>
            </p:nvSpPr>
            <p:spPr bwMode="auto">
              <a:xfrm>
                <a:off x="-762000" y="1197929"/>
                <a:ext cx="7095877" cy="1143000"/>
              </a:xfrm>
              <a:prstGeom prst="rect">
                <a:avLst/>
              </a:prstGeom>
              <a:blipFill>
                <a:blip r:embed="rId2"/>
                <a:stretch>
                  <a:fillRect/>
                </a:stretch>
              </a:blipFill>
              <a:extLst>
                <a:ext uri="{909E8E84-426E-40dd-AFC4-6F175D3DCCD1}">
                  <a14:hiddenFill xmlns="" xmlns:a14="http://schemas.microsoft.com/office/drawing/2010/main">
                    <a:solidFill>
                      <a:srgbClr val="FFFFFF"/>
                    </a:solidFill>
                  </a14:hiddenFill>
                </a:ext>
              </a:extLst>
            </p:spPr>
            <p:txBody>
              <a:bodyPr/>
              <a:lstStyle/>
              <a:p>
                <a:r>
                  <a:rPr lang="en-HK">
                    <a:noFill/>
                  </a:rPr>
                  <a:t> </a:t>
                </a:r>
              </a:p>
            </p:txBody>
          </p:sp>
        </mc:Fallback>
      </mc:AlternateContent>
      <p:grpSp>
        <p:nvGrpSpPr>
          <p:cNvPr id="4" name="Group 3">
            <a:extLst>
              <a:ext uri="{FF2B5EF4-FFF2-40B4-BE49-F238E27FC236}">
                <a16:creationId xmlns:a16="http://schemas.microsoft.com/office/drawing/2014/main" id="{4F8B34C4-7970-30D8-6169-D4463B805146}"/>
              </a:ext>
            </a:extLst>
          </p:cNvPr>
          <p:cNvGrpSpPr/>
          <p:nvPr/>
        </p:nvGrpSpPr>
        <p:grpSpPr>
          <a:xfrm>
            <a:off x="533400" y="3921402"/>
            <a:ext cx="8692482" cy="1957708"/>
            <a:chOff x="800100" y="3923205"/>
            <a:chExt cx="8692482" cy="1957708"/>
          </a:xfrm>
        </p:grpSpPr>
        <p:sp>
          <p:nvSpPr>
            <p:cNvPr id="39946" name="Rectangle 33">
              <a:extLst>
                <a:ext uri="{FF2B5EF4-FFF2-40B4-BE49-F238E27FC236}">
                  <a16:creationId xmlns:a16="http://schemas.microsoft.com/office/drawing/2014/main" id="{8DD4ECAB-3871-D0DB-A8A4-EC1B7CCE4193}"/>
                </a:ext>
              </a:extLst>
            </p:cNvPr>
            <p:cNvSpPr>
              <a:spLocks noChangeArrowheads="1"/>
            </p:cNvSpPr>
            <p:nvPr/>
          </p:nvSpPr>
          <p:spPr bwMode="auto">
            <a:xfrm>
              <a:off x="800100" y="3923205"/>
              <a:ext cx="7543800" cy="1938992"/>
            </a:xfrm>
            <a:prstGeom prst="rect">
              <a:avLst/>
            </a:prstGeom>
            <a:noFill/>
            <a:ln w="9525">
              <a:noFill/>
              <a:miter lim="800000"/>
              <a:headEnd/>
              <a:tailEnd/>
            </a:ln>
            <a:effectLst/>
          </p:spPr>
          <p:txBody>
            <a:bodyPr>
              <a:spAutoFit/>
            </a:bodyPr>
            <a:lstStyle/>
            <a:p>
              <a:r>
                <a:rPr lang="en-US" altLang="zh-CN" sz="2000" b="1" dirty="0">
                  <a:latin typeface="Georgia" panose="02040502050405020303" pitchFamily="18" charset="0"/>
                  <a:ea typeface="宋体" pitchFamily="2" charset="-122"/>
                </a:rPr>
                <a:t>Three-step model</a:t>
              </a:r>
              <a:r>
                <a:rPr lang="en-US" altLang="zh-CN" sz="2000" dirty="0">
                  <a:latin typeface="Georgia" panose="02040502050405020303" pitchFamily="18" charset="0"/>
                  <a:ea typeface="宋体" pitchFamily="2" charset="-122"/>
                </a:rPr>
                <a:t>:</a:t>
              </a:r>
            </a:p>
            <a:p>
              <a:r>
                <a:rPr lang="en-US" altLang="zh-CN" sz="2000" dirty="0">
                  <a:latin typeface="Georgia" panose="02040502050405020303" pitchFamily="18" charset="0"/>
                  <a:ea typeface="宋体" pitchFamily="2" charset="-122"/>
                </a:rPr>
                <a:t>1) The electron is excited from an initial to a final state within the crystal;</a:t>
              </a:r>
            </a:p>
            <a:p>
              <a:r>
                <a:rPr lang="en-US" altLang="zh-CN" sz="2000" dirty="0">
                  <a:latin typeface="Georgia" panose="02040502050405020303" pitchFamily="18" charset="0"/>
                  <a:ea typeface="宋体" pitchFamily="2" charset="-122"/>
                </a:rPr>
                <a:t>2) The electron travels through the solid towards the surface;</a:t>
              </a:r>
            </a:p>
            <a:p>
              <a:r>
                <a:rPr lang="en-US" altLang="zh-CN" sz="2000" dirty="0">
                  <a:latin typeface="Georgia" panose="02040502050405020303" pitchFamily="18" charset="0"/>
                  <a:ea typeface="宋体" pitchFamily="2" charset="-122"/>
                </a:rPr>
                <a:t>3) The electron crosses the surface and is emitted into the vacuum with a certain kinetic energy.</a:t>
              </a:r>
              <a:endParaRPr lang="zh-CN" altLang="en-US" sz="2000" dirty="0">
                <a:latin typeface="Georgia" panose="02040502050405020303" pitchFamily="18" charset="0"/>
                <a:ea typeface="宋体" pitchFamily="2" charset="-122"/>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132B74-CF7E-EC31-249B-AE86D02280EB}"/>
                    </a:ext>
                  </a:extLst>
                </p:cNvPr>
                <p:cNvSpPr txBox="1"/>
                <p:nvPr/>
              </p:nvSpPr>
              <p:spPr>
                <a:xfrm>
                  <a:off x="7206582" y="4800600"/>
                  <a:ext cx="2286000" cy="490199"/>
                </a:xfrm>
                <a:prstGeom prst="rect">
                  <a:avLst/>
                </a:prstGeom>
                <a:noFill/>
              </p:spPr>
              <p:txBody>
                <a:bodyPr wrap="square">
                  <a:spAutoFit/>
                </a:bodyPr>
                <a:lstStyle/>
                <a:p>
                  <a:pPr/>
                  <a14:m>
                    <m:oMathPara xmlns:m="http://schemas.openxmlformats.org/officeDocument/2006/math">
                      <m:oMath>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𝑘</m:t>
                            </m:r>
                          </m:e>
                          <m:sub>
                            <m:r>
                              <a:rPr lang="en-HK" sz="2400" b="0" i="1" smtClean="0">
                                <a:solidFill>
                                  <a:srgbClr val="000000"/>
                                </a:solidFill>
                                <a:latin typeface="Cambria Math" panose="02040503050406030204" pitchFamily="18" charset="0"/>
                              </a:rPr>
                              <m:t>𝑠𝑎𝑚𝑝𝑙𝑒</m:t>
                            </m:r>
                            <m:r>
                              <a:rPr lang="en-HK" sz="2400" b="0" i="1" smtClean="0">
                                <a:solidFill>
                                  <a:srgbClr val="000000"/>
                                </a:solidFill>
                                <a:latin typeface="Cambria Math" panose="02040503050406030204" pitchFamily="18" charset="0"/>
                              </a:rPr>
                              <m:t>,∥</m:t>
                            </m:r>
                          </m:sub>
                        </m:sSub>
                      </m:oMath>
                    </m:oMathPara>
                  </a14:m>
                  <a:endParaRPr lang="en-HK" sz="2400" dirty="0"/>
                </a:p>
              </p:txBody>
            </p:sp>
          </mc:Choice>
          <mc:Fallback xmlns="">
            <p:sp>
              <p:nvSpPr>
                <p:cNvPr id="11" name="TextBox 10">
                  <a:extLst>
                    <a:ext uri="{FF2B5EF4-FFF2-40B4-BE49-F238E27FC236}">
                      <a16:creationId xmlns:a16="http://schemas.microsoft.com/office/drawing/2014/main" id="{57132B74-CF7E-EC31-249B-AE86D02280EB}"/>
                    </a:ext>
                  </a:extLst>
                </p:cNvPr>
                <p:cNvSpPr txBox="1">
                  <a:spLocks noRot="1" noChangeAspect="1" noMove="1" noResize="1" noEditPoints="1" noAdjustHandles="1" noChangeArrowheads="1" noChangeShapeType="1" noTextEdit="1"/>
                </p:cNvSpPr>
                <p:nvPr/>
              </p:nvSpPr>
              <p:spPr>
                <a:xfrm>
                  <a:off x="7206582" y="4800600"/>
                  <a:ext cx="2286000" cy="490199"/>
                </a:xfrm>
                <a:prstGeom prst="rect">
                  <a:avLst/>
                </a:prstGeom>
                <a:blipFill>
                  <a:blip r:embed="rId3"/>
                  <a:stretch>
                    <a:fillRect b="-9877"/>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A4646F-62DB-7E50-C182-A0C8B80AB47D}"/>
                    </a:ext>
                  </a:extLst>
                </p:cNvPr>
                <p:cNvSpPr txBox="1"/>
                <p:nvPr/>
              </p:nvSpPr>
              <p:spPr>
                <a:xfrm>
                  <a:off x="4605421" y="5403025"/>
                  <a:ext cx="2286000" cy="477888"/>
                </a:xfrm>
                <a:prstGeom prst="rect">
                  <a:avLst/>
                </a:prstGeom>
                <a:noFill/>
              </p:spPr>
              <p:txBody>
                <a:bodyPr wrap="square">
                  <a:spAutoFit/>
                </a:bodyPr>
                <a:lstStyle/>
                <a:p>
                  <a:pPr/>
                  <a14:m>
                    <m:oMathPara xmlns:m="http://schemas.openxmlformats.org/officeDocument/2006/math">
                      <m:oMath>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𝑘</m:t>
                            </m:r>
                          </m:e>
                          <m:sub>
                            <m:r>
                              <a:rPr lang="en-HK" sz="2400" i="1">
                                <a:solidFill>
                                  <a:srgbClr val="000000"/>
                                </a:solidFill>
                                <a:latin typeface="Cambria Math" panose="02040503050406030204" pitchFamily="18" charset="0"/>
                              </a:rPr>
                              <m:t>𝑣𝑎𝑐𝑢𝑢𝑚</m:t>
                            </m:r>
                            <m:r>
                              <a:rPr lang="en-HK" sz="2400" b="0" i="1" smtClean="0">
                                <a:solidFill>
                                  <a:srgbClr val="000000"/>
                                </a:solidFill>
                                <a:latin typeface="Cambria Math" panose="02040503050406030204" pitchFamily="18" charset="0"/>
                              </a:rPr>
                              <m:t>,</m:t>
                            </m:r>
                            <m:r>
                              <a:rPr lang="en-HK" sz="2400" i="1">
                                <a:solidFill>
                                  <a:srgbClr val="000000"/>
                                </a:solidFill>
                                <a:latin typeface="Cambria Math" panose="02040503050406030204" pitchFamily="18" charset="0"/>
                                <a:ea typeface="Cambria Math" panose="02040503050406030204" pitchFamily="18" charset="0"/>
                              </a:rPr>
                              <m:t>∥</m:t>
                            </m:r>
                          </m:sub>
                        </m:sSub>
                      </m:oMath>
                    </m:oMathPara>
                  </a14:m>
                  <a:endParaRPr lang="en-HK" sz="2400" dirty="0"/>
                </a:p>
              </p:txBody>
            </p:sp>
          </mc:Choice>
          <mc:Fallback xmlns="">
            <p:sp>
              <p:nvSpPr>
                <p:cNvPr id="12" name="TextBox 11">
                  <a:extLst>
                    <a:ext uri="{FF2B5EF4-FFF2-40B4-BE49-F238E27FC236}">
                      <a16:creationId xmlns:a16="http://schemas.microsoft.com/office/drawing/2014/main" id="{D2A4646F-62DB-7E50-C182-A0C8B80AB47D}"/>
                    </a:ext>
                  </a:extLst>
                </p:cNvPr>
                <p:cNvSpPr txBox="1">
                  <a:spLocks noRot="1" noChangeAspect="1" noMove="1" noResize="1" noEditPoints="1" noAdjustHandles="1" noChangeArrowheads="1" noChangeShapeType="1" noTextEdit="1"/>
                </p:cNvSpPr>
                <p:nvPr/>
              </p:nvSpPr>
              <p:spPr>
                <a:xfrm>
                  <a:off x="4605421" y="5403025"/>
                  <a:ext cx="2286000" cy="477888"/>
                </a:xfrm>
                <a:prstGeom prst="rect">
                  <a:avLst/>
                </a:prstGeom>
                <a:blipFill>
                  <a:blip r:embed="rId4"/>
                  <a:stretch>
                    <a:fillRect b="-8974"/>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C7F6E58-36E8-47DC-85AF-0BD65B8C49A8}"/>
                    </a:ext>
                  </a:extLst>
                </p:cNvPr>
                <p:cNvSpPr txBox="1"/>
                <p:nvPr/>
              </p:nvSpPr>
              <p:spPr>
                <a:xfrm>
                  <a:off x="1143000" y="4444497"/>
                  <a:ext cx="2590800" cy="477888"/>
                </a:xfrm>
                <a:prstGeom prst="rect">
                  <a:avLst/>
                </a:prstGeom>
                <a:noFill/>
              </p:spPr>
              <p:txBody>
                <a:bodyPr wrap="square">
                  <a:spAutoFit/>
                </a:bodyPr>
                <a:lstStyle/>
                <a:p>
                  <a:pPr/>
                  <a14:m>
                    <m:oMathPara xmlns:m="http://schemas.openxmlformats.org/officeDocument/2006/math">
                      <m:oMath>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𝑘</m:t>
                            </m:r>
                          </m:e>
                          <m:sub>
                            <m:r>
                              <a:rPr lang="en-HK" sz="2400" b="0" i="1" smtClean="0">
                                <a:solidFill>
                                  <a:srgbClr val="000000"/>
                                </a:solidFill>
                                <a:latin typeface="Cambria Math" panose="02040503050406030204" pitchFamily="18" charset="0"/>
                              </a:rPr>
                              <m:t>𝑖𝑛𝑖𝑡𝑖𝑎𝑙</m:t>
                            </m:r>
                            <m:r>
                              <a:rPr lang="en-HK" sz="2400" b="0" i="1" smtClean="0">
                                <a:solidFill>
                                  <a:srgbClr val="000000"/>
                                </a:solidFill>
                                <a:latin typeface="Cambria Math" panose="02040503050406030204" pitchFamily="18" charset="0"/>
                              </a:rPr>
                              <m:t>,∥</m:t>
                            </m:r>
                          </m:sub>
                        </m:sSub>
                      </m:oMath>
                    </m:oMathPara>
                  </a14:m>
                  <a:endParaRPr lang="en-HK" sz="2400" dirty="0"/>
                </a:p>
              </p:txBody>
            </p:sp>
          </mc:Choice>
          <mc:Fallback xmlns="">
            <p:sp>
              <p:nvSpPr>
                <p:cNvPr id="13" name="TextBox 12">
                  <a:extLst>
                    <a:ext uri="{FF2B5EF4-FFF2-40B4-BE49-F238E27FC236}">
                      <a16:creationId xmlns:a16="http://schemas.microsoft.com/office/drawing/2014/main" id="{8C7F6E58-36E8-47DC-85AF-0BD65B8C49A8}"/>
                    </a:ext>
                  </a:extLst>
                </p:cNvPr>
                <p:cNvSpPr txBox="1">
                  <a:spLocks noRot="1" noChangeAspect="1" noMove="1" noResize="1" noEditPoints="1" noAdjustHandles="1" noChangeArrowheads="1" noChangeShapeType="1" noTextEdit="1"/>
                </p:cNvSpPr>
                <p:nvPr/>
              </p:nvSpPr>
              <p:spPr>
                <a:xfrm>
                  <a:off x="1143000" y="4444497"/>
                  <a:ext cx="2590800" cy="477888"/>
                </a:xfrm>
                <a:prstGeom prst="rect">
                  <a:avLst/>
                </a:prstGeom>
                <a:blipFill>
                  <a:blip r:embed="rId5"/>
                  <a:stretch>
                    <a:fillRect b="-7692"/>
                  </a:stretch>
                </a:blipFill>
              </p:spPr>
              <p:txBody>
                <a:bodyPr/>
                <a:lstStyle/>
                <a:p>
                  <a:r>
                    <a:rPr lang="en-HK">
                      <a:noFill/>
                    </a:rPr>
                    <a:t> </a:t>
                  </a:r>
                </a:p>
              </p:txBody>
            </p:sp>
          </mc:Fallback>
        </mc:AlternateContent>
      </p:grpSp>
      <p:pic>
        <p:nvPicPr>
          <p:cNvPr id="3" name="Picture 2">
            <a:extLst>
              <a:ext uri="{FF2B5EF4-FFF2-40B4-BE49-F238E27FC236}">
                <a16:creationId xmlns:a16="http://schemas.microsoft.com/office/drawing/2014/main" id="{84997FD0-1D55-F22E-C110-9EB8768014E4}"/>
              </a:ext>
            </a:extLst>
          </p:cNvPr>
          <p:cNvPicPr>
            <a:picLocks noChangeAspect="1"/>
          </p:cNvPicPr>
          <p:nvPr/>
        </p:nvPicPr>
        <p:blipFill>
          <a:blip r:embed="rId6"/>
          <a:srcRect l="35072" t="37965" r="34084" b="1"/>
          <a:stretch>
            <a:fillRect/>
          </a:stretch>
        </p:blipFill>
        <p:spPr>
          <a:xfrm>
            <a:off x="5791200" y="1197929"/>
            <a:ext cx="2209800" cy="2589514"/>
          </a:xfrm>
          <a:prstGeom prst="rect">
            <a:avLst/>
          </a:prstGeom>
        </p:spPr>
      </p:pic>
    </p:spTree>
    <p:extLst>
      <p:ext uri="{BB962C8B-B14F-4D97-AF65-F5344CB8AC3E}">
        <p14:creationId xmlns:p14="http://schemas.microsoft.com/office/powerpoint/2010/main" val="1269028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Rectangle 10"/>
          <p:cNvSpPr>
            <a:spLocks noChangeArrowheads="1"/>
          </p:cNvSpPr>
          <p:nvPr/>
        </p:nvSpPr>
        <p:spPr bwMode="auto">
          <a:xfrm>
            <a:off x="670192" y="1526011"/>
            <a:ext cx="7975849" cy="1015663"/>
          </a:xfrm>
          <a:prstGeom prst="rect">
            <a:avLst/>
          </a:prstGeom>
          <a:noFill/>
          <a:ln w="9525">
            <a:noFill/>
            <a:miter lim="800000"/>
            <a:headEnd/>
            <a:tailEnd/>
          </a:ln>
          <a:effectLst/>
        </p:spPr>
        <p:txBody>
          <a:bodyPr wrap="square">
            <a:spAutoFit/>
          </a:bodyPr>
          <a:lstStyle/>
          <a:p>
            <a:r>
              <a:rPr lang="en-US" altLang="zh-CN" sz="2000" dirty="0">
                <a:latin typeface="Georgia" panose="02040502050405020303" pitchFamily="18" charset="0"/>
                <a:ea typeface="宋体" pitchFamily="2" charset="-122"/>
              </a:rPr>
              <a:t>Photon momentum is neglected because of its smallness compared with electron momentum. Therefore, </a:t>
            </a:r>
            <a:r>
              <a:rPr lang="en-US" altLang="zh-CN" sz="2000" dirty="0">
                <a:solidFill>
                  <a:srgbClr val="0000FF"/>
                </a:solidFill>
                <a:latin typeface="Georgia" panose="02040502050405020303" pitchFamily="18" charset="0"/>
                <a:ea typeface="宋体" pitchFamily="2" charset="-122"/>
              </a:rPr>
              <a:t>electron momentum is conserved</a:t>
            </a:r>
            <a:r>
              <a:rPr lang="en-US" altLang="zh-CN" sz="2000" dirty="0">
                <a:latin typeface="Georgia" panose="02040502050405020303" pitchFamily="18" charset="0"/>
                <a:ea typeface="宋体" pitchFamily="2" charset="-122"/>
              </a:rPr>
              <a:t> after the photon-electron interaction.</a:t>
            </a:r>
            <a:endParaRPr lang="zh-CN" altLang="en-US" sz="2000" dirty="0">
              <a:latin typeface="Georgia" panose="02040502050405020303" pitchFamily="18" charset="0"/>
              <a:ea typeface="宋体" pitchFamily="2" charset="-122"/>
            </a:endParaRPr>
          </a:p>
        </p:txBody>
      </p:sp>
      <p:sp>
        <p:nvSpPr>
          <p:cNvPr id="40969" name="Text Box 11"/>
          <p:cNvSpPr txBox="1">
            <a:spLocks noChangeArrowheads="1"/>
          </p:cNvSpPr>
          <p:nvPr/>
        </p:nvSpPr>
        <p:spPr bwMode="auto">
          <a:xfrm>
            <a:off x="670193" y="944471"/>
            <a:ext cx="3042821" cy="400110"/>
          </a:xfrm>
          <a:prstGeom prst="rect">
            <a:avLst/>
          </a:prstGeom>
          <a:solidFill>
            <a:srgbClr val="CCECFF"/>
          </a:solidFill>
          <a:ln w="9525">
            <a:noFill/>
            <a:miter lim="800000"/>
            <a:headEnd/>
            <a:tailEnd/>
          </a:ln>
          <a:effectLst/>
        </p:spPr>
        <p:txBody>
          <a:bodyPr wrap="none">
            <a:spAutoFit/>
          </a:bodyPr>
          <a:lstStyle/>
          <a:p>
            <a:r>
              <a:rPr lang="en-US" altLang="zh-CN" sz="2000" dirty="0">
                <a:latin typeface="Georgia" panose="02040502050405020303" pitchFamily="18" charset="0"/>
                <a:ea typeface="宋体" pitchFamily="2" charset="-122"/>
              </a:rPr>
              <a:t>Momentum conservation</a:t>
            </a:r>
          </a:p>
        </p:txBody>
      </p:sp>
      <p:sp>
        <p:nvSpPr>
          <p:cNvPr id="40970" name="Text Box 12"/>
          <p:cNvSpPr txBox="1">
            <a:spLocks noChangeArrowheads="1"/>
          </p:cNvSpPr>
          <p:nvPr/>
        </p:nvSpPr>
        <p:spPr bwMode="auto">
          <a:xfrm>
            <a:off x="670192" y="2748504"/>
            <a:ext cx="2621230" cy="400110"/>
          </a:xfrm>
          <a:prstGeom prst="rect">
            <a:avLst/>
          </a:prstGeom>
          <a:noFill/>
          <a:ln w="9525">
            <a:noFill/>
            <a:miter lim="800000"/>
            <a:headEnd/>
            <a:tailEnd/>
          </a:ln>
          <a:effectLst/>
        </p:spPr>
        <p:txBody>
          <a:bodyPr wrap="none">
            <a:spAutoFit/>
          </a:bodyPr>
          <a:lstStyle/>
          <a:p>
            <a:r>
              <a:rPr lang="en-US" altLang="zh-CN" sz="2000" dirty="0">
                <a:latin typeface="Georgia" panose="02040502050405020303" pitchFamily="18" charset="0"/>
                <a:ea typeface="宋体" pitchFamily="2" charset="-122"/>
              </a:rPr>
              <a:t>Electron momentum:</a:t>
            </a:r>
          </a:p>
        </p:txBody>
      </p:sp>
      <p:sp>
        <p:nvSpPr>
          <p:cNvPr id="40971" name="Text Box 13"/>
          <p:cNvSpPr txBox="1">
            <a:spLocks noChangeArrowheads="1"/>
          </p:cNvSpPr>
          <p:nvPr/>
        </p:nvSpPr>
        <p:spPr bwMode="auto">
          <a:xfrm>
            <a:off x="628132" y="3124200"/>
            <a:ext cx="2539478" cy="400110"/>
          </a:xfrm>
          <a:prstGeom prst="rect">
            <a:avLst/>
          </a:prstGeom>
          <a:noFill/>
          <a:ln w="9525">
            <a:noFill/>
            <a:miter lim="800000"/>
            <a:headEnd/>
            <a:tailEnd/>
          </a:ln>
          <a:effectLst/>
        </p:spPr>
        <p:txBody>
          <a:bodyPr wrap="none">
            <a:spAutoFit/>
          </a:bodyPr>
          <a:lstStyle/>
          <a:p>
            <a:r>
              <a:rPr lang="en-US" altLang="zh-CN" sz="2000" dirty="0">
                <a:latin typeface="Georgia" panose="02040502050405020303" pitchFamily="18" charset="0"/>
                <a:ea typeface="宋体" pitchFamily="2" charset="-122"/>
              </a:rPr>
              <a:t> Photon momentum:</a:t>
            </a:r>
          </a:p>
        </p:txBody>
      </p:sp>
      <p:pic>
        <p:nvPicPr>
          <p:cNvPr id="40972" name="Picture 14"/>
          <p:cNvPicPr>
            <a:picLocks noChangeAspect="1" noChangeArrowheads="1"/>
          </p:cNvPicPr>
          <p:nvPr/>
        </p:nvPicPr>
        <p:blipFill>
          <a:blip r:embed="rId3" cstate="print"/>
          <a:srcRect/>
          <a:stretch>
            <a:fillRect/>
          </a:stretch>
        </p:blipFill>
        <p:spPr bwMode="auto">
          <a:xfrm>
            <a:off x="3352532" y="2777178"/>
            <a:ext cx="5181600" cy="773113"/>
          </a:xfrm>
          <a:prstGeom prst="rect">
            <a:avLst/>
          </a:prstGeom>
          <a:noFill/>
          <a:ln w="9525">
            <a:noFill/>
            <a:miter lim="800000"/>
            <a:headEnd/>
            <a:tailEnd/>
          </a:ln>
          <a:effectLst/>
        </p:spPr>
      </p:pic>
      <p:sp>
        <p:nvSpPr>
          <p:cNvPr id="40974" name="Text Box 16"/>
          <p:cNvSpPr txBox="1">
            <a:spLocks noChangeArrowheads="1"/>
          </p:cNvSpPr>
          <p:nvPr/>
        </p:nvSpPr>
        <p:spPr bwMode="auto">
          <a:xfrm>
            <a:off x="5692151" y="2792432"/>
            <a:ext cx="293670" cy="276999"/>
          </a:xfrm>
          <a:prstGeom prst="rect">
            <a:avLst/>
          </a:prstGeom>
          <a:noFill/>
          <a:ln w="9525">
            <a:noFill/>
            <a:miter lim="800000"/>
            <a:headEnd/>
            <a:tailEnd/>
          </a:ln>
          <a:effectLst/>
        </p:spPr>
        <p:txBody>
          <a:bodyPr wrap="none">
            <a:spAutoFit/>
          </a:bodyPr>
          <a:lstStyle/>
          <a:p>
            <a:r>
              <a:rPr lang="en-US" altLang="zh-CN" sz="1200" dirty="0">
                <a:latin typeface="Georgia" panose="02040502050405020303" pitchFamily="18" charset="0"/>
                <a:ea typeface="宋体" pitchFamily="2" charset="-122"/>
              </a:rPr>
              <a:t>X</a:t>
            </a:r>
          </a:p>
        </p:txBody>
      </p:sp>
      <p:sp>
        <p:nvSpPr>
          <p:cNvPr id="2" name="Slide Number Placeholder 1">
            <a:extLst>
              <a:ext uri="{FF2B5EF4-FFF2-40B4-BE49-F238E27FC236}">
                <a16:creationId xmlns:a16="http://schemas.microsoft.com/office/drawing/2014/main" id="{F0C39B55-7FF1-4E93-B703-FE23A850D18F}"/>
              </a:ext>
            </a:extLst>
          </p:cNvPr>
          <p:cNvSpPr>
            <a:spLocks noGrp="1"/>
          </p:cNvSpPr>
          <p:nvPr>
            <p:ph type="sldNum" sz="quarter" idx="11"/>
          </p:nvPr>
        </p:nvSpPr>
        <p:spPr>
          <a:xfrm>
            <a:off x="6705600" y="6328015"/>
            <a:ext cx="2133600" cy="457200"/>
          </a:xfrm>
        </p:spPr>
        <p:txBody>
          <a:bodyPr/>
          <a:lstStyle/>
          <a:p>
            <a:pPr>
              <a:defRPr/>
            </a:pPr>
            <a:fld id="{5A031570-0DA8-4A71-BBF6-3150CEB7570B}" type="slidenum">
              <a:rPr lang="zh-TW" altLang="en-US" smtClean="0"/>
              <a:pPr>
                <a:defRPr/>
              </a:pPr>
              <a:t>27</a:t>
            </a:fld>
            <a:endParaRPr lang="en-US" altLang="zh-TW" dirty="0"/>
          </a:p>
        </p:txBody>
      </p:sp>
      <mc:AlternateContent xmlns:mc="http://schemas.openxmlformats.org/markup-compatibility/2006" xmlns:a14="http://schemas.microsoft.com/office/drawing/2010/main">
        <mc:Choice Requires="a14">
          <p:sp>
            <p:nvSpPr>
              <p:cNvPr id="3" name="Object 24">
                <a:extLst>
                  <a:ext uri="{FF2B5EF4-FFF2-40B4-BE49-F238E27FC236}">
                    <a16:creationId xmlns:a16="http://schemas.microsoft.com/office/drawing/2014/main" id="{9E126231-F56B-861D-0DAD-7F70A1B5D7D8}"/>
                  </a:ext>
                </a:extLst>
              </p:cNvPr>
              <p:cNvSpPr txBox="1"/>
              <p:nvPr/>
            </p:nvSpPr>
            <p:spPr bwMode="auto">
              <a:xfrm>
                <a:off x="670192" y="3584616"/>
                <a:ext cx="7184370" cy="1096401"/>
              </a:xfrm>
              <a:prstGeom prst="rect">
                <a:avLst/>
              </a:prstGeom>
              <a:noFill/>
              <a:extLst>
                <a:ext uri="{909E8E84-426E-40dd-AFC4-6F175D3DCCD1}">
                  <a14:hiddenFill xmlns="">
                    <a:solidFill>
                      <a:srgbClr val="FFFFFF"/>
                    </a:solidFill>
                  </a14:hiddenFill>
                </a:ext>
              </a:extLst>
            </p:spPr>
            <p:txBody>
              <a:bodyPr>
                <a:noAutofit/>
              </a:bodyPr>
              <a:lstStyle/>
              <a:p>
                <a:pPr/>
                <a14:m>
                  <m:oMathPara xmlns:m="http://schemas.openxmlformats.org/officeDocument/2006/math">
                    <m:oMathParaPr>
                      <m:jc m:val="left"/>
                    </m:oMathParaPr>
                    <m:oMath>
                      <m:sSub>
                        <m:sSubPr>
                          <m:ctrlPr>
                            <a:rPr lang="en-HK" sz="2400">
                              <a:solidFill>
                                <a:srgbClr val="000000"/>
                              </a:solidFill>
                              <a:latin typeface="Cambria Math" panose="02040503050406030204" pitchFamily="18" charset="0"/>
                            </a:rPr>
                          </m:ctrlPr>
                        </m:sSubPr>
                        <m:e>
                          <m:r>
                            <m:rPr>
                              <m:sty m:val="p"/>
                            </m:rPr>
                            <a:rPr lang="en-HK" sz="2400">
                              <a:solidFill>
                                <a:srgbClr val="000000"/>
                              </a:solidFill>
                              <a:latin typeface="Cambria Math" panose="02040503050406030204" pitchFamily="18" charset="0"/>
                            </a:rPr>
                            <m:t>k</m:t>
                          </m:r>
                        </m:e>
                        <m:sub>
                          <m:r>
                            <m:rPr>
                              <m:nor/>
                            </m:rPr>
                            <a:rPr lang="en-HK" sz="2400" i="0">
                              <a:solidFill>
                                <a:srgbClr val="000000"/>
                              </a:solidFill>
                              <a:latin typeface="Georgia" panose="02040502050405020303" pitchFamily="18" charset="0"/>
                            </a:rPr>
                            <m:t>//</m:t>
                          </m:r>
                          <m:r>
                            <a:rPr lang="en-HK" sz="2400" b="0" i="1" smtClean="0">
                              <a:solidFill>
                                <a:srgbClr val="000000"/>
                              </a:solidFill>
                              <a:latin typeface="Cambria Math" panose="02040503050406030204" pitchFamily="18" charset="0"/>
                            </a:rPr>
                            <m:t>𝑖𝑛𝑖𝑡𝑖𝑎𝑙</m:t>
                          </m:r>
                        </m:sub>
                      </m:sSub>
                      <m:r>
                        <a:rPr lang="en-HK" sz="2400" b="0" i="1" smtClean="0">
                          <a:solidFill>
                            <a:srgbClr val="000000"/>
                          </a:solidFill>
                          <a:latin typeface="Cambria Math" panose="02040503050406030204" pitchFamily="18" charset="0"/>
                        </a:rPr>
                        <m:t>=</m:t>
                      </m:r>
                      <m:sSub>
                        <m:sSubPr>
                          <m:ctrlPr>
                            <a:rPr lang="en-HK" sz="2400" i="0">
                              <a:solidFill>
                                <a:srgbClr val="000000"/>
                              </a:solidFill>
                              <a:latin typeface="Cambria Math" panose="02040503050406030204" pitchFamily="18" charset="0"/>
                            </a:rPr>
                          </m:ctrlPr>
                        </m:sSubPr>
                        <m:e>
                          <m:r>
                            <m:rPr>
                              <m:sty m:val="p"/>
                            </m:rPr>
                            <a:rPr lang="en-HK" sz="2400" i="0">
                              <a:solidFill>
                                <a:srgbClr val="000000"/>
                              </a:solidFill>
                              <a:latin typeface="Cambria Math" panose="02040503050406030204" pitchFamily="18" charset="0"/>
                            </a:rPr>
                            <m:t>k</m:t>
                          </m:r>
                        </m:e>
                        <m:sub>
                          <m:r>
                            <m:rPr>
                              <m:nor/>
                            </m:rPr>
                            <a:rPr lang="en-HK" sz="2400" i="0">
                              <a:solidFill>
                                <a:srgbClr val="000000"/>
                              </a:solidFill>
                              <a:latin typeface="Georgia" panose="02040502050405020303" pitchFamily="18" charset="0"/>
                            </a:rPr>
                            <m:t>//sample</m:t>
                          </m:r>
                        </m:sub>
                      </m:sSub>
                      <m:r>
                        <a:rPr lang="en-HK" sz="2400" i="1">
                          <a:solidFill>
                            <a:srgbClr val="000000"/>
                          </a:solidFill>
                          <a:latin typeface="Cambria Math" panose="02040503050406030204" pitchFamily="18" charset="0"/>
                        </a:rPr>
                        <m:t>=</m:t>
                      </m:r>
                      <m:sSub>
                        <m:sSubPr>
                          <m:ctrlPr>
                            <a:rPr lang="en-HK" sz="2400" i="0">
                              <a:solidFill>
                                <a:srgbClr val="000000"/>
                              </a:solidFill>
                              <a:latin typeface="Cambria Math" panose="02040503050406030204" pitchFamily="18" charset="0"/>
                            </a:rPr>
                          </m:ctrlPr>
                        </m:sSubPr>
                        <m:e>
                          <m:r>
                            <m:rPr>
                              <m:sty m:val="p"/>
                            </m:rPr>
                            <a:rPr lang="en-HK" sz="2400" i="0">
                              <a:solidFill>
                                <a:srgbClr val="000000"/>
                              </a:solidFill>
                              <a:latin typeface="Cambria Math" panose="02040503050406030204" pitchFamily="18" charset="0"/>
                            </a:rPr>
                            <m:t>k</m:t>
                          </m:r>
                        </m:e>
                        <m:sub>
                          <m:r>
                            <m:rPr>
                              <m:nor/>
                            </m:rPr>
                            <a:rPr lang="en-HK" sz="2400" i="0">
                              <a:solidFill>
                                <a:srgbClr val="000000"/>
                              </a:solidFill>
                              <a:latin typeface="Georgia" panose="02040502050405020303" pitchFamily="18" charset="0"/>
                            </a:rPr>
                            <m:t>//vacuum</m:t>
                          </m:r>
                        </m:sub>
                      </m:sSub>
                      <m:r>
                        <a:rPr lang="en-HK" sz="2400" i="1">
                          <a:solidFill>
                            <a:srgbClr val="000000"/>
                          </a:solidFill>
                          <a:latin typeface="Cambria Math" panose="02040503050406030204" pitchFamily="18" charset="0"/>
                        </a:rPr>
                        <m:t>=</m:t>
                      </m:r>
                      <m:f>
                        <m:fPr>
                          <m:ctrlPr>
                            <a:rPr lang="en-HK" sz="2400" i="1">
                              <a:solidFill>
                                <a:srgbClr val="000000"/>
                              </a:solidFill>
                              <a:latin typeface="Cambria Math" panose="02040503050406030204" pitchFamily="18" charset="0"/>
                            </a:rPr>
                          </m:ctrlPr>
                        </m:fPr>
                        <m:num>
                          <m:rad>
                            <m:radPr>
                              <m:degHide m:val="on"/>
                              <m:ctrlPr>
                                <a:rPr lang="en-HK" sz="2400" i="1">
                                  <a:solidFill>
                                    <a:srgbClr val="000000"/>
                                  </a:solidFill>
                                  <a:latin typeface="Cambria Math" panose="02040503050406030204" pitchFamily="18" charset="0"/>
                                </a:rPr>
                              </m:ctrlPr>
                            </m:radPr>
                            <m:deg/>
                            <m:e>
                              <m:r>
                                <a:rPr lang="en-HK" sz="2400" i="1">
                                  <a:solidFill>
                                    <a:srgbClr val="000000"/>
                                  </a:solidFill>
                                  <a:latin typeface="Cambria Math" panose="02040503050406030204" pitchFamily="18" charset="0"/>
                                </a:rPr>
                                <m:t>2</m:t>
                              </m:r>
                              <m:r>
                                <a:rPr lang="en-HK" sz="2400" i="1">
                                  <a:solidFill>
                                    <a:srgbClr val="000000"/>
                                  </a:solidFill>
                                  <a:latin typeface="Cambria Math" panose="02040503050406030204" pitchFamily="18" charset="0"/>
                                </a:rPr>
                                <m:t>𝑚</m:t>
                              </m:r>
                              <m:sSub>
                                <m:sSubPr>
                                  <m:ctrlPr>
                                    <a:rPr lang="en-HK" sz="2400" i="1">
                                      <a:solidFill>
                                        <a:srgbClr val="000000"/>
                                      </a:solidFill>
                                      <a:latin typeface="Cambria Math" panose="02040503050406030204" pitchFamily="18" charset="0"/>
                                    </a:rPr>
                                  </m:ctrlPr>
                                </m:sSubPr>
                                <m:e>
                                  <m:r>
                                    <a:rPr lang="en-HK" sz="2400" i="1">
                                      <a:solidFill>
                                        <a:srgbClr val="000000"/>
                                      </a:solidFill>
                                      <a:latin typeface="Cambria Math" panose="02040503050406030204" pitchFamily="18" charset="0"/>
                                    </a:rPr>
                                    <m:t>𝐸</m:t>
                                  </m:r>
                                </m:e>
                                <m:sub>
                                  <m:r>
                                    <a:rPr lang="en-HK" sz="2400" i="1">
                                      <a:solidFill>
                                        <a:srgbClr val="000000"/>
                                      </a:solidFill>
                                      <a:latin typeface="Cambria Math" panose="02040503050406030204" pitchFamily="18" charset="0"/>
                                    </a:rPr>
                                    <m:t>𝑘</m:t>
                                  </m:r>
                                </m:sub>
                              </m:sSub>
                            </m:e>
                          </m:rad>
                          <m:func>
                            <m:funcPr>
                              <m:ctrlPr>
                                <a:rPr lang="en-HK" sz="2400" i="0">
                                  <a:solidFill>
                                    <a:srgbClr val="000000"/>
                                  </a:solidFill>
                                  <a:latin typeface="Cambria Math" panose="02040503050406030204" pitchFamily="18" charset="0"/>
                                </a:rPr>
                              </m:ctrlPr>
                            </m:funcPr>
                            <m:fName>
                              <m:r>
                                <m:rPr>
                                  <m:sty m:val="p"/>
                                </m:rPr>
                                <a:rPr lang="en-HK" sz="2400" i="0">
                                  <a:solidFill>
                                    <a:srgbClr val="000000"/>
                                  </a:solidFill>
                                  <a:latin typeface="Cambria Math" panose="02040503050406030204" pitchFamily="18" charset="0"/>
                                </a:rPr>
                                <m:t>sin</m:t>
                              </m:r>
                            </m:fName>
                            <m:e>
                              <m:r>
                                <a:rPr lang="en-HK" sz="2400" i="1">
                                  <a:solidFill>
                                    <a:srgbClr val="000000"/>
                                  </a:solidFill>
                                  <a:latin typeface="Cambria Math" panose="02040503050406030204" pitchFamily="18" charset="0"/>
                                </a:rPr>
                                <m:t>𝜃</m:t>
                              </m:r>
                            </m:e>
                          </m:func>
                        </m:num>
                        <m:den>
                          <m:r>
                            <m:rPr>
                              <m:sty m:val="p"/>
                            </m:rPr>
                            <a:rPr lang="en-HK" sz="2400" i="1">
                              <a:solidFill>
                                <a:srgbClr val="000000"/>
                              </a:solidFill>
                              <a:latin typeface="Cambria Math" panose="02040503050406030204" pitchFamily="18" charset="0"/>
                            </a:rPr>
                            <m:t>ℏ</m:t>
                          </m:r>
                        </m:den>
                      </m:f>
                    </m:oMath>
                  </m:oMathPara>
                </a14:m>
                <a:endParaRPr lang="en-HK" sz="2400" dirty="0">
                  <a:latin typeface="Georgia" panose="02040502050405020303" pitchFamily="18" charset="0"/>
                </a:endParaRPr>
              </a:p>
            </p:txBody>
          </p:sp>
        </mc:Choice>
        <mc:Fallback xmlns="">
          <p:sp>
            <p:nvSpPr>
              <p:cNvPr id="3" name="Object 24">
                <a:extLst>
                  <a:ext uri="{FF2B5EF4-FFF2-40B4-BE49-F238E27FC236}">
                    <a16:creationId xmlns:a16="http://schemas.microsoft.com/office/drawing/2014/main" id="{9E126231-F56B-861D-0DAD-7F70A1B5D7D8}"/>
                  </a:ext>
                </a:extLst>
              </p:cNvPr>
              <p:cNvSpPr txBox="1">
                <a:spLocks noRot="1" noChangeAspect="1" noMove="1" noResize="1" noEditPoints="1" noAdjustHandles="1" noChangeArrowheads="1" noChangeShapeType="1" noTextEdit="1"/>
              </p:cNvSpPr>
              <p:nvPr/>
            </p:nvSpPr>
            <p:spPr bwMode="auto">
              <a:xfrm>
                <a:off x="670192" y="3584616"/>
                <a:ext cx="7184370" cy="1096401"/>
              </a:xfrm>
              <a:prstGeom prst="rect">
                <a:avLst/>
              </a:prstGeom>
              <a:blipFill>
                <a:blip r:embed="rId4"/>
                <a:stretch>
                  <a:fillRect/>
                </a:stretch>
              </a:blipFill>
              <a:extLst>
                <a:ext uri="{909E8E84-426E-40dd-AFC4-6F175D3DCCD1}">
                  <a14:hiddenFill xmlns="" xmlns:a14="http://schemas.microsoft.com/office/drawing/2010/main">
                    <a:solidFill>
                      <a:srgbClr val="FFFFFF"/>
                    </a:solidFill>
                  </a14:hiddenFill>
                </a:ext>
              </a:extLst>
            </p:spPr>
            <p:txBody>
              <a:bodyPr/>
              <a:lstStyle/>
              <a:p>
                <a:r>
                  <a:rPr lang="en-HK">
                    <a:noFill/>
                  </a:rPr>
                  <a:t> </a:t>
                </a:r>
              </a:p>
            </p:txBody>
          </p:sp>
        </mc:Fallback>
      </mc:AlternateContent>
      <p:sp>
        <p:nvSpPr>
          <p:cNvPr id="5" name="TextBox 4">
            <a:extLst>
              <a:ext uri="{FF2B5EF4-FFF2-40B4-BE49-F238E27FC236}">
                <a16:creationId xmlns:a16="http://schemas.microsoft.com/office/drawing/2014/main" id="{3CADF458-45B0-727F-5D88-FE9C0CB031DC}"/>
              </a:ext>
            </a:extLst>
          </p:cNvPr>
          <p:cNvSpPr txBox="1"/>
          <p:nvPr/>
        </p:nvSpPr>
        <p:spPr>
          <a:xfrm>
            <a:off x="681198" y="4609187"/>
            <a:ext cx="8142288" cy="1015663"/>
          </a:xfrm>
          <a:prstGeom prst="rect">
            <a:avLst/>
          </a:prstGeom>
          <a:noFill/>
        </p:spPr>
        <p:txBody>
          <a:bodyPr wrap="square">
            <a:spAutoFit/>
          </a:bodyPr>
          <a:lstStyle/>
          <a:p>
            <a:r>
              <a:rPr lang="en-US" sz="2000" b="0" i="0" dirty="0">
                <a:effectLst/>
                <a:latin typeface="Georgia" panose="02040502050405020303" pitchFamily="18" charset="0"/>
              </a:rPr>
              <a:t>The in-plane momentum of the photoelectron escaping from the sample surface is </a:t>
            </a:r>
            <a:r>
              <a:rPr lang="en-US" sz="2000" b="1" i="0" dirty="0">
                <a:solidFill>
                  <a:srgbClr val="000000"/>
                </a:solidFill>
                <a:effectLst/>
                <a:latin typeface="Georgia" panose="02040502050405020303" pitchFamily="18" charset="0"/>
              </a:rPr>
              <a:t>equal to the in-plane momentum of the electron in the sample before excitation</a:t>
            </a:r>
            <a:endParaRPr lang="en-HK" sz="2000" dirty="0">
              <a:latin typeface="Georgia" panose="02040502050405020303" pitchFamily="18" charset="0"/>
            </a:endParaRPr>
          </a:p>
        </p:txBody>
      </p:sp>
      <mc:AlternateContent xmlns:mc="http://schemas.openxmlformats.org/markup-compatibility/2006" xmlns:a14="http://schemas.microsoft.com/office/drawing/2010/main">
        <mc:Choice Requires="a14">
          <p:sp>
            <p:nvSpPr>
              <p:cNvPr id="8" name="Text Box 4">
                <a:extLst>
                  <a:ext uri="{FF2B5EF4-FFF2-40B4-BE49-F238E27FC236}">
                    <a16:creationId xmlns:a16="http://schemas.microsoft.com/office/drawing/2014/main" id="{48036824-0460-E4FF-D740-5D4DB859BDE1}"/>
                  </a:ext>
                </a:extLst>
              </p:cNvPr>
              <p:cNvSpPr txBox="1">
                <a:spLocks noChangeArrowheads="1"/>
              </p:cNvSpPr>
              <p:nvPr/>
            </p:nvSpPr>
            <p:spPr bwMode="auto">
              <a:xfrm>
                <a:off x="735406" y="5735819"/>
                <a:ext cx="8142288" cy="792461"/>
              </a:xfrm>
              <a:prstGeom prst="rect">
                <a:avLst/>
              </a:prstGeom>
              <a:noFill/>
              <a:ln w="9525">
                <a:noFill/>
                <a:miter lim="800000"/>
                <a:headEnd/>
                <a:tailEnd/>
              </a:ln>
              <a:effectLst/>
            </p:spPr>
            <p:txBody>
              <a:bodyPr wrap="square">
                <a:spAutoFit/>
              </a:bodyPr>
              <a:lstStyle/>
              <a:p>
                <a:r>
                  <a:rPr lang="en-US" altLang="zh-CN" sz="2000" b="1" i="1" dirty="0">
                    <a:solidFill>
                      <a:srgbClr val="0000FF"/>
                    </a:solidFill>
                    <a:latin typeface="Georgia" panose="02040502050405020303" pitchFamily="18" charset="0"/>
                    <a:ea typeface="宋体" pitchFamily="2" charset="-122"/>
                    <a:cs typeface="Times New Roman" pitchFamily="18" charset="0"/>
                  </a:rPr>
                  <a:t> </a:t>
                </a:r>
                <a:r>
                  <a:rPr lang="en-US" altLang="zh-CN" sz="2000" i="1" dirty="0">
                    <a:solidFill>
                      <a:srgbClr val="0000FF"/>
                    </a:solidFill>
                    <a:latin typeface="Georgia" panose="02040502050405020303" pitchFamily="18" charset="0"/>
                    <a:ea typeface="宋体" pitchFamily="2" charset="-122"/>
                    <a:cs typeface="Times New Roman" pitchFamily="18" charset="0"/>
                  </a:rPr>
                  <a:t>Intensity profile N (E</a:t>
                </a:r>
                <a:r>
                  <a:rPr lang="en-US" altLang="zh-CN" sz="2000" i="1" baseline="-25000" dirty="0">
                    <a:solidFill>
                      <a:srgbClr val="0000FF"/>
                    </a:solidFill>
                    <a:latin typeface="Georgia" panose="02040502050405020303" pitchFamily="18" charset="0"/>
                    <a:ea typeface="宋体" pitchFamily="2" charset="-122"/>
                    <a:cs typeface="Times New Roman" pitchFamily="18" charset="0"/>
                  </a:rPr>
                  <a:t>k</a:t>
                </a:r>
                <a:r>
                  <a:rPr lang="en-US" altLang="zh-CN" sz="2000" i="1" dirty="0">
                    <a:solidFill>
                      <a:srgbClr val="0000FF"/>
                    </a:solidFill>
                    <a:latin typeface="Georgia" panose="02040502050405020303" pitchFamily="18" charset="0"/>
                    <a:ea typeface="宋体" pitchFamily="2" charset="-122"/>
                    <a:cs typeface="Times New Roman" pitchFamily="18" charset="0"/>
                  </a:rPr>
                  <a:t>, </a:t>
                </a:r>
                <a:r>
                  <a:rPr lang="en-US" altLang="zh-CN" sz="2000" i="1" dirty="0">
                    <a:solidFill>
                      <a:srgbClr val="0000FF"/>
                    </a:solidFill>
                    <a:latin typeface="Georgia" panose="02040502050405020303" pitchFamily="18" charset="0"/>
                    <a:ea typeface="宋体" pitchFamily="2" charset="-122"/>
                    <a:cs typeface="Times New Roman" pitchFamily="18" charset="0"/>
                    <a:sym typeface="Symbol" pitchFamily="18" charset="2"/>
                  </a:rPr>
                  <a:t></a:t>
                </a:r>
                <a:r>
                  <a:rPr lang="en-US" altLang="zh-CN" sz="2000" i="1" dirty="0">
                    <a:solidFill>
                      <a:srgbClr val="0000FF"/>
                    </a:solidFill>
                    <a:latin typeface="Georgia" panose="02040502050405020303" pitchFamily="18" charset="0"/>
                    <a:ea typeface="宋体" pitchFamily="2" charset="-122"/>
                    <a:cs typeface="Times New Roman" pitchFamily="18" charset="0"/>
                  </a:rPr>
                  <a:t>) measured</a:t>
                </a:r>
              </a:p>
              <a:p>
                <a:r>
                  <a:rPr lang="en-US" altLang="zh-CN" sz="2000" i="1" dirty="0">
                    <a:solidFill>
                      <a:srgbClr val="0000FF"/>
                    </a:solidFill>
                    <a:latin typeface="Georgia" panose="02040502050405020303" pitchFamily="18" charset="0"/>
                    <a:ea typeface="宋体" pitchFamily="2" charset="-122"/>
                    <a:cs typeface="Times New Roman" pitchFamily="18" charset="0"/>
                  </a:rPr>
                  <a:t>—DOS dispersion as a function of </a:t>
                </a:r>
                <a14:m>
                  <m:oMath xmlns:m="http://schemas.openxmlformats.org/officeDocument/2006/math">
                    <m:sSub>
                      <m:sSubPr>
                        <m:ctrlPr>
                          <a:rPr lang="en-HK" sz="2000" b="0">
                            <a:solidFill>
                              <a:schemeClr val="bg2">
                                <a:lumMod val="60000"/>
                                <a:lumOff val="40000"/>
                              </a:schemeClr>
                            </a:solidFill>
                            <a:latin typeface="Cambria Math" panose="02040503050406030204" pitchFamily="18" charset="0"/>
                          </a:rPr>
                        </m:ctrlPr>
                      </m:sSubPr>
                      <m:e>
                        <m:r>
                          <m:rPr>
                            <m:sty m:val="p"/>
                          </m:rPr>
                          <a:rPr lang="en-HK" sz="2000" b="0">
                            <a:solidFill>
                              <a:schemeClr val="bg2">
                                <a:lumMod val="60000"/>
                                <a:lumOff val="40000"/>
                              </a:schemeClr>
                            </a:solidFill>
                            <a:latin typeface="Cambria Math" panose="02040503050406030204" pitchFamily="18" charset="0"/>
                          </a:rPr>
                          <m:t>k</m:t>
                        </m:r>
                      </m:e>
                      <m:sub>
                        <m:r>
                          <m:rPr>
                            <m:nor/>
                          </m:rPr>
                          <a:rPr lang="en-HK" sz="2000" i="0">
                            <a:solidFill>
                              <a:schemeClr val="bg2">
                                <a:lumMod val="60000"/>
                                <a:lumOff val="40000"/>
                              </a:schemeClr>
                            </a:solidFill>
                            <a:latin typeface="Georgia" panose="02040502050405020303" pitchFamily="18" charset="0"/>
                          </a:rPr>
                          <m:t>//</m:t>
                        </m:r>
                        <m:r>
                          <a:rPr lang="en-HK" sz="2000" b="0" i="1">
                            <a:solidFill>
                              <a:schemeClr val="bg2">
                                <a:lumMod val="60000"/>
                                <a:lumOff val="40000"/>
                              </a:schemeClr>
                            </a:solidFill>
                            <a:latin typeface="Cambria Math" panose="02040503050406030204" pitchFamily="18" charset="0"/>
                          </a:rPr>
                          <m:t>𝑖𝑛𝑖𝑡𝑖𝑎𝑙</m:t>
                        </m:r>
                      </m:sub>
                    </m:sSub>
                  </m:oMath>
                </a14:m>
                <a:r>
                  <a:rPr lang="en-US" altLang="zh-CN" sz="2000" i="1" dirty="0">
                    <a:solidFill>
                      <a:schemeClr val="bg2">
                        <a:lumMod val="60000"/>
                        <a:lumOff val="40000"/>
                      </a:schemeClr>
                    </a:solidFill>
                    <a:latin typeface="Georgia" panose="02040502050405020303" pitchFamily="18" charset="0"/>
                    <a:ea typeface="宋体" pitchFamily="2" charset="-122"/>
                    <a:cs typeface="Times New Roman" pitchFamily="18" charset="0"/>
                  </a:rPr>
                  <a:t>  </a:t>
                </a:r>
                <a:endParaRPr lang="en-US" altLang="zh-CN" sz="2000" i="1" dirty="0">
                  <a:solidFill>
                    <a:srgbClr val="0000FF"/>
                  </a:solidFill>
                  <a:latin typeface="Georgia" panose="02040502050405020303" pitchFamily="18" charset="0"/>
                  <a:ea typeface="宋体" pitchFamily="2" charset="-122"/>
                  <a:cs typeface="Times New Roman" pitchFamily="18" charset="0"/>
                </a:endParaRPr>
              </a:p>
            </p:txBody>
          </p:sp>
        </mc:Choice>
        <mc:Fallback xmlns="">
          <p:sp>
            <p:nvSpPr>
              <p:cNvPr id="8" name="Text Box 4">
                <a:extLst>
                  <a:ext uri="{FF2B5EF4-FFF2-40B4-BE49-F238E27FC236}">
                    <a16:creationId xmlns:a16="http://schemas.microsoft.com/office/drawing/2014/main" id="{48036824-0460-E4FF-D740-5D4DB859BDE1}"/>
                  </a:ext>
                </a:extLst>
              </p:cNvPr>
              <p:cNvSpPr txBox="1">
                <a:spLocks noRot="1" noChangeAspect="1" noMove="1" noResize="1" noEditPoints="1" noAdjustHandles="1" noChangeArrowheads="1" noChangeShapeType="1" noTextEdit="1"/>
              </p:cNvSpPr>
              <p:nvPr/>
            </p:nvSpPr>
            <p:spPr bwMode="auto">
              <a:xfrm>
                <a:off x="735406" y="5735819"/>
                <a:ext cx="8142288" cy="792461"/>
              </a:xfrm>
              <a:prstGeom prst="rect">
                <a:avLst/>
              </a:prstGeom>
              <a:blipFill>
                <a:blip r:embed="rId5"/>
                <a:stretch>
                  <a:fillRect l="-824" t="-5385" b="-9231"/>
                </a:stretch>
              </a:blipFill>
              <a:ln w="9525">
                <a:noFill/>
                <a:miter lim="800000"/>
                <a:headEnd/>
                <a:tailEnd/>
              </a:ln>
              <a:effectLst/>
            </p:spPr>
            <p:txBody>
              <a:bodyPr/>
              <a:lstStyle/>
              <a:p>
                <a:r>
                  <a:rPr lang="en-HK">
                    <a:noFill/>
                  </a:rPr>
                  <a:t> </a:t>
                </a:r>
              </a:p>
            </p:txBody>
          </p:sp>
        </mc:Fallback>
      </mc:AlternateContent>
      <p:sp>
        <p:nvSpPr>
          <p:cNvPr id="4" name="Text Box 16">
            <a:extLst>
              <a:ext uri="{FF2B5EF4-FFF2-40B4-BE49-F238E27FC236}">
                <a16:creationId xmlns:a16="http://schemas.microsoft.com/office/drawing/2014/main" id="{56243853-BFE6-1E4B-B625-0591B7126DAE}"/>
              </a:ext>
            </a:extLst>
          </p:cNvPr>
          <p:cNvSpPr txBox="1">
            <a:spLocks noChangeArrowheads="1"/>
          </p:cNvSpPr>
          <p:nvPr/>
        </p:nvSpPr>
        <p:spPr bwMode="auto">
          <a:xfrm>
            <a:off x="5638800" y="3124200"/>
            <a:ext cx="293670" cy="276999"/>
          </a:xfrm>
          <a:prstGeom prst="rect">
            <a:avLst/>
          </a:prstGeom>
          <a:noFill/>
          <a:ln w="9525">
            <a:noFill/>
            <a:miter lim="800000"/>
            <a:headEnd/>
            <a:tailEnd/>
          </a:ln>
          <a:effectLst/>
        </p:spPr>
        <p:txBody>
          <a:bodyPr wrap="none">
            <a:spAutoFit/>
          </a:bodyPr>
          <a:lstStyle/>
          <a:p>
            <a:r>
              <a:rPr lang="en-US" altLang="zh-CN" sz="1200" dirty="0">
                <a:latin typeface="Georgia" panose="02040502050405020303" pitchFamily="18" charset="0"/>
                <a:ea typeface="宋体" pitchFamily="2" charset="-122"/>
              </a:rPr>
              <a:t>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2" name="Text Box 9"/>
          <p:cNvSpPr txBox="1">
            <a:spLocks noChangeArrowheads="1"/>
          </p:cNvSpPr>
          <p:nvPr/>
        </p:nvSpPr>
        <p:spPr bwMode="auto">
          <a:xfrm>
            <a:off x="799641" y="3505200"/>
            <a:ext cx="7162800" cy="701675"/>
          </a:xfrm>
          <a:prstGeom prst="rect">
            <a:avLst/>
          </a:prstGeom>
          <a:noFill/>
          <a:ln w="9525">
            <a:noFill/>
            <a:miter lim="800000"/>
            <a:headEnd/>
            <a:tailEnd/>
          </a:ln>
          <a:effectLst/>
        </p:spPr>
        <p:txBody>
          <a:bodyPr>
            <a:spAutoFit/>
          </a:bodyPr>
          <a:lstStyle/>
          <a:p>
            <a:pPr eaLnBrk="1" hangingPunct="1"/>
            <a:r>
              <a:rPr lang="en-US" altLang="zh-CN" sz="2000">
                <a:latin typeface="Times New Roman" pitchFamily="18" charset="0"/>
                <a:ea typeface="宋体" pitchFamily="2" charset="-122"/>
              </a:rPr>
              <a:t>m* is the effective mass of the electron and with inner potential V</a:t>
            </a:r>
            <a:r>
              <a:rPr lang="en-US" altLang="zh-CN" sz="2000" baseline="-25000">
                <a:latin typeface="Times New Roman" pitchFamily="18" charset="0"/>
                <a:ea typeface="宋体" pitchFamily="2" charset="-122"/>
              </a:rPr>
              <a:t>0</a:t>
            </a:r>
            <a:r>
              <a:rPr lang="en-US" altLang="zh-CN" sz="2000">
                <a:latin typeface="Times New Roman" pitchFamily="18" charset="0"/>
                <a:ea typeface="宋体" pitchFamily="2" charset="-122"/>
              </a:rPr>
              <a:t>, there is: </a:t>
            </a:r>
          </a:p>
        </p:txBody>
      </p:sp>
      <p:sp>
        <p:nvSpPr>
          <p:cNvPr id="43014" name="Rectangle 13"/>
          <p:cNvSpPr>
            <a:spLocks noChangeArrowheads="1"/>
          </p:cNvSpPr>
          <p:nvPr/>
        </p:nvSpPr>
        <p:spPr bwMode="auto">
          <a:xfrm>
            <a:off x="762000" y="304800"/>
            <a:ext cx="1680781" cy="369332"/>
          </a:xfrm>
          <a:prstGeom prst="rect">
            <a:avLst/>
          </a:prstGeom>
          <a:noFill/>
          <a:ln w="9525">
            <a:noFill/>
            <a:miter lim="800000"/>
            <a:headEnd/>
            <a:tailEnd/>
          </a:ln>
          <a:effectLst/>
        </p:spPr>
        <p:txBody>
          <a:bodyPr wrap="none">
            <a:spAutoFit/>
          </a:bodyPr>
          <a:lstStyle/>
          <a:p>
            <a:r>
              <a:rPr lang="en-US" altLang="zh-CN" b="1" dirty="0">
                <a:solidFill>
                  <a:srgbClr val="FF3300"/>
                </a:solidFill>
                <a:ea typeface="宋体" pitchFamily="2" charset="-122"/>
              </a:rPr>
              <a:t>To determine </a:t>
            </a:r>
            <a:endParaRPr lang="zh-CN" altLang="en-US" b="1" dirty="0">
              <a:solidFill>
                <a:srgbClr val="FF3300"/>
              </a:solidFill>
              <a:ea typeface="宋体" pitchFamily="2" charset="-122"/>
            </a:endParaRPr>
          </a:p>
        </p:txBody>
      </p:sp>
      <p:graphicFrame>
        <p:nvGraphicFramePr>
          <p:cNvPr id="43015" name="Object 15"/>
          <p:cNvGraphicFramePr>
            <a:graphicFrameLocks noChangeAspect="1"/>
          </p:cNvGraphicFramePr>
          <p:nvPr>
            <p:extLst>
              <p:ext uri="{D42A27DB-BD31-4B8C-83A1-F6EECF244321}">
                <p14:modId xmlns:p14="http://schemas.microsoft.com/office/powerpoint/2010/main" val="4135491452"/>
              </p:ext>
            </p:extLst>
          </p:nvPr>
        </p:nvGraphicFramePr>
        <p:xfrm>
          <a:off x="1256841" y="2514600"/>
          <a:ext cx="4038600" cy="803275"/>
        </p:xfrm>
        <a:graphic>
          <a:graphicData uri="http://schemas.openxmlformats.org/presentationml/2006/ole">
            <mc:AlternateContent xmlns:mc="http://schemas.openxmlformats.org/markup-compatibility/2006">
              <mc:Choice xmlns:v="urn:schemas-microsoft-com:vml" Requires="v">
                <p:oleObj name="Equation" r:id="rId2" imgW="2235200" imgH="444500" progId="Equation.3">
                  <p:embed/>
                </p:oleObj>
              </mc:Choice>
              <mc:Fallback>
                <p:oleObj name="Equation" r:id="rId2" imgW="2235200" imgH="444500"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841" y="2514600"/>
                        <a:ext cx="4038600" cy="8032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3016" name="Object 16"/>
          <p:cNvGraphicFramePr>
            <a:graphicFrameLocks noChangeAspect="1"/>
          </p:cNvGraphicFramePr>
          <p:nvPr>
            <p:extLst>
              <p:ext uri="{D42A27DB-BD31-4B8C-83A1-F6EECF244321}">
                <p14:modId xmlns:p14="http://schemas.microsoft.com/office/powerpoint/2010/main" val="3007029359"/>
              </p:ext>
            </p:extLst>
          </p:nvPr>
        </p:nvGraphicFramePr>
        <p:xfrm>
          <a:off x="2247441" y="4419600"/>
          <a:ext cx="3303588" cy="647700"/>
        </p:xfrm>
        <a:graphic>
          <a:graphicData uri="http://schemas.openxmlformats.org/presentationml/2006/ole">
            <mc:AlternateContent xmlns:mc="http://schemas.openxmlformats.org/markup-compatibility/2006">
              <mc:Choice xmlns:v="urn:schemas-microsoft-com:vml" Requires="v">
                <p:oleObj name="Equation" r:id="rId4" imgW="2005729" imgH="393529" progId="Equation.3">
                  <p:embed/>
                </p:oleObj>
              </mc:Choice>
              <mc:Fallback>
                <p:oleObj name="Equation" r:id="rId4" imgW="2005729" imgH="393529"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7441" y="4419600"/>
                        <a:ext cx="3303588" cy="647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0" name="Rectangle 16">
                <a:extLst>
                  <a:ext uri="{FF2B5EF4-FFF2-40B4-BE49-F238E27FC236}">
                    <a16:creationId xmlns:a16="http://schemas.microsoft.com/office/drawing/2014/main" id="{2EB1A5BF-39CE-4F87-9200-7CE86D22768E}"/>
                  </a:ext>
                </a:extLst>
              </p:cNvPr>
              <p:cNvSpPr>
                <a:spLocks noChangeArrowheads="1"/>
              </p:cNvSpPr>
              <p:nvPr/>
            </p:nvSpPr>
            <p:spPr bwMode="auto">
              <a:xfrm>
                <a:off x="762000" y="304800"/>
                <a:ext cx="2644122" cy="394210"/>
              </a:xfrm>
              <a:prstGeom prst="rect">
                <a:avLst/>
              </a:prstGeom>
              <a:noFill/>
              <a:ln w="9525">
                <a:noFill/>
                <a:miter lim="800000"/>
                <a:headEnd/>
                <a:tailEnd/>
              </a:ln>
              <a:effectLst/>
            </p:spPr>
            <p:txBody>
              <a:bodyPr wrap="none">
                <a:spAutoFit/>
              </a:bodyPr>
              <a:lstStyle/>
              <a:p>
                <a:r>
                  <a:rPr lang="en-US" altLang="zh-CN" b="1" dirty="0">
                    <a:solidFill>
                      <a:srgbClr val="FF3300"/>
                    </a:solidFill>
                    <a:ea typeface="宋体" pitchFamily="2" charset="-122"/>
                  </a:rPr>
                  <a:t>To determine </a:t>
                </a:r>
                <a14:m>
                  <m:oMath xmlns:m="http://schemas.openxmlformats.org/officeDocument/2006/math">
                    <m:sSub>
                      <m:sSubPr>
                        <m:ctrlPr>
                          <a:rPr lang="en-US" altLang="zh-CN" b="1" i="1" smtClean="0">
                            <a:solidFill>
                              <a:srgbClr val="FF3300"/>
                            </a:solidFill>
                            <a:latin typeface="Cambria Math" panose="02040503050406030204" pitchFamily="18" charset="0"/>
                            <a:ea typeface="宋体" pitchFamily="2" charset="-122"/>
                          </a:rPr>
                        </m:ctrlPr>
                      </m:sSubPr>
                      <m:e>
                        <m:r>
                          <a:rPr lang="en-US" altLang="zh-CN" b="1" i="1" smtClean="0">
                            <a:solidFill>
                              <a:srgbClr val="FF3300"/>
                            </a:solidFill>
                            <a:latin typeface="Cambria Math" panose="02040503050406030204" pitchFamily="18" charset="0"/>
                            <a:ea typeface="宋体" pitchFamily="2" charset="-122"/>
                          </a:rPr>
                          <m:t>𝒌</m:t>
                        </m:r>
                      </m:e>
                      <m:sub>
                        <m:r>
                          <a:rPr lang="en-US" altLang="zh-CN" b="1" i="1" smtClean="0">
                            <a:solidFill>
                              <a:srgbClr val="FF3300"/>
                            </a:solidFill>
                            <a:latin typeface="Cambria Math" panose="02040503050406030204" pitchFamily="18" charset="0"/>
                            <a:ea typeface="Cambria Math" panose="02040503050406030204" pitchFamily="18" charset="0"/>
                          </a:rPr>
                          <m:t>⊥</m:t>
                        </m:r>
                        <m:r>
                          <a:rPr lang="en-US" altLang="zh-CN" b="1" i="1" smtClean="0">
                            <a:solidFill>
                              <a:srgbClr val="FF3300"/>
                            </a:solidFill>
                            <a:latin typeface="Cambria Math" panose="02040503050406030204" pitchFamily="18" charset="0"/>
                            <a:ea typeface="Cambria Math" panose="02040503050406030204" pitchFamily="18" charset="0"/>
                          </a:rPr>
                          <m:t>𝒔𝒂𝒎𝒑𝒍𝒆</m:t>
                        </m:r>
                      </m:sub>
                    </m:sSub>
                  </m:oMath>
                </a14:m>
                <a:r>
                  <a:rPr lang="en-US" altLang="zh-CN" b="1" dirty="0">
                    <a:solidFill>
                      <a:srgbClr val="FF3300"/>
                    </a:solidFill>
                    <a:ea typeface="宋体" pitchFamily="2" charset="-122"/>
                  </a:rPr>
                  <a:t>*</a:t>
                </a:r>
                <a:endParaRPr lang="zh-CN" altLang="en-US" b="1" dirty="0">
                  <a:solidFill>
                    <a:srgbClr val="FF3300"/>
                  </a:solidFill>
                  <a:ea typeface="宋体" pitchFamily="2" charset="-122"/>
                </a:endParaRPr>
              </a:p>
            </p:txBody>
          </p:sp>
        </mc:Choice>
        <mc:Fallback xmlns="">
          <p:sp>
            <p:nvSpPr>
              <p:cNvPr id="10" name="Rectangle 16">
                <a:extLst>
                  <a:ext uri="{FF2B5EF4-FFF2-40B4-BE49-F238E27FC236}">
                    <a16:creationId xmlns:a16="http://schemas.microsoft.com/office/drawing/2014/main" id="{2EB1A5BF-39CE-4F87-9200-7CE86D22768E}"/>
                  </a:ext>
                </a:extLst>
              </p:cNvPr>
              <p:cNvSpPr>
                <a:spLocks noRot="1" noChangeAspect="1" noMove="1" noResize="1" noEditPoints="1" noAdjustHandles="1" noChangeArrowheads="1" noChangeShapeType="1" noTextEdit="1"/>
              </p:cNvSpPr>
              <p:nvPr/>
            </p:nvSpPr>
            <p:spPr bwMode="auto">
              <a:xfrm>
                <a:off x="762000" y="304800"/>
                <a:ext cx="2644122" cy="394210"/>
              </a:xfrm>
              <a:prstGeom prst="rect">
                <a:avLst/>
              </a:prstGeom>
              <a:blipFill>
                <a:blip r:embed="rId7"/>
                <a:stretch>
                  <a:fillRect l="-1843" t="-7692" r="-922" b="-16923"/>
                </a:stretch>
              </a:blipFill>
              <a:ln w="9525">
                <a:noFill/>
                <a:miter lim="800000"/>
                <a:headEnd/>
                <a:tailEnd/>
              </a:ln>
              <a:effectLst/>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BA937F2-C0D1-4C02-B05E-8FDF74285439}"/>
              </a:ext>
            </a:extLst>
          </p:cNvPr>
          <p:cNvSpPr>
            <a:spLocks noGrp="1"/>
          </p:cNvSpPr>
          <p:nvPr>
            <p:ph type="sldNum" sz="quarter" idx="11"/>
          </p:nvPr>
        </p:nvSpPr>
        <p:spPr/>
        <p:txBody>
          <a:bodyPr/>
          <a:lstStyle/>
          <a:p>
            <a:pPr>
              <a:defRPr/>
            </a:pPr>
            <a:fld id="{5A031570-0DA8-4A71-BBF6-3150CEB7570B}" type="slidenum">
              <a:rPr lang="zh-TW" altLang="en-US" smtClean="0"/>
              <a:pPr>
                <a:defRPr/>
              </a:pPr>
              <a:t>28</a:t>
            </a:fld>
            <a:endParaRPr lang="en-US" altLang="zh-TW"/>
          </a:p>
        </p:txBody>
      </p:sp>
      <p:sp>
        <p:nvSpPr>
          <p:cNvPr id="4" name="TextBox 3">
            <a:extLst>
              <a:ext uri="{FF2B5EF4-FFF2-40B4-BE49-F238E27FC236}">
                <a16:creationId xmlns:a16="http://schemas.microsoft.com/office/drawing/2014/main" id="{96ED1B1D-4F12-50E5-F026-151FE87966B1}"/>
              </a:ext>
            </a:extLst>
          </p:cNvPr>
          <p:cNvSpPr txBox="1"/>
          <p:nvPr/>
        </p:nvSpPr>
        <p:spPr>
          <a:xfrm>
            <a:off x="762000" y="1188115"/>
            <a:ext cx="8343441" cy="646331"/>
          </a:xfrm>
          <a:prstGeom prst="rect">
            <a:avLst/>
          </a:prstGeom>
          <a:noFill/>
        </p:spPr>
        <p:txBody>
          <a:bodyPr wrap="square">
            <a:spAutoFit/>
          </a:bodyPr>
          <a:lstStyle/>
          <a:p>
            <a:r>
              <a:rPr lang="en-US" altLang="zh-CN" dirty="0">
                <a:ea typeface="宋体" pitchFamily="2" charset="-122"/>
              </a:rPr>
              <a:t>The surface represents a scattering potential with only 2D translational symmetry. </a:t>
            </a:r>
            <a:endParaRPr lang="en-HK"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704850" y="228600"/>
            <a:ext cx="8229600" cy="457200"/>
          </a:xfrm>
          <a:prstGeom prst="rect">
            <a:avLst/>
          </a:prstGeom>
          <a:noFill/>
          <a:ln w="9525">
            <a:noFill/>
            <a:miter lim="800000"/>
            <a:headEnd/>
            <a:tailEnd/>
          </a:ln>
        </p:spPr>
        <p:txBody>
          <a:bodyPr anchor="ctr"/>
          <a:lstStyle/>
          <a:p>
            <a:pPr eaLnBrk="1" hangingPunct="1"/>
            <a:r>
              <a:rPr lang="en-US" altLang="zh-TW" sz="2400" dirty="0">
                <a:solidFill>
                  <a:schemeClr val="bg1"/>
                </a:solidFill>
                <a:latin typeface="Georgia" panose="02040502050405020303" pitchFamily="18" charset="0"/>
                <a:ea typeface="新細明體" pitchFamily="18" charset="-120"/>
              </a:rPr>
              <a:t>Angle resolved UPS*</a:t>
            </a:r>
          </a:p>
        </p:txBody>
      </p:sp>
      <p:pic>
        <p:nvPicPr>
          <p:cNvPr id="22531" name="Picture 5" descr="4"/>
          <p:cNvPicPr>
            <a:picLocks noChangeAspect="1" noChangeArrowheads="1"/>
          </p:cNvPicPr>
          <p:nvPr/>
        </p:nvPicPr>
        <p:blipFill>
          <a:blip r:embed="rId2" cstate="print">
            <a:lum bright="-20000" contrast="40000"/>
          </a:blip>
          <a:srcRect/>
          <a:stretch>
            <a:fillRect/>
          </a:stretch>
        </p:blipFill>
        <p:spPr bwMode="auto">
          <a:xfrm>
            <a:off x="4972050" y="3005138"/>
            <a:ext cx="3276600" cy="3238500"/>
          </a:xfrm>
          <a:prstGeom prst="rect">
            <a:avLst/>
          </a:prstGeom>
          <a:noFill/>
          <a:ln w="9525">
            <a:noFill/>
            <a:miter lim="800000"/>
            <a:headEnd/>
            <a:tailEnd/>
          </a:ln>
        </p:spPr>
      </p:pic>
      <p:sp>
        <p:nvSpPr>
          <p:cNvPr id="22532" name="Rectangle 7"/>
          <p:cNvSpPr>
            <a:spLocks noChangeArrowheads="1"/>
          </p:cNvSpPr>
          <p:nvPr/>
        </p:nvSpPr>
        <p:spPr bwMode="auto">
          <a:xfrm>
            <a:off x="4419600" y="1289357"/>
            <a:ext cx="4122738" cy="1631216"/>
          </a:xfrm>
          <a:prstGeom prst="rect">
            <a:avLst/>
          </a:prstGeom>
          <a:noFill/>
          <a:ln w="9525">
            <a:noFill/>
            <a:miter lim="800000"/>
            <a:headEnd/>
            <a:tailEnd/>
          </a:ln>
        </p:spPr>
        <p:txBody>
          <a:bodyPr wrap="square">
            <a:spAutoFit/>
          </a:bodyPr>
          <a:lstStyle/>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in ARUPS, UPS spectra are collected as various acceptance angle, </a:t>
            </a:r>
            <a:r>
              <a:rPr lang="en-US" altLang="zh-TW" sz="2000" dirty="0">
                <a:latin typeface="Symbol" panose="05050102010706020507" pitchFamily="18" charset="2"/>
                <a:ea typeface="新細明體" pitchFamily="18" charset="-120"/>
              </a:rPr>
              <a:t>q</a:t>
            </a:r>
            <a:r>
              <a:rPr lang="en-US" altLang="zh-TW" sz="2000" dirty="0">
                <a:latin typeface="Georgia" panose="02040502050405020303" pitchFamily="18" charset="0"/>
                <a:ea typeface="新細明體" pitchFamily="18" charset="-120"/>
              </a:rPr>
              <a:t>, the position and relative intensity of the UPS peaks are carefully traced and recorded.</a:t>
            </a:r>
          </a:p>
        </p:txBody>
      </p:sp>
      <p:sp>
        <p:nvSpPr>
          <p:cNvPr id="22533" name="Rectangle 8"/>
          <p:cNvSpPr>
            <a:spLocks noChangeArrowheads="1"/>
          </p:cNvSpPr>
          <p:nvPr/>
        </p:nvSpPr>
        <p:spPr bwMode="auto">
          <a:xfrm>
            <a:off x="704850" y="3996869"/>
            <a:ext cx="3867150" cy="1938992"/>
          </a:xfrm>
          <a:prstGeom prst="rect">
            <a:avLst/>
          </a:prstGeom>
          <a:noFill/>
          <a:ln w="9525">
            <a:noFill/>
            <a:miter lim="800000"/>
            <a:headEnd/>
            <a:tailEnd/>
          </a:ln>
        </p:spPr>
        <p:txBody>
          <a:bodyPr wrap="square">
            <a:spAutoFit/>
          </a:bodyPr>
          <a:lstStyle/>
          <a:p>
            <a:pPr marL="187325" indent="-187325" algn="just" eaLnBrk="1" hangingPunct="1">
              <a:buFont typeface="Wingdings" pitchFamily="2" charset="2"/>
              <a:buChar char="§"/>
            </a:pPr>
            <a:r>
              <a:rPr lang="en-US" altLang="zh-TW" sz="2000" dirty="0">
                <a:latin typeface="Georgia" panose="02040502050405020303" pitchFamily="18" charset="0"/>
                <a:ea typeface="新細明體" pitchFamily="18" charset="-120"/>
              </a:rPr>
              <a:t>if enough accurate data are acquired, a band structure diagram can be constructed, giving us more detailed information on the valence band structure of the sample.</a:t>
            </a:r>
          </a:p>
        </p:txBody>
      </p:sp>
      <p:grpSp>
        <p:nvGrpSpPr>
          <p:cNvPr id="22534" name="Group 10"/>
          <p:cNvGrpSpPr>
            <a:grpSpLocks/>
          </p:cNvGrpSpPr>
          <p:nvPr/>
        </p:nvGrpSpPr>
        <p:grpSpPr bwMode="auto">
          <a:xfrm>
            <a:off x="438150" y="914400"/>
            <a:ext cx="4343400" cy="2819400"/>
            <a:chOff x="624" y="912"/>
            <a:chExt cx="2448" cy="1488"/>
          </a:xfrm>
        </p:grpSpPr>
        <p:pic>
          <p:nvPicPr>
            <p:cNvPr id="22535" name="Picture 6" descr="3"/>
            <p:cNvPicPr>
              <a:picLocks noChangeAspect="1" noChangeArrowheads="1"/>
            </p:cNvPicPr>
            <p:nvPr/>
          </p:nvPicPr>
          <p:blipFill>
            <a:blip r:embed="rId3" cstate="print">
              <a:lum bright="-20000" contrast="40000"/>
            </a:blip>
            <a:srcRect/>
            <a:stretch>
              <a:fillRect/>
            </a:stretch>
          </p:blipFill>
          <p:spPr bwMode="auto">
            <a:xfrm>
              <a:off x="624" y="960"/>
              <a:ext cx="2381" cy="1440"/>
            </a:xfrm>
            <a:prstGeom prst="rect">
              <a:avLst/>
            </a:prstGeom>
            <a:noFill/>
            <a:ln w="9525">
              <a:noFill/>
              <a:miter lim="800000"/>
              <a:headEnd/>
              <a:tailEnd/>
            </a:ln>
          </p:spPr>
        </p:pic>
        <p:sp>
          <p:nvSpPr>
            <p:cNvPr id="22536" name="Rectangle 9"/>
            <p:cNvSpPr>
              <a:spLocks noChangeArrowheads="1"/>
            </p:cNvSpPr>
            <p:nvPr/>
          </p:nvSpPr>
          <p:spPr bwMode="auto">
            <a:xfrm>
              <a:off x="2544" y="912"/>
              <a:ext cx="528" cy="96"/>
            </a:xfrm>
            <a:prstGeom prst="rect">
              <a:avLst/>
            </a:prstGeom>
            <a:solidFill>
              <a:schemeClr val="bg1"/>
            </a:solidFill>
            <a:ln w="9525">
              <a:noFill/>
              <a:miter lim="800000"/>
              <a:headEnd/>
              <a:tailEnd/>
            </a:ln>
          </p:spPr>
          <p:txBody>
            <a:bodyPr wrap="none" anchor="ctr"/>
            <a:lstStyle/>
            <a:p>
              <a:endParaRPr lang="zh-CN" altLang="zh-CN" sz="2000">
                <a:latin typeface="Georgia" panose="02040502050405020303" pitchFamily="18" charset="0"/>
                <a:ea typeface="宋体" charset="-122"/>
              </a:endParaRPr>
            </a:p>
          </p:txBody>
        </p:sp>
      </p:grpSp>
      <p:sp>
        <p:nvSpPr>
          <p:cNvPr id="2" name="Slide Number Placeholder 1">
            <a:extLst>
              <a:ext uri="{FF2B5EF4-FFF2-40B4-BE49-F238E27FC236}">
                <a16:creationId xmlns:a16="http://schemas.microsoft.com/office/drawing/2014/main" id="{69ED0BEB-506E-409B-A870-265EAFA76441}"/>
              </a:ext>
            </a:extLst>
          </p:cNvPr>
          <p:cNvSpPr>
            <a:spLocks noGrp="1"/>
          </p:cNvSpPr>
          <p:nvPr>
            <p:ph type="sldNum" sz="quarter" idx="11"/>
          </p:nvPr>
        </p:nvSpPr>
        <p:spPr/>
        <p:txBody>
          <a:bodyPr/>
          <a:lstStyle/>
          <a:p>
            <a:pPr>
              <a:defRPr/>
            </a:pPr>
            <a:fld id="{5A031570-0DA8-4A71-BBF6-3150CEB7570B}" type="slidenum">
              <a:rPr lang="zh-TW" altLang="en-US" smtClean="0"/>
              <a:pPr>
                <a:defRPr/>
              </a:pPr>
              <a:t>29</a:t>
            </a:fld>
            <a:endParaRPr lang="en-US" altLang="zh-TW"/>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14375" y="-304800"/>
            <a:ext cx="6477000" cy="1524000"/>
          </a:xfrm>
        </p:spPr>
        <p:txBody>
          <a:bodyPr/>
          <a:lstStyle/>
          <a:p>
            <a:pPr eaLnBrk="1" hangingPunct="1"/>
            <a:r>
              <a:rPr lang="en-US" altLang="en-US" sz="2400" b="1" dirty="0">
                <a:solidFill>
                  <a:schemeClr val="bg1"/>
                </a:solidFill>
                <a:latin typeface="Georgia" panose="02040502050405020303" pitchFamily="18" charset="0"/>
              </a:rPr>
              <a:t>Inverse photoemission (IPES)</a:t>
            </a:r>
          </a:p>
        </p:txBody>
      </p:sp>
      <p:pic>
        <p:nvPicPr>
          <p:cNvPr id="15363" name="Picture 5" descr="C:\Documents and Settings\phygaoxy\Desktop\UPS and Its Applications\e) Electronic Structure_files\PhotoEmission1.j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988" y="796470"/>
            <a:ext cx="5124450" cy="56805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364" name="Text Box 6"/>
          <p:cNvSpPr txBox="1">
            <a:spLocks noChangeArrowheads="1"/>
          </p:cNvSpPr>
          <p:nvPr/>
        </p:nvSpPr>
        <p:spPr bwMode="auto">
          <a:xfrm>
            <a:off x="6248400" y="1257300"/>
            <a:ext cx="2454275" cy="3140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altLang="en-US" dirty="0"/>
              <a:t>UPS give information about occupied states</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IPES gives information about unoccupied states.</a:t>
            </a:r>
          </a:p>
        </p:txBody>
      </p:sp>
      <p:grpSp>
        <p:nvGrpSpPr>
          <p:cNvPr id="15365" name="Group 17"/>
          <p:cNvGrpSpPr>
            <a:grpSpLocks/>
          </p:cNvGrpSpPr>
          <p:nvPr/>
        </p:nvGrpSpPr>
        <p:grpSpPr bwMode="auto">
          <a:xfrm>
            <a:off x="6713538" y="1958975"/>
            <a:ext cx="1676400" cy="1287463"/>
            <a:chOff x="4272" y="1829"/>
            <a:chExt cx="1056" cy="811"/>
          </a:xfrm>
        </p:grpSpPr>
        <p:sp>
          <p:nvSpPr>
            <p:cNvPr id="15372" name="Rectangle 7"/>
            <p:cNvSpPr>
              <a:spLocks noChangeArrowheads="1"/>
            </p:cNvSpPr>
            <p:nvPr/>
          </p:nvSpPr>
          <p:spPr bwMode="auto">
            <a:xfrm>
              <a:off x="4320" y="2496"/>
              <a:ext cx="864"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endParaRPr lang="en-US" altLang="en-US"/>
            </a:p>
          </p:txBody>
        </p:sp>
        <p:sp>
          <p:nvSpPr>
            <p:cNvPr id="15373" name="Line 8"/>
            <p:cNvSpPr>
              <a:spLocks noChangeShapeType="1"/>
            </p:cNvSpPr>
            <p:nvPr/>
          </p:nvSpPr>
          <p:spPr bwMode="auto">
            <a:xfrm flipH="1">
              <a:off x="4800" y="2016"/>
              <a:ext cx="528" cy="480"/>
            </a:xfrm>
            <a:prstGeom prst="line">
              <a:avLst/>
            </a:prstGeom>
            <a:noFill/>
            <a:ln w="38100">
              <a:solidFill>
                <a:srgbClr val="6666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374" name="Line 9"/>
            <p:cNvSpPr>
              <a:spLocks noChangeShapeType="1"/>
            </p:cNvSpPr>
            <p:nvPr/>
          </p:nvSpPr>
          <p:spPr bwMode="auto">
            <a:xfrm flipH="1" flipV="1">
              <a:off x="4272" y="2016"/>
              <a:ext cx="480" cy="48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375" name="Text Box 10"/>
            <p:cNvSpPr txBox="1">
              <a:spLocks noChangeArrowheads="1"/>
            </p:cNvSpPr>
            <p:nvPr/>
          </p:nvSpPr>
          <p:spPr bwMode="auto">
            <a:xfrm>
              <a:off x="4406" y="1881"/>
              <a:ext cx="24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altLang="en-US"/>
                <a:t>e-</a:t>
              </a:r>
            </a:p>
          </p:txBody>
        </p:sp>
        <p:sp>
          <p:nvSpPr>
            <p:cNvPr id="15376" name="Text Box 11"/>
            <p:cNvSpPr txBox="1">
              <a:spLocks noChangeArrowheads="1"/>
            </p:cNvSpPr>
            <p:nvPr/>
          </p:nvSpPr>
          <p:spPr bwMode="auto">
            <a:xfrm>
              <a:off x="4934" y="1829"/>
              <a:ext cx="27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altLang="en-US"/>
                <a:t>h</a:t>
              </a:r>
              <a:r>
                <a:rPr lang="en-US" altLang="en-US">
                  <a:latin typeface="Symbol" pitchFamily="18" charset="2"/>
                </a:rPr>
                <a:t>n</a:t>
              </a:r>
            </a:p>
          </p:txBody>
        </p:sp>
      </p:grpSp>
      <p:grpSp>
        <p:nvGrpSpPr>
          <p:cNvPr id="15366" name="Group 18"/>
          <p:cNvGrpSpPr>
            <a:grpSpLocks/>
          </p:cNvGrpSpPr>
          <p:nvPr/>
        </p:nvGrpSpPr>
        <p:grpSpPr bwMode="auto">
          <a:xfrm>
            <a:off x="6561138" y="4397375"/>
            <a:ext cx="1524000" cy="1219200"/>
            <a:chOff x="4176" y="3408"/>
            <a:chExt cx="960" cy="768"/>
          </a:xfrm>
        </p:grpSpPr>
        <p:sp>
          <p:nvSpPr>
            <p:cNvPr id="15367" name="Rectangle 12"/>
            <p:cNvSpPr>
              <a:spLocks noChangeArrowheads="1"/>
            </p:cNvSpPr>
            <p:nvPr/>
          </p:nvSpPr>
          <p:spPr bwMode="auto">
            <a:xfrm>
              <a:off x="4224" y="4032"/>
              <a:ext cx="864"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endParaRPr lang="en-US" altLang="en-US"/>
            </a:p>
          </p:txBody>
        </p:sp>
        <p:sp>
          <p:nvSpPr>
            <p:cNvPr id="15368" name="Line 13"/>
            <p:cNvSpPr>
              <a:spLocks noChangeShapeType="1"/>
            </p:cNvSpPr>
            <p:nvPr/>
          </p:nvSpPr>
          <p:spPr bwMode="auto">
            <a:xfrm flipH="1" flipV="1">
              <a:off x="4176" y="3504"/>
              <a:ext cx="480" cy="528"/>
            </a:xfrm>
            <a:prstGeom prst="line">
              <a:avLst/>
            </a:prstGeom>
            <a:noFill/>
            <a:ln w="38100">
              <a:solidFill>
                <a:srgbClr val="6666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369" name="Line 14"/>
            <p:cNvSpPr>
              <a:spLocks noChangeShapeType="1"/>
            </p:cNvSpPr>
            <p:nvPr/>
          </p:nvSpPr>
          <p:spPr bwMode="auto">
            <a:xfrm flipH="1">
              <a:off x="4656" y="3600"/>
              <a:ext cx="480" cy="43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370" name="Text Box 15"/>
            <p:cNvSpPr txBox="1">
              <a:spLocks noChangeArrowheads="1"/>
            </p:cNvSpPr>
            <p:nvPr/>
          </p:nvSpPr>
          <p:spPr bwMode="auto">
            <a:xfrm>
              <a:off x="4800" y="3408"/>
              <a:ext cx="24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altLang="en-US"/>
                <a:t>e-</a:t>
              </a:r>
            </a:p>
          </p:txBody>
        </p:sp>
        <p:sp>
          <p:nvSpPr>
            <p:cNvPr id="15371" name="Text Box 16"/>
            <p:cNvSpPr txBox="1">
              <a:spLocks noChangeArrowheads="1"/>
            </p:cNvSpPr>
            <p:nvPr/>
          </p:nvSpPr>
          <p:spPr bwMode="auto">
            <a:xfrm>
              <a:off x="4368" y="3456"/>
              <a:ext cx="27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eaLnBrk="1" hangingPunct="1"/>
              <a:r>
                <a:rPr lang="en-US" altLang="en-US"/>
                <a:t>h</a:t>
              </a:r>
              <a:r>
                <a:rPr lang="en-US" altLang="en-US">
                  <a:latin typeface="Symbol" pitchFamily="18" charset="2"/>
                </a:rPr>
                <a:t>n</a:t>
              </a:r>
            </a:p>
          </p:txBody>
        </p:sp>
      </p:grpSp>
      <p:sp>
        <p:nvSpPr>
          <p:cNvPr id="2" name="Slide Number Placeholder 1">
            <a:extLst>
              <a:ext uri="{FF2B5EF4-FFF2-40B4-BE49-F238E27FC236}">
                <a16:creationId xmlns:a16="http://schemas.microsoft.com/office/drawing/2014/main" id="{2F2274DB-0E7F-4D54-85B6-77213EE7FE7D}"/>
              </a:ext>
            </a:extLst>
          </p:cNvPr>
          <p:cNvSpPr>
            <a:spLocks noGrp="1"/>
          </p:cNvSpPr>
          <p:nvPr>
            <p:ph type="sldNum" sz="quarter" idx="11"/>
          </p:nvPr>
        </p:nvSpPr>
        <p:spPr>
          <a:xfrm>
            <a:off x="6926263" y="5975350"/>
            <a:ext cx="2133600" cy="457200"/>
          </a:xfrm>
        </p:spPr>
        <p:txBody>
          <a:bodyPr/>
          <a:lstStyle/>
          <a:p>
            <a:pPr>
              <a:defRPr/>
            </a:pPr>
            <a:fld id="{D6CF7381-FAB2-40CD-BDC2-DC004732E8ED}" type="slidenum">
              <a:rPr lang="zh-TW" altLang="en-US" smtClean="0"/>
              <a:pPr>
                <a:defRPr/>
              </a:pPr>
              <a:t>30</a:t>
            </a:fld>
            <a:endParaRPr lang="en-US" altLang="zh-TW" dirty="0"/>
          </a:p>
        </p:txBody>
      </p:sp>
    </p:spTree>
    <p:extLst>
      <p:ext uri="{BB962C8B-B14F-4D97-AF65-F5344CB8AC3E}">
        <p14:creationId xmlns:p14="http://schemas.microsoft.com/office/powerpoint/2010/main" val="180865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62000" y="63500"/>
            <a:ext cx="7543800" cy="838200"/>
          </a:xfrm>
        </p:spPr>
        <p:txBody>
          <a:bodyPr/>
          <a:lstStyle/>
          <a:p>
            <a:pPr eaLnBrk="1" hangingPunct="1"/>
            <a:r>
              <a:rPr lang="en-US" altLang="en-US" sz="2400" b="1" dirty="0">
                <a:solidFill>
                  <a:schemeClr val="bg1"/>
                </a:solidFill>
                <a:latin typeface="Georgia" panose="02040502050405020303" pitchFamily="18" charset="0"/>
              </a:rPr>
              <a:t>Why XPS not good for study of bands?</a:t>
            </a:r>
          </a:p>
        </p:txBody>
      </p:sp>
      <p:graphicFrame>
        <p:nvGraphicFramePr>
          <p:cNvPr id="14339" name="Object 4"/>
          <p:cNvGraphicFramePr>
            <a:graphicFrameLocks noChangeAspect="1"/>
          </p:cNvGraphicFramePr>
          <p:nvPr/>
        </p:nvGraphicFramePr>
        <p:xfrm>
          <a:off x="152400" y="914400"/>
          <a:ext cx="3949700" cy="5232400"/>
        </p:xfrm>
        <a:graphic>
          <a:graphicData uri="http://schemas.openxmlformats.org/presentationml/2006/ole">
            <mc:AlternateContent xmlns:mc="http://schemas.openxmlformats.org/markup-compatibility/2006">
              <mc:Choice xmlns:v="urn:schemas-microsoft-com:vml" Requires="v">
                <p:oleObj name="Image" r:id="rId2" imgW="3593651" imgH="4761905" progId="Photoshop.Image.7">
                  <p:embed/>
                </p:oleObj>
              </mc:Choice>
              <mc:Fallback>
                <p:oleObj name="Image" r:id="rId2" imgW="3593651" imgH="4761905"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3949700" cy="5232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4340" name="Text Box 5"/>
          <p:cNvSpPr txBox="1">
            <a:spLocks noChangeArrowheads="1"/>
          </p:cNvSpPr>
          <p:nvPr/>
        </p:nvSpPr>
        <p:spPr bwMode="auto">
          <a:xfrm>
            <a:off x="4038600" y="914400"/>
            <a:ext cx="4724400" cy="56323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algn="just" eaLnBrk="1" hangingPunct="1"/>
            <a:r>
              <a:rPr lang="en-US" altLang="en-US" dirty="0">
                <a:latin typeface="Georgia" panose="02040502050405020303" pitchFamily="18" charset="0"/>
              </a:rPr>
              <a:t>XPS indeed can excite valence bands to get information about such as density of states, however, it is not suitable for the study of valence bands, especially for the study of energy dispersion (k dependence).</a:t>
            </a:r>
          </a:p>
          <a:p>
            <a:pPr algn="just" eaLnBrk="1" hangingPunct="1"/>
            <a:endParaRPr lang="en-US" altLang="en-US" dirty="0">
              <a:latin typeface="Georgia" panose="02040502050405020303" pitchFamily="18" charset="0"/>
            </a:endParaRPr>
          </a:p>
          <a:p>
            <a:pPr marL="342900" indent="-342900" algn="just" eaLnBrk="1" hangingPunct="1">
              <a:buFont typeface="Arial" panose="020B0604020202020204" pitchFamily="34" charset="0"/>
              <a:buChar char="•"/>
            </a:pPr>
            <a:r>
              <a:rPr lang="en-US" altLang="en-US" dirty="0">
                <a:latin typeface="Georgia" panose="02040502050405020303" pitchFamily="18" charset="0"/>
              </a:rPr>
              <a:t>XPS photon energy is too high, the transition probability for valence bands is very small compared with UV light. </a:t>
            </a:r>
          </a:p>
          <a:p>
            <a:pPr marL="342900" indent="-342900" algn="just" eaLnBrk="1" hangingPunct="1">
              <a:buFont typeface="Arial" panose="020B0604020202020204" pitchFamily="34" charset="0"/>
              <a:buChar char="•"/>
            </a:pPr>
            <a:endParaRPr lang="en-US" altLang="en-US" dirty="0">
              <a:latin typeface="Georgia" panose="02040502050405020303" pitchFamily="18" charset="0"/>
            </a:endParaRPr>
          </a:p>
          <a:p>
            <a:pPr marL="342900" indent="-342900" algn="just" eaLnBrk="1" hangingPunct="1">
              <a:buFont typeface="Arial" panose="020B0604020202020204" pitchFamily="34" charset="0"/>
              <a:buChar char="•"/>
            </a:pPr>
            <a:r>
              <a:rPr lang="en-US" altLang="en-US" dirty="0">
                <a:latin typeface="Georgia" panose="02040502050405020303" pitchFamily="18" charset="0"/>
              </a:rPr>
              <a:t>XPS photon have too large energy which leads the electrons from valence bands with very high E</a:t>
            </a:r>
            <a:r>
              <a:rPr lang="en-US" altLang="en-US" baseline="-25000" dirty="0">
                <a:latin typeface="Georgia" panose="02040502050405020303" pitchFamily="18" charset="0"/>
              </a:rPr>
              <a:t>kin</a:t>
            </a:r>
            <a:r>
              <a:rPr lang="en-US" altLang="en-US" dirty="0">
                <a:latin typeface="Georgia" panose="02040502050405020303" pitchFamily="18" charset="0"/>
              </a:rPr>
              <a:t>.  It is hard to analyze spectra with high kinetic energy with high resolution. </a:t>
            </a:r>
          </a:p>
          <a:p>
            <a:pPr algn="just" eaLnBrk="1" hangingPunct="1">
              <a:buFontTx/>
              <a:buChar char="•"/>
            </a:pPr>
            <a:endParaRPr lang="en-US" altLang="en-US" dirty="0">
              <a:latin typeface="Georgia" panose="02040502050405020303" pitchFamily="18" charset="0"/>
            </a:endParaRPr>
          </a:p>
        </p:txBody>
      </p:sp>
      <p:sp>
        <p:nvSpPr>
          <p:cNvPr id="14341" name="Line 6"/>
          <p:cNvSpPr>
            <a:spLocks noChangeShapeType="1"/>
          </p:cNvSpPr>
          <p:nvPr/>
        </p:nvSpPr>
        <p:spPr bwMode="auto">
          <a:xfrm flipH="1">
            <a:off x="2514600" y="1143000"/>
            <a:ext cx="1371600" cy="3048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 name="Slide Number Placeholder 1">
            <a:extLst>
              <a:ext uri="{FF2B5EF4-FFF2-40B4-BE49-F238E27FC236}">
                <a16:creationId xmlns:a16="http://schemas.microsoft.com/office/drawing/2014/main" id="{E9F032B2-E1D6-4CF7-B57B-7FB1F65358A0}"/>
              </a:ext>
            </a:extLst>
          </p:cNvPr>
          <p:cNvSpPr>
            <a:spLocks noGrp="1"/>
          </p:cNvSpPr>
          <p:nvPr>
            <p:ph type="sldNum" sz="quarter" idx="11"/>
          </p:nvPr>
        </p:nvSpPr>
        <p:spPr/>
        <p:txBody>
          <a:bodyPr/>
          <a:lstStyle/>
          <a:p>
            <a:pPr>
              <a:defRPr/>
            </a:pPr>
            <a:fld id="{D6CF7381-FAB2-40CD-BDC2-DC004732E8ED}" type="slidenum">
              <a:rPr lang="zh-TW" altLang="en-US" smtClean="0"/>
              <a:pPr>
                <a:defRPr/>
              </a:pPr>
              <a:t>31</a:t>
            </a:fld>
            <a:endParaRPr lang="en-US" altLang="zh-TW"/>
          </a:p>
        </p:txBody>
      </p:sp>
    </p:spTree>
    <p:extLst>
      <p:ext uri="{BB962C8B-B14F-4D97-AF65-F5344CB8AC3E}">
        <p14:creationId xmlns:p14="http://schemas.microsoft.com/office/powerpoint/2010/main" val="4149249679"/>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1328</TotalTime>
  <Words>2850</Words>
  <Application>Microsoft Office PowerPoint</Application>
  <PresentationFormat>On-screen Show (4:3)</PresentationFormat>
  <Paragraphs>321</Paragraphs>
  <Slides>31</Slides>
  <Notes>13</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31</vt:i4>
      </vt:variant>
    </vt:vector>
  </HeadingPairs>
  <TitlesOfParts>
    <vt:vector size="45" baseType="lpstr">
      <vt:lpstr>新細明體</vt:lpstr>
      <vt:lpstr>宋体</vt:lpstr>
      <vt:lpstr>Arial</vt:lpstr>
      <vt:lpstr>Arial Black</vt:lpstr>
      <vt:lpstr>Calibri</vt:lpstr>
      <vt:lpstr>Cambria Math</vt:lpstr>
      <vt:lpstr>Georgia</vt:lpstr>
      <vt:lpstr>Symbol</vt:lpstr>
      <vt:lpstr>Times New Roman</vt:lpstr>
      <vt:lpstr>Wingdings</vt:lpstr>
      <vt:lpstr>Pixel</vt:lpstr>
      <vt:lpstr>CorelDRAW</vt:lpstr>
      <vt:lpstr>Equation</vt:lpstr>
      <vt:lpstr>Image</vt:lpstr>
      <vt:lpstr>AMSC 5710 Advanced Materials Characterization</vt:lpstr>
      <vt:lpstr>PowerPoint Presentation</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Inverse photoemission (IPES)</vt:lpstr>
      <vt:lpstr>Why XPS not good for study of bands?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Quan Li (PHY)</cp:lastModifiedBy>
  <cp:revision>40</cp:revision>
  <dcterms:created xsi:type="dcterms:W3CDTF">2015-01-27T23:55:15Z</dcterms:created>
  <dcterms:modified xsi:type="dcterms:W3CDTF">2026-07-29T00:15:04Z</dcterms:modified>
</cp:coreProperties>
</file>