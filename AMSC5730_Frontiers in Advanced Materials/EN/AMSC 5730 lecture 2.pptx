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9" r:id="rId3"/>
    <p:sldId id="260" r:id="rId4"/>
    <p:sldId id="261" r:id="rId5"/>
    <p:sldId id="262" r:id="rId6"/>
    <p:sldId id="282" r:id="rId7"/>
    <p:sldId id="283" r:id="rId8"/>
    <p:sldId id="284" r:id="rId9"/>
    <p:sldId id="265" r:id="rId10"/>
    <p:sldId id="263" r:id="rId11"/>
    <p:sldId id="264" r:id="rId12"/>
    <p:sldId id="280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50" r:id="rId25"/>
    <p:sldId id="353" r:id="rId26"/>
    <p:sldId id="352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5" r:id="rId37"/>
    <p:sldId id="296" r:id="rId38"/>
    <p:sldId id="297" r:id="rId39"/>
    <p:sldId id="303" r:id="rId40"/>
    <p:sldId id="304" r:id="rId41"/>
    <p:sldId id="315" r:id="rId42"/>
    <p:sldId id="332" r:id="rId43"/>
    <p:sldId id="333" r:id="rId44"/>
    <p:sldId id="334" r:id="rId45"/>
    <p:sldId id="335" r:id="rId46"/>
    <p:sldId id="337" r:id="rId47"/>
    <p:sldId id="339" r:id="rId48"/>
    <p:sldId id="340" r:id="rId49"/>
    <p:sldId id="316" r:id="rId50"/>
    <p:sldId id="317" r:id="rId51"/>
    <p:sldId id="318" r:id="rId52"/>
    <p:sldId id="319" r:id="rId53"/>
    <p:sldId id="320" r:id="rId54"/>
    <p:sldId id="321" r:id="rId55"/>
    <p:sldId id="331" r:id="rId56"/>
    <p:sldId id="341" r:id="rId57"/>
    <p:sldId id="342" r:id="rId58"/>
    <p:sldId id="345" r:id="rId59"/>
    <p:sldId id="343" r:id="rId60"/>
    <p:sldId id="346" r:id="rId61"/>
    <p:sldId id="347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7454F-C6BF-428D-A7CD-2277CDC290F4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C3083-F1F3-4B49-8045-EF24A37E6A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34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FB4209-AC88-4295-A741-25469A4117FA}" type="slidenum">
              <a:rPr lang="zh-CN" altLang="en-US" smtClean="0"/>
              <a:pPr>
                <a:spcBef>
                  <a:spcPct val="0"/>
                </a:spcBef>
              </a:pPr>
              <a:t>2</a:t>
            </a:fld>
            <a:endParaRPr lang="en-US" altLang="zh-CN" smtClean="0"/>
          </a:p>
        </p:txBody>
      </p:sp>
      <p:sp>
        <p:nvSpPr>
          <p:cNvPr id="1536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3562794-2495-4229-A13C-9841E06405D7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153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1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8825" indent="-292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68400" indent="-2333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35125" indent="-2333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03438" indent="-2333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60638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17838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75038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932238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4C0C38-DDA3-4ECA-A1CF-DD1F635D9175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6200" y="698500"/>
            <a:ext cx="2792413" cy="2093913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4421188"/>
            <a:ext cx="5173663" cy="4189412"/>
          </a:xfrm>
          <a:noFill/>
        </p:spPr>
        <p:txBody>
          <a:bodyPr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A picture of the first transistor ever assembled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, invented in Bell Labs in 1947. It was called a point contact transistor because amplification or transistor action occurred when two pointed metal contacts were pressed onto the surface of the semiconductor material. The contacts, which are supported by a wedge shaped piece of insulating material, are placed extremely close together so that they are separated by only a few thousandths of an inch. The contacts are made of gold and the semiconductor is germanium. The semiconductor rests on a metal base. </a:t>
            </a:r>
          </a:p>
        </p:txBody>
      </p:sp>
    </p:spTree>
    <p:extLst>
      <p:ext uri="{BB962C8B-B14F-4D97-AF65-F5344CB8AC3E}">
        <p14:creationId xmlns:p14="http://schemas.microsoft.com/office/powerpoint/2010/main" val="1074664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602770-A8C9-4DE1-B220-DC78113F399B}" type="slidenum">
              <a:rPr lang="zh-CN" altLang="en-US" smtClean="0"/>
              <a:pPr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  <p:sp>
        <p:nvSpPr>
          <p:cNvPr id="1945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0727BDA-4086-4CB9-A635-1A2E999CBBD4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194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392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AD0F82-5326-4C1C-BA5A-2DACEF459845}" type="slidenum">
              <a:rPr lang="zh-CN" altLang="en-US" smtClean="0"/>
              <a:pPr>
                <a:spcBef>
                  <a:spcPct val="0"/>
                </a:spcBef>
              </a:pPr>
              <a:t>5</a:t>
            </a:fld>
            <a:endParaRPr lang="en-US" altLang="zh-CN" smtClean="0"/>
          </a:p>
        </p:txBody>
      </p:sp>
      <p:sp>
        <p:nvSpPr>
          <p:cNvPr id="2150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2FC6F5F-CB3D-4E62-A185-023B4122A2EB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1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258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B41375-741D-4402-9481-A3E16904D7AB}" type="slidenum">
              <a:rPr lang="zh-CN" altLang="en-US" smtClean="0"/>
              <a:pPr>
                <a:spcBef>
                  <a:spcPct val="0"/>
                </a:spcBef>
              </a:pPr>
              <a:t>9</a:t>
            </a:fld>
            <a:endParaRPr lang="en-US" altLang="zh-CN" smtClean="0"/>
          </a:p>
        </p:txBody>
      </p:sp>
      <p:sp>
        <p:nvSpPr>
          <p:cNvPr id="2765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2BDB3B4-F862-4ED3-A2E0-D46DE818FC04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74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97FF2A-C83D-47FA-A79B-031CF4DA40A2}" type="slidenum">
              <a:rPr lang="zh-CN" altLang="en-US" smtClean="0"/>
              <a:pPr>
                <a:spcBef>
                  <a:spcPct val="0"/>
                </a:spcBef>
              </a:pPr>
              <a:t>10</a:t>
            </a:fld>
            <a:endParaRPr lang="en-US" altLang="zh-CN" smtClean="0"/>
          </a:p>
        </p:txBody>
      </p:sp>
      <p:sp>
        <p:nvSpPr>
          <p:cNvPr id="23555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6623F45-01F7-4A9F-A789-82A36931F576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735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54C727-4984-4A32-9AD0-7E2794C0864D}" type="slidenum">
              <a:rPr lang="zh-CN" altLang="en-US" smtClean="0"/>
              <a:pPr>
                <a:spcBef>
                  <a:spcPct val="0"/>
                </a:spcBef>
              </a:pPr>
              <a:t>11</a:t>
            </a:fld>
            <a:endParaRPr lang="en-US" altLang="zh-CN" smtClean="0"/>
          </a:p>
        </p:txBody>
      </p:sp>
      <p:sp>
        <p:nvSpPr>
          <p:cNvPr id="2560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D5B671A-D1AE-4153-AA24-7123F61C8C2B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56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309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E0DC3D-D8C0-4DAB-8BFA-EC7A2E31399E}" type="slidenum">
              <a:rPr lang="zh-CN" altLang="en-US" smtClean="0"/>
              <a:pPr>
                <a:spcBef>
                  <a:spcPct val="0"/>
                </a:spcBef>
              </a:pPr>
              <a:t>13</a:t>
            </a:fld>
            <a:endParaRPr lang="en-US" altLang="zh-CN" smtClean="0"/>
          </a:p>
        </p:txBody>
      </p:sp>
      <p:sp>
        <p:nvSpPr>
          <p:cNvPr id="3174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F38D760-3A1A-495F-92B8-6E9B6A583985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851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231A73-DA63-4DFC-BEFC-300FD1C0F570}" type="slidenum">
              <a:rPr lang="zh-CN" altLang="en-US" smtClean="0"/>
              <a:pPr>
                <a:spcBef>
                  <a:spcPct val="0"/>
                </a:spcBef>
              </a:pPr>
              <a:t>14</a:t>
            </a:fld>
            <a:endParaRPr lang="en-US" altLang="zh-CN" smtClean="0"/>
          </a:p>
        </p:txBody>
      </p:sp>
      <p:sp>
        <p:nvSpPr>
          <p:cNvPr id="33795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BFDF34F-01C8-4505-A656-CDA8F694FEA5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311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BDAAC0-FC0A-4A51-9E88-4DB4CAAD8CD6}" type="slidenum">
              <a:rPr lang="zh-CN" altLang="en-US" smtClean="0"/>
              <a:pPr>
                <a:spcBef>
                  <a:spcPct val="0"/>
                </a:spcBef>
              </a:pPr>
              <a:t>15</a:t>
            </a:fld>
            <a:endParaRPr lang="en-US" altLang="zh-CN" smtClean="0"/>
          </a:p>
        </p:txBody>
      </p:sp>
      <p:sp>
        <p:nvSpPr>
          <p:cNvPr id="3584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51E8770-7B1B-43EE-9D79-922458822051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41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6A2E2F-05B9-44B4-BD8A-1538CCDA76F0}" type="slidenum">
              <a:rPr lang="zh-CN" altLang="en-US" smtClean="0"/>
              <a:pPr>
                <a:spcBef>
                  <a:spcPct val="0"/>
                </a:spcBef>
              </a:pPr>
              <a:t>16</a:t>
            </a:fld>
            <a:endParaRPr lang="en-US" altLang="zh-CN" smtClean="0"/>
          </a:p>
        </p:txBody>
      </p:sp>
      <p:sp>
        <p:nvSpPr>
          <p:cNvPr id="3789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AC2E780-1049-4922-AC38-939D2D44F727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16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04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2C489F-E5BF-4444-B725-0DE9222032A8}" type="slidenum">
              <a:rPr lang="zh-CN" altLang="en-US" smtClean="0"/>
              <a:pPr>
                <a:spcBef>
                  <a:spcPct val="0"/>
                </a:spcBef>
              </a:pPr>
              <a:t>17</a:t>
            </a:fld>
            <a:endParaRPr lang="en-US" altLang="zh-CN" smtClean="0"/>
          </a:p>
        </p:txBody>
      </p:sp>
      <p:sp>
        <p:nvSpPr>
          <p:cNvPr id="3993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1265E2-ABA7-4418-BE36-56AEB7B83FAC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17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078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1EDED8-EEE2-4013-97ED-A76F7AEC85FB}" type="slidenum">
              <a:rPr lang="zh-CN" altLang="en-US" smtClean="0"/>
              <a:pPr>
                <a:spcBef>
                  <a:spcPct val="0"/>
                </a:spcBef>
              </a:pPr>
              <a:t>18</a:t>
            </a:fld>
            <a:endParaRPr lang="en-US" altLang="zh-CN" smtClean="0"/>
          </a:p>
        </p:txBody>
      </p:sp>
      <p:sp>
        <p:nvSpPr>
          <p:cNvPr id="4198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C558E1F-851A-4898-B0B5-A313AA95EE67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18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694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3CA592-DEAF-47BA-BA79-8CA2619DE2BF}" type="slidenum">
              <a:rPr lang="zh-CN" altLang="en-US" smtClean="0"/>
              <a:pPr>
                <a:spcBef>
                  <a:spcPct val="0"/>
                </a:spcBef>
              </a:pPr>
              <a:t>19</a:t>
            </a:fld>
            <a:endParaRPr lang="en-US" altLang="zh-CN" smtClean="0"/>
          </a:p>
        </p:txBody>
      </p:sp>
      <p:sp>
        <p:nvSpPr>
          <p:cNvPr id="44035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DC0C5D2-DBC3-4039-A8E7-958617287B0F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483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7122D3-D9A9-42E0-AB7B-CA7E05D9C6CA}" type="slidenum">
              <a:rPr lang="zh-CN" altLang="en-US" smtClean="0"/>
              <a:pPr>
                <a:spcBef>
                  <a:spcPct val="0"/>
                </a:spcBef>
              </a:pPr>
              <a:t>20</a:t>
            </a:fld>
            <a:endParaRPr lang="en-US" altLang="zh-CN" smtClean="0"/>
          </a:p>
        </p:txBody>
      </p:sp>
      <p:sp>
        <p:nvSpPr>
          <p:cNvPr id="4608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8C5121E-7B40-46D5-A529-64A8EEC995D4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67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6FF1D7-37BC-4B12-88F5-C50ED571F829}" type="slidenum">
              <a:rPr lang="zh-CN" altLang="en-US" smtClean="0"/>
              <a:pPr>
                <a:spcBef>
                  <a:spcPct val="0"/>
                </a:spcBef>
              </a:pPr>
              <a:t>21</a:t>
            </a:fld>
            <a:endParaRPr lang="en-US" altLang="zh-CN" smtClean="0"/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119B499-E964-4444-8B49-56DF8607BA52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27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0DA015-9A5B-4013-A3B3-CE0C12CAFA93}" type="slidenum">
              <a:rPr lang="zh-CN" altLang="en-US" smtClean="0"/>
              <a:pPr>
                <a:spcBef>
                  <a:spcPct val="0"/>
                </a:spcBef>
              </a:pPr>
              <a:t>23</a:t>
            </a:fld>
            <a:endParaRPr lang="en-US" altLang="zh-CN" smtClean="0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613555-4D72-4E21-88E1-BE93A29138DF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23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620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0DA015-9A5B-4013-A3B3-CE0C12CAFA93}" type="slidenum">
              <a:rPr lang="zh-CN" altLang="en-US" smtClean="0"/>
              <a:pPr>
                <a:spcBef>
                  <a:spcPct val="0"/>
                </a:spcBef>
              </a:pPr>
              <a:t>24</a:t>
            </a:fld>
            <a:endParaRPr lang="en-US" altLang="zh-CN" smtClean="0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613555-4D72-4E21-88E1-BE93A29138DF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24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346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0DA015-9A5B-4013-A3B3-CE0C12CAFA93}" type="slidenum">
              <a:rPr lang="zh-CN" altLang="en-US" smtClean="0"/>
              <a:pPr>
                <a:spcBef>
                  <a:spcPct val="0"/>
                </a:spcBef>
              </a:pPr>
              <a:t>26</a:t>
            </a:fld>
            <a:endParaRPr lang="en-US" altLang="zh-CN" smtClean="0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613555-4D72-4E21-88E1-BE93A29138DF}" type="slidenum">
              <a:rPr kumimoji="1" lang="en-US" altLang="zh-CN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26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46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18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87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41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04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51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77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13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2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6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5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55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D61EA-F1E9-448F-A34F-076E2B62785B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5EAD-6980-423A-A143-5D61ED65A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AMSC 5730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Brief introduction to semiconducting materials</a:t>
            </a:r>
          </a:p>
          <a:p>
            <a:r>
              <a:rPr lang="en-US" altLang="zh-CN" dirty="0" err="1" smtClean="0"/>
              <a:t>Junyi</a:t>
            </a:r>
            <a:r>
              <a:rPr lang="en-US" altLang="zh-CN" dirty="0" smtClean="0"/>
              <a:t> Zhu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436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8213" y="0"/>
            <a:ext cx="7772400" cy="9525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What are semiconductors?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351088" y="1125538"/>
            <a:ext cx="7250112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Resistivity lying between 10</a:t>
            </a:r>
            <a:r>
              <a:rPr kumimoji="1" lang="en-US" altLang="zh-CN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-2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-10</a:t>
            </a:r>
            <a:r>
              <a:rPr kumimoji="1" lang="en-US" altLang="zh-CN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kumimoji="1" lang="en-US" altLang="zh-CN" dirty="0" err="1">
                <a:latin typeface="Symbol" panose="05050102010706020507" pitchFamily="18" charset="2"/>
                <a:ea typeface="SimSun" panose="02010600030101010101" pitchFamily="2" charset="-122"/>
              </a:rPr>
              <a:t>W</a:t>
            </a:r>
            <a:r>
              <a:rPr kumimoji="1" lang="en-US" altLang="zh-CN" dirty="0" err="1">
                <a:latin typeface="Times New Roman" panose="02020603050405020304" pitchFamily="18" charset="0"/>
                <a:ea typeface="SimSun" panose="02010600030101010101" pitchFamily="2" charset="-122"/>
              </a:rPr>
              <a:t>cm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and can be modified by impurities or defects.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Energy gap lying between 0~4 eV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Insulators at 0K. </a:t>
            </a:r>
            <a:r>
              <a:rPr kumimoji="1" lang="en-US" altLang="zh-CN" dirty="0" err="1">
                <a:latin typeface="Times New Roman" panose="02020603050405020304" pitchFamily="18" charset="0"/>
                <a:ea typeface="SimSun" panose="02010600030101010101" pitchFamily="2" charset="-122"/>
              </a:rPr>
              <a:t>Conductivity</a:t>
            </a:r>
            <a:r>
              <a:rPr kumimoji="1" lang="en-US" altLang="zh-CN" dirty="0" err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with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T at low T 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Doping decides what kind of carriers for conduction. N-type: electrons at CB or P-type: holes at VB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3806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3159126"/>
            <a:ext cx="2584450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 descr="1sttransis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88" y="3241676"/>
            <a:ext cx="2906712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 descr="crystal_triod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241300"/>
            <a:ext cx="3035300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217738" y="5349875"/>
            <a:ext cx="2266950" cy="915988"/>
          </a:xfrm>
          <a:prstGeom prst="rect">
            <a:avLst/>
          </a:prstGeom>
          <a:solidFill>
            <a:srgbClr val="FFFFB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Comic Sans MS" panose="030F0702030302020204" pitchFamily="66" charset="0"/>
              </a:rPr>
              <a:t>The first point-contact transistor invented in 1947.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4981576" y="663575"/>
            <a:ext cx="5262563" cy="1341438"/>
          </a:xfrm>
          <a:prstGeom prst="rect">
            <a:avLst/>
          </a:prstGeom>
          <a:solidFill>
            <a:srgbClr val="FFFFB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5000"/>
              </a:spcBef>
              <a:buFontTx/>
              <a:buNone/>
            </a:pPr>
            <a:r>
              <a:rPr lang="en-US" altLang="en-US" sz="1800">
                <a:solidFill>
                  <a:srgbClr val="CC3300"/>
                </a:solidFill>
              </a:rPr>
              <a:t>Inventors of the transistor:  William Shockley (seated), John Bardeen (left) and Walter H. Brattein (right) in 1948. </a:t>
            </a:r>
          </a:p>
          <a:p>
            <a:pPr eaLnBrk="1" hangingPunct="1">
              <a:spcBef>
                <a:spcPct val="55000"/>
              </a:spcBef>
              <a:buFontTx/>
              <a:buNone/>
            </a:pPr>
            <a:r>
              <a:rPr lang="en-US" altLang="en-US" sz="1800">
                <a:solidFill>
                  <a:srgbClr val="CC3300"/>
                </a:solidFill>
              </a:rPr>
              <a:t>They received the Nobel Prize in Physics in 1956.</a:t>
            </a:r>
          </a:p>
        </p:txBody>
      </p:sp>
    </p:spTree>
    <p:extLst>
      <p:ext uri="{BB962C8B-B14F-4D97-AF65-F5344CB8AC3E}">
        <p14:creationId xmlns:p14="http://schemas.microsoft.com/office/powerpoint/2010/main" val="419269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SimSun" panose="02010600030101010101" pitchFamily="2" charset="-122"/>
              </a:rPr>
              <a:t>Classification of Semiconductors</a:t>
            </a:r>
            <a:endParaRPr lang="zh-CN" altLang="en-US" sz="4000">
              <a:ea typeface="SimSun" panose="02010600030101010101" pitchFamily="2" charset="-122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209800" y="596901"/>
            <a:ext cx="7696200" cy="606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kumimoji="1" lang="zh-CN" altLang="en-US" sz="2800" b="1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Elemental</a:t>
            </a:r>
            <a:r>
              <a:rPr kumimoji="1" lang="zh-CN" altLang="en-US" sz="2400" b="1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Si,Ge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Compound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Binary: GaAs, GaN, ZnSe, GaSe..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Ternery: AgGaS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, CuInSe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..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Quarternary: Cu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InGaS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, Cu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ZnSnS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Other important semiconductors: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Oxides: Cu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O, CuO, La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CuO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..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Magnetic: EuO, MnTe..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Ferroelectric: SbSI..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Organic: (CH)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71628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438400" y="685801"/>
            <a:ext cx="45720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SimSun" panose="02010600030101010101" pitchFamily="2" charset="-122"/>
              </a:rPr>
              <a:t>According to band gap:</a:t>
            </a:r>
            <a:endParaRPr kumimoji="1" lang="zh-CN" altLang="en-US" sz="2800" b="1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Direct</a:t>
            </a:r>
            <a:r>
              <a:rPr kumimoji="1" lang="zh-CN" altLang="en-US" sz="2400" b="1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GaAs,InAs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Indirect</a:t>
            </a:r>
            <a:r>
              <a:rPr kumimoji="1" lang="zh-CN" altLang="en-US" sz="2400" b="1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Ge,Si,AlAs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kumimoji="1" lang="en-US" altLang="zh-CN" sz="2400" b="1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Narrow</a:t>
            </a:r>
            <a:r>
              <a:rPr kumimoji="1" lang="zh-CN" altLang="en-US" sz="2400" b="1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HgTe, GaAs,                       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Wide</a:t>
            </a:r>
            <a:r>
              <a:rPr kumimoji="1" lang="zh-CN" altLang="en-US" sz="2400" b="1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GaN</a:t>
            </a:r>
          </a:p>
        </p:txBody>
      </p:sp>
    </p:spTree>
    <p:extLst>
      <p:ext uri="{BB962C8B-B14F-4D97-AF65-F5344CB8AC3E}">
        <p14:creationId xmlns:p14="http://schemas.microsoft.com/office/powerpoint/2010/main" val="154004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Diamond Structure</a:t>
            </a:r>
          </a:p>
        </p:txBody>
      </p:sp>
      <p:pic>
        <p:nvPicPr>
          <p:cNvPr id="15363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84338" y="1393825"/>
            <a:ext cx="4876800" cy="3454400"/>
          </a:xfrm>
        </p:spPr>
      </p:pic>
      <p:sp>
        <p:nvSpPr>
          <p:cNvPr id="15364" name="Text Box 10"/>
          <p:cNvSpPr txBox="1">
            <a:spLocks noChangeArrowheads="1"/>
          </p:cNvSpPr>
          <p:nvPr/>
        </p:nvSpPr>
        <p:spPr bwMode="auto">
          <a:xfrm>
            <a:off x="3733800" y="1020763"/>
            <a:ext cx="4019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Group IV elements such as Si and Ge</a:t>
            </a:r>
          </a:p>
        </p:txBody>
      </p:sp>
      <p:sp>
        <p:nvSpPr>
          <p:cNvPr id="15365" name="Text Box 11"/>
          <p:cNvSpPr txBox="1">
            <a:spLocks noChangeArrowheads="1"/>
          </p:cNvSpPr>
          <p:nvPr/>
        </p:nvSpPr>
        <p:spPr bwMode="auto">
          <a:xfrm>
            <a:off x="7070726" y="1524000"/>
            <a:ext cx="3216275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Two interpenetrating fcc structures displaced with respect to each other along (111) direction by one quarter the body diagonal of the elemental cube</a:t>
            </a:r>
          </a:p>
        </p:txBody>
      </p:sp>
      <p:grpSp>
        <p:nvGrpSpPr>
          <p:cNvPr id="28687" name="Group 15"/>
          <p:cNvGrpSpPr>
            <a:grpSpLocks/>
          </p:cNvGrpSpPr>
          <p:nvPr/>
        </p:nvGrpSpPr>
        <p:grpSpPr bwMode="auto">
          <a:xfrm>
            <a:off x="2068513" y="3089275"/>
            <a:ext cx="1828800" cy="1371600"/>
            <a:chOff x="384" y="2496"/>
            <a:chExt cx="1152" cy="864"/>
          </a:xfrm>
        </p:grpSpPr>
        <p:sp>
          <p:nvSpPr>
            <p:cNvPr id="15370" name="Line 12"/>
            <p:cNvSpPr>
              <a:spLocks noChangeShapeType="1"/>
            </p:cNvSpPr>
            <p:nvPr/>
          </p:nvSpPr>
          <p:spPr bwMode="auto">
            <a:xfrm flipV="1">
              <a:off x="384" y="2496"/>
              <a:ext cx="336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Line 13"/>
            <p:cNvSpPr>
              <a:spLocks noChangeShapeType="1"/>
            </p:cNvSpPr>
            <p:nvPr/>
          </p:nvSpPr>
          <p:spPr bwMode="auto">
            <a:xfrm flipV="1">
              <a:off x="384" y="3168"/>
              <a:ext cx="1152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Line 14"/>
            <p:cNvSpPr>
              <a:spLocks noChangeShapeType="1"/>
            </p:cNvSpPr>
            <p:nvPr/>
          </p:nvSpPr>
          <p:spPr bwMode="auto">
            <a:xfrm flipV="1">
              <a:off x="384" y="2640"/>
              <a:ext cx="768" cy="7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7" name="Text Box 16"/>
          <p:cNvSpPr txBox="1">
            <a:spLocks noChangeArrowheads="1"/>
          </p:cNvSpPr>
          <p:nvPr/>
        </p:nvSpPr>
        <p:spPr bwMode="auto">
          <a:xfrm>
            <a:off x="7070725" y="3429000"/>
            <a:ext cx="320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basis two atoms locate 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(0,0,0) and (1/4,1/4,1/4,)a</a:t>
            </a:r>
          </a:p>
        </p:txBody>
      </p:sp>
      <p:sp>
        <p:nvSpPr>
          <p:cNvPr id="15368" name="Text Box 17"/>
          <p:cNvSpPr txBox="1">
            <a:spLocks noChangeArrowheads="1"/>
          </p:cNvSpPr>
          <p:nvPr/>
        </p:nvSpPr>
        <p:spPr bwMode="auto">
          <a:xfrm>
            <a:off x="6781800" y="4275138"/>
            <a:ext cx="3733800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The hard sphere filling factor is only 0.34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Simple </a:t>
            </a:r>
            <a:r>
              <a:rPr lang="en-US" altLang="en-US" sz="1800" dirty="0" err="1"/>
              <a:t>fcc</a:t>
            </a:r>
            <a:r>
              <a:rPr lang="en-US" altLang="en-US" sz="1800" dirty="0"/>
              <a:t> is 0.74.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How many first nearest neighbors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          ?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572001"/>
            <a:ext cx="2597150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186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365126"/>
            <a:ext cx="8915400" cy="6145213"/>
          </a:xfrm>
          <a:noFill/>
        </p:spPr>
      </p:pic>
    </p:spTree>
    <p:extLst>
      <p:ext uri="{BB962C8B-B14F-4D97-AF65-F5344CB8AC3E}">
        <p14:creationId xmlns:p14="http://schemas.microsoft.com/office/powerpoint/2010/main" val="134585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52400"/>
            <a:ext cx="8915400" cy="6254750"/>
          </a:xfrm>
          <a:noFill/>
        </p:spPr>
      </p:pic>
      <p:pic>
        <p:nvPicPr>
          <p:cNvPr id="17411" name="Picture 4" descr="http://invsee.asu.edu/srinivas/Carbonmod/images/sp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76" y="935038"/>
            <a:ext cx="1762125" cy="174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6" descr="http://invsee.asu.edu/srinivas/Carbonmod/images/sp3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6" y="1023938"/>
            <a:ext cx="1566863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1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117726" y="401638"/>
            <a:ext cx="4784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Optical properties near the band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edge</a:t>
            </a:r>
            <a:endParaRPr kumimoji="1" lang="zh-CN" altLang="en-US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Absorption:</a:t>
            </a:r>
            <a:endParaRPr kumimoji="1" lang="zh-CN" altLang="en-US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3657600" y="1027114"/>
          <a:ext cx="13716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Equation" r:id="rId4" imgW="672808" imgH="393529" progId="Equation.3">
                  <p:embed/>
                </p:oleObj>
              </mc:Choice>
              <mc:Fallback>
                <p:oleObj name="Equation" r:id="rId4" imgW="672808" imgH="393529" progId="Equation.3">
                  <p:embed/>
                  <p:pic>
                    <p:nvPicPr>
                      <p:cNvPr id="26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027114"/>
                        <a:ext cx="137160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133601" y="2154238"/>
            <a:ext cx="18446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Direct band gap</a:t>
            </a:r>
            <a:r>
              <a:rPr kumimoji="1" lang="zh-CN" altLang="en-US" sz="2400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3944939" y="3843338"/>
          <a:ext cx="3343275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Equation" r:id="rId6" imgW="1790700" imgH="685800" progId="Equation.3">
                  <p:embed/>
                </p:oleObj>
              </mc:Choice>
              <mc:Fallback>
                <p:oleObj name="Equation" r:id="rId6" imgW="1790700" imgH="685800" progId="Equation.3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9" y="3843338"/>
                        <a:ext cx="3343275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3962401" y="2147888"/>
          <a:ext cx="2632075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" name="Equation" r:id="rId8" imgW="1409700" imgH="685800" progId="Equation.3">
                  <p:embed/>
                </p:oleObj>
              </mc:Choice>
              <mc:Fallback>
                <p:oleObj name="Equation" r:id="rId8" imgW="1409700" imgH="685800" progId="Equation.3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2147888"/>
                        <a:ext cx="2632075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2209800" y="3886201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Indirect</a:t>
            </a:r>
            <a:r>
              <a:rPr kumimoji="1" lang="zh-CN" altLang="en-US" sz="2400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2193925" y="5354638"/>
            <a:ext cx="72088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Some common attributes:</a:t>
            </a:r>
            <a:endParaRPr kumimoji="1" lang="zh-CN" altLang="en-US" sz="24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Light element materials tend to have X</a:t>
            </a:r>
            <a:r>
              <a:rPr kumimoji="1" lang="zh-CN" altLang="en-US" sz="240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valley as CBM</a:t>
            </a:r>
            <a:r>
              <a:rPr kumimoji="1" lang="zh-CN" altLang="en-US" sz="2400">
                <a:latin typeface="Times New Roman" panose="02020603050405020304" pitchFamily="18" charset="0"/>
                <a:ea typeface="SimSun" panose="02010600030101010101" pitchFamily="2" charset="-122"/>
              </a:rPr>
              <a:t>；</a:t>
            </a:r>
            <a:endParaRPr kumimoji="1"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Heavy ones tend to be direct band gap.</a:t>
            </a:r>
            <a:endParaRPr kumimoji="1" lang="zh-CN" altLang="en-US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504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rgbClr val="FF0000"/>
                </a:solidFill>
                <a:ea typeface="SimSun" panose="02010600030101010101" pitchFamily="2" charset="-122"/>
              </a:rPr>
              <a:t>Indirect Energy-gap Bands</a:t>
            </a:r>
          </a:p>
        </p:txBody>
      </p:sp>
      <p:pic>
        <p:nvPicPr>
          <p:cNvPr id="22531" name="Picture 3" descr="mso10FE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" r="20000" b="6796"/>
          <a:stretch>
            <a:fillRect/>
          </a:stretch>
        </p:blipFill>
        <p:spPr bwMode="auto">
          <a:xfrm>
            <a:off x="3162300" y="1066801"/>
            <a:ext cx="5867400" cy="552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7924800" y="2362201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238538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48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ea typeface="SimSun" panose="02010600030101010101" pitchFamily="2" charset="-122"/>
              </a:rPr>
              <a:t>Direct Energy-gap Bands</a:t>
            </a:r>
          </a:p>
        </p:txBody>
      </p:sp>
      <p:pic>
        <p:nvPicPr>
          <p:cNvPr id="24579" name="Picture 3" descr="msoD8FC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47800"/>
            <a:ext cx="7086600" cy="519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8458200" y="2514601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GaAs</a:t>
            </a:r>
          </a:p>
        </p:txBody>
      </p:sp>
    </p:spTree>
    <p:extLst>
      <p:ext uri="{BB962C8B-B14F-4D97-AF65-F5344CB8AC3E}">
        <p14:creationId xmlns:p14="http://schemas.microsoft.com/office/powerpoint/2010/main" val="379312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154481"/>
              </p:ext>
            </p:extLst>
          </p:nvPr>
        </p:nvGraphicFramePr>
        <p:xfrm>
          <a:off x="1701798" y="1238246"/>
          <a:ext cx="8439150" cy="463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525">
                  <a:extLst>
                    <a:ext uri="{9D8B030D-6E8A-4147-A177-3AD203B41FA5}">
                      <a16:colId xmlns:a16="http://schemas.microsoft.com/office/drawing/2014/main" val="782308813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94117913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551880485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33378697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917679038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384180957"/>
                    </a:ext>
                  </a:extLst>
                </a:gridCol>
              </a:tblGrid>
              <a:tr h="74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Crystal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Energy Gap (eV)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Crystal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Energy Gap (eV)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26065648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Diamond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5.4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PbS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0.286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47407905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1.17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PbSe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0.165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39210582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0.744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PbTe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63700866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InSb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2.582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20062262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InAs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0.43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CdSe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1.84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11957416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InP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1.42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CdTe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1.607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4909078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2.32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ZnO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3.436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63502995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GaAs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1.52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SnTe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26763289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GaSb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0.81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Cu2O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2.172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79998561"/>
                  </a:ext>
                </a:extLst>
              </a:tr>
              <a:tr h="388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AlSb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1.65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TiO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3.03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2158943"/>
                  </a:ext>
                </a:extLst>
              </a:tr>
            </a:tbl>
          </a:graphicData>
        </a:graphic>
      </p:graphicFrame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39950" y="171446"/>
            <a:ext cx="77724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 smtClean="0">
                <a:solidFill>
                  <a:srgbClr val="FF0000"/>
                </a:solidFill>
                <a:ea typeface="SimSun" panose="02010600030101010101" pitchFamily="2" charset="-122"/>
              </a:rPr>
              <a:t>Table for some semiconductors</a:t>
            </a:r>
            <a:endParaRPr lang="en-US" altLang="zh-CN" sz="3200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4619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2400"/>
            <a:ext cx="8153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SimSun" panose="02010600030101010101" pitchFamily="2" charset="-122"/>
              </a:rPr>
              <a:t>How are semiconductors grown?</a:t>
            </a:r>
            <a:endParaRPr lang="en-US" altLang="zh-CN" sz="4000">
              <a:ea typeface="SimSun" panose="02010600030101010101" pitchFamily="2" charset="-122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981200" y="762000"/>
            <a:ext cx="8267700" cy="608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Bulk crystals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From melt: Czochralski, Bridgman,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From solution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From vapor phase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Thin films (epitaxy)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Gas Phase (</a:t>
            </a:r>
            <a:r>
              <a:rPr kumimoji="1"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Evaporation, Chemical Vapor Deposition</a:t>
            </a: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Molecular beams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Liquid phase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Nanocrystals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Precipitates from Solution, glass melts etc</a:t>
            </a:r>
          </a:p>
        </p:txBody>
      </p:sp>
    </p:spTree>
    <p:extLst>
      <p:ext uri="{BB962C8B-B14F-4D97-AF65-F5344CB8AC3E}">
        <p14:creationId xmlns:p14="http://schemas.microsoft.com/office/powerpoint/2010/main" val="272254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8213" y="404813"/>
            <a:ext cx="7772400" cy="658812"/>
          </a:xfrm>
        </p:spPr>
        <p:txBody>
          <a:bodyPr/>
          <a:lstStyle/>
          <a:p>
            <a:pPr eaLnBrk="1" hangingPunct="1"/>
            <a:r>
              <a:rPr lang="en-US" altLang="zh-CN" sz="4000" dirty="0" err="1">
                <a:solidFill>
                  <a:srgbClr val="FF0000"/>
                </a:solidFill>
                <a:ea typeface="SimSun" panose="02010600030101010101" pitchFamily="2" charset="-122"/>
              </a:rPr>
              <a:t>Czochralski</a:t>
            </a:r>
            <a:r>
              <a:rPr lang="en-US" altLang="zh-CN" sz="4000" dirty="0">
                <a:solidFill>
                  <a:srgbClr val="FF0000"/>
                </a:solidFill>
                <a:ea typeface="SimSun" panose="02010600030101010101" pitchFamily="2" charset="-122"/>
              </a:rPr>
              <a:t> Method</a:t>
            </a:r>
          </a:p>
        </p:txBody>
      </p:sp>
      <p:pic>
        <p:nvPicPr>
          <p:cNvPr id="32771" name="Picture 4" descr="mso28D2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1063626"/>
            <a:ext cx="7391400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Box 1"/>
          <p:cNvSpPr txBox="1">
            <a:spLocks noChangeArrowheads="1"/>
          </p:cNvSpPr>
          <p:nvPr/>
        </p:nvSpPr>
        <p:spPr bwMode="auto">
          <a:xfrm>
            <a:off x="3581400" y="6172200"/>
            <a:ext cx="464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Why rotation is needed?</a:t>
            </a:r>
            <a:endParaRPr lang="zh-CN" altLang="en-US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668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SimSun" panose="02010600030101010101" pitchFamily="2" charset="-122"/>
              </a:rPr>
              <a:t>Three Modes of Epitaxial Growth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057400" y="2057401"/>
            <a:ext cx="8077200" cy="4130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2D growth</a:t>
            </a: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: epilayer likes to adhere to substrate more than to each other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3D or island growth (Volmer-Weber mode):</a:t>
            </a: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epilayer does not like to adhere to substrate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2D growth followed by 3D growth (Stranski-Krastanow mode):</a:t>
            </a: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 epilayer first wets substrate to form a thin layer but then balls up as the layer thickens</a:t>
            </a:r>
          </a:p>
        </p:txBody>
      </p:sp>
    </p:spTree>
    <p:extLst>
      <p:ext uri="{BB962C8B-B14F-4D97-AF65-F5344CB8AC3E}">
        <p14:creationId xmlns:p14="http://schemas.microsoft.com/office/powerpoint/2010/main" val="106279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SimSun" panose="02010600030101010101" pitchFamily="2" charset="-122"/>
              </a:rPr>
              <a:t>How are Low-Dimensinal semiconductors grown?</a:t>
            </a:r>
            <a:endParaRPr lang="en-US" altLang="zh-CN" sz="4000">
              <a:ea typeface="SimSun" panose="02010600030101010101" pitchFamily="2" charset="-122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886200" y="2057400"/>
            <a:ext cx="4572000" cy="437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Thin films (epitaxy)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Gas Phase (</a:t>
            </a:r>
            <a:r>
              <a:rPr kumimoji="1" lang="en-US" altLang="zh-CN" sz="2500">
                <a:latin typeface="Times New Roman" panose="02020603050405020304" pitchFamily="18" charset="0"/>
                <a:ea typeface="SimSun" panose="02010600030101010101" pitchFamily="2" charset="-122"/>
              </a:rPr>
              <a:t>Evaporation, Chemical Vapor Deposition</a:t>
            </a: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Molecular beams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Liquid phase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Nanocrystals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Precipitates from Solution, glass melts etc</a:t>
            </a:r>
          </a:p>
        </p:txBody>
      </p:sp>
    </p:spTree>
    <p:extLst>
      <p:ext uri="{BB962C8B-B14F-4D97-AF65-F5344CB8AC3E}">
        <p14:creationId xmlns:p14="http://schemas.microsoft.com/office/powerpoint/2010/main" val="193674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solidFill>
                  <a:srgbClr val="FF0000"/>
                </a:solidFill>
                <a:ea typeface="SimSun" panose="02010600030101010101" pitchFamily="2" charset="-122"/>
              </a:rPr>
              <a:t>Molecular Beam Epitaxy (MBE) Machine</a:t>
            </a:r>
          </a:p>
        </p:txBody>
      </p:sp>
      <p:pic>
        <p:nvPicPr>
          <p:cNvPr id="38915" name="Picture 3" descr="msoE81F"/>
          <p:cNvPicPr>
            <a:picLocks noChangeAspect="1" noChangeArrowheads="1"/>
          </p:cNvPicPr>
          <p:nvPr/>
        </p:nvPicPr>
        <p:blipFill>
          <a:blip r:embed="rId3">
            <a:lum contras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676401"/>
            <a:ext cx="5181600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742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IMG_080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7400" y="2895600"/>
            <a:ext cx="3886200" cy="3371850"/>
          </a:xfrm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38200"/>
            <a:ext cx="396240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2057400" y="609600"/>
            <a:ext cx="830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6461125" y="117475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         </a:t>
            </a: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2727325" y="4562476"/>
            <a:ext cx="1792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SimSun" panose="02010600030101010101" pitchFamily="2" charset="-122"/>
              </a:rPr>
              <a:t>II-VI MBE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7223125" y="1971676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SimSun" panose="02010600030101010101" pitchFamily="2" charset="-122"/>
              </a:rPr>
              <a:t>III-V</a:t>
            </a:r>
            <a:r>
              <a:rPr kumimoji="1" lang="zh-CN" altLang="en-US" sz="280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SimSun" panose="02010600030101010101" pitchFamily="2" charset="-122"/>
              </a:rPr>
              <a:t>MBE</a:t>
            </a:r>
          </a:p>
        </p:txBody>
      </p:sp>
    </p:spTree>
    <p:extLst>
      <p:ext uri="{BB962C8B-B14F-4D97-AF65-F5344CB8AC3E}">
        <p14:creationId xmlns:p14="http://schemas.microsoft.com/office/powerpoint/2010/main" val="346511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MBE Growth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1905000" y="1524001"/>
            <a:ext cx="7924800" cy="480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Advantages: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Ultra-high vacuum and ultra-clean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Precision at sub-monolayer level </a:t>
            </a: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(how?)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Disadvantages: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Expensive machine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Slow (rate at ~ few monolayers/min)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Easily contaminated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  <a:ea typeface="SimSun" panose="02010600030101010101" pitchFamily="2" charset="-122"/>
              </a:rPr>
              <a:t>Not feasible for many compounds</a:t>
            </a:r>
          </a:p>
        </p:txBody>
      </p:sp>
    </p:spTree>
    <p:extLst>
      <p:ext uri="{BB962C8B-B14F-4D97-AF65-F5344CB8AC3E}">
        <p14:creationId xmlns:p14="http://schemas.microsoft.com/office/powerpoint/2010/main" val="181004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300" b="1">
                <a:solidFill>
                  <a:srgbClr val="0000FF"/>
                </a:solidFill>
                <a:ea typeface="SimSun" panose="02010600030101010101" pitchFamily="2" charset="-122"/>
              </a:rPr>
              <a:t>Examples of Nanostructured Semiconductors</a:t>
            </a:r>
          </a:p>
        </p:txBody>
      </p:sp>
      <p:pic>
        <p:nvPicPr>
          <p:cNvPr id="45059" name="Picture 3" descr="msoF0146"/>
          <p:cNvPicPr>
            <a:picLocks noGrp="1" noChangeAspect="1" noChangeArrowheads="1"/>
          </p:cNvPicPr>
          <p:nvPr>
            <p:ph type="body"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1828800"/>
            <a:ext cx="6019800" cy="3995738"/>
          </a:xfrm>
          <a:noFill/>
        </p:spPr>
      </p:pic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1524000" y="2133600"/>
            <a:ext cx="297180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SimSun" panose="02010600030101010101" pitchFamily="2" charset="-122"/>
              </a:rPr>
              <a:t>Quantum Wells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2D structures 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confinement of electrons in 1-Dimension only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en-US" altLang="zh-CN" sz="2200">
                <a:latin typeface="Times New Roman" panose="02020603050405020304" pitchFamily="18" charset="0"/>
                <a:ea typeface="SimSun" panose="02010600030101010101" pitchFamily="2" charset="-122"/>
              </a:rPr>
              <a:t>Example: GaAs well with GaAlAs barriers</a:t>
            </a:r>
          </a:p>
        </p:txBody>
      </p:sp>
    </p:spTree>
    <p:extLst>
      <p:ext uri="{BB962C8B-B14F-4D97-AF65-F5344CB8AC3E}">
        <p14:creationId xmlns:p14="http://schemas.microsoft.com/office/powerpoint/2010/main" val="1097980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solidFill>
                  <a:srgbClr val="FF0000"/>
                </a:solidFill>
                <a:ea typeface="SimSun" panose="02010600030101010101" pitchFamily="2" charset="-122"/>
              </a:rPr>
              <a:t>Organometallic Vapor Phase Epitaxy </a:t>
            </a:r>
            <a:br>
              <a:rPr lang="en-US" altLang="zh-CN" sz="3200">
                <a:solidFill>
                  <a:srgbClr val="FF0000"/>
                </a:solidFill>
                <a:ea typeface="SimSun" panose="02010600030101010101" pitchFamily="2" charset="-122"/>
              </a:rPr>
            </a:br>
            <a:r>
              <a:rPr lang="en-US" altLang="zh-CN" sz="3200">
                <a:solidFill>
                  <a:srgbClr val="FF0000"/>
                </a:solidFill>
                <a:ea typeface="SimSun" panose="02010600030101010101" pitchFamily="2" charset="-122"/>
              </a:rPr>
              <a:t>(OMVPE)</a:t>
            </a:r>
          </a:p>
        </p:txBody>
      </p:sp>
      <p:pic>
        <p:nvPicPr>
          <p:cNvPr id="4710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752600"/>
            <a:ext cx="7745413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0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6019801"/>
            <a:ext cx="4792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9" name="Rectangle 1"/>
          <p:cNvSpPr>
            <a:spLocks noChangeArrowheads="1"/>
          </p:cNvSpPr>
          <p:nvPr/>
        </p:nvSpPr>
        <p:spPr bwMode="auto">
          <a:xfrm>
            <a:off x="3733800" y="5527675"/>
            <a:ext cx="1855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4D5156"/>
                </a:solidFill>
                <a:ea typeface="SimSun" panose="02010600030101010101" pitchFamily="2" charset="-122"/>
              </a:rPr>
              <a:t>Trimethylgallium</a:t>
            </a:r>
            <a:endParaRPr lang="zh-CN" altLang="en-US" sz="180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67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SimSun" panose="02010600030101010101" pitchFamily="2" charset="-122"/>
              </a:rPr>
              <a:t>Two-flow OMVPE by Nakamura et al for growing GaN</a:t>
            </a:r>
            <a:endParaRPr lang="zh-CN" altLang="en-US" sz="3600">
              <a:ea typeface="SimSun" panose="02010600030101010101" pitchFamily="2" charset="-122"/>
            </a:endParaRPr>
          </a:p>
        </p:txBody>
      </p:sp>
      <p:pic>
        <p:nvPicPr>
          <p:cNvPr id="49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5" t="4213"/>
          <a:stretch>
            <a:fillRect/>
          </a:stretch>
        </p:blipFill>
        <p:spPr>
          <a:xfrm>
            <a:off x="1981201" y="1524000"/>
            <a:ext cx="8385175" cy="3378200"/>
          </a:xfrm>
          <a:noFill/>
        </p:spPr>
      </p:pic>
      <p:pic>
        <p:nvPicPr>
          <p:cNvPr id="49156" name="图片 3" descr="http://image.sciencenet.cn/album/201410/08/091351wlmlszvj0r09s9j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495800"/>
            <a:ext cx="1828800" cy="21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TextBox 1"/>
          <p:cNvSpPr txBox="1">
            <a:spLocks noChangeArrowheads="1"/>
          </p:cNvSpPr>
          <p:nvPr/>
        </p:nvSpPr>
        <p:spPr bwMode="auto">
          <a:xfrm>
            <a:off x="2122488" y="5181601"/>
            <a:ext cx="5486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Shuji Nakamura(</a:t>
            </a:r>
            <a:r>
              <a:rPr lang="zh-CN" altLang="en-US" sz="1800">
                <a:ea typeface="SimSun" panose="02010600030101010101" pitchFamily="2" charset="-122"/>
              </a:rPr>
              <a:t>中村修二</a:t>
            </a:r>
            <a:r>
              <a:rPr lang="en-US" altLang="zh-CN" sz="1800">
                <a:ea typeface="SimSun" panose="02010600030101010101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SimSun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ea typeface="SimSun" panose="02010600030101010101" pitchFamily="2" charset="-122"/>
              </a:rPr>
              <a:t> “for the invention of efficient blue light-emitting diodes which has enabled bright and energy-saving white light sources”</a:t>
            </a:r>
            <a:endParaRPr lang="zh-CN" altLang="en-US" sz="180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7359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OMVPE</a:t>
            </a: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2133600" y="1447800"/>
            <a:ext cx="8001000" cy="504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Advantages: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Fast and can be scaled up for commercial production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Can work at relative high pressure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Capable of almost monolayer precision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Disadvantages: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Requires starting chemicals (precursors) to be in gas form and by-products also to be in gas form in order to be removed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Many precursors are highly toxic and/or explosive metal-organic compounds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Common contaminants: C, H</a:t>
            </a:r>
          </a:p>
        </p:txBody>
      </p:sp>
    </p:spTree>
    <p:extLst>
      <p:ext uri="{BB962C8B-B14F-4D97-AF65-F5344CB8AC3E}">
        <p14:creationId xmlns:p14="http://schemas.microsoft.com/office/powerpoint/2010/main" val="2854337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4800"/>
            <a:ext cx="77724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Phase equilibrium</a:t>
            </a: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682171" y="1349829"/>
            <a:ext cx="9452429" cy="567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To grow semiconductors, it is essential to understand mixed phases.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A starting point is the regular solution model (I assume most of you have already learned it)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Entropy of mixing is the ideal configurational entropy of mixing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kumimoji="1" lang="el-GR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Δ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kumimoji="1" lang="en-US" altLang="zh-CN" sz="2000" baseline="30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M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= -R [</a:t>
            </a:r>
            <a:r>
              <a:rPr kumimoji="1" lang="en-US" altLang="zh-CN" sz="20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xln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x + (1-x) ln (1-x)], x is the concentration.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The enthalpy of mixing is done by summing nearest neighbor bond energy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kumimoji="1" lang="el-GR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Δ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H</a:t>
            </a:r>
            <a:r>
              <a:rPr kumimoji="1" lang="en-US" altLang="zh-CN" sz="2000" baseline="30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M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= x(1-x)</a:t>
            </a:r>
            <a:r>
              <a:rPr kumimoji="1" lang="el-GR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Ω </a:t>
            </a:r>
            <a:endParaRPr kumimoji="1" lang="en-US" altLang="zh-CN" sz="2000" dirty="0" smtClean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kumimoji="1" lang="el-GR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Ω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is an interaction parameter.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Entropy is mixing is always negative.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However, enthalpy of mixing can be positive or negative.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Determined by </a:t>
            </a:r>
            <a:r>
              <a:rPr kumimoji="1" lang="el-GR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Ω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endParaRPr kumimoji="1" lang="en-US" altLang="zh-CN" sz="2000" baseline="30000" dirty="0" smtClean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endParaRPr kumimoji="1" lang="en-US" altLang="zh-CN" sz="2000" dirty="0" smtClean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992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2500" y="2302538"/>
            <a:ext cx="10490200" cy="366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2" indent="-28575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Bonding energy can be approximately proportional to a</a:t>
            </a:r>
            <a:r>
              <a:rPr kumimoji="1" lang="en-US" altLang="zh-CN" sz="2800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-2.5</a:t>
            </a: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marL="1657350" lvl="3" indent="-28575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Here, a is the bond length. </a:t>
            </a:r>
          </a:p>
          <a:p>
            <a:pPr marL="1200150" lvl="2" indent="-28575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Delta lattice parameter model to estimate </a:t>
            </a:r>
            <a:r>
              <a:rPr kumimoji="1" lang="el-GR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Ω</a:t>
            </a: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 for III-V and II-VI semiconductors</a:t>
            </a:r>
          </a:p>
          <a:p>
            <a:pPr marL="1657350" lvl="3" indent="-28575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Always positive and proportional to (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-a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r>
              <a:rPr kumimoji="1" lang="en-US" altLang="zh-CN" sz="2800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/(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+a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kumimoji="1"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r>
              <a:rPr kumimoji="1" lang="en-US" altLang="zh-CN" sz="2800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4.5</a:t>
            </a:r>
            <a:endParaRPr lang="zh-CN" altLang="en-US" sz="2800" dirty="0"/>
          </a:p>
          <a:p>
            <a:pPr marL="1657350" lvl="3" indent="-28575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For details, refer to Organometallic vapor-phase epitaxy, G. B. </a:t>
            </a:r>
            <a:r>
              <a:rPr kumimoji="1" lang="en-US" altLang="zh-CN" sz="28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Stringfellow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7183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4800"/>
            <a:ext cx="77724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Phase Separation of </a:t>
            </a:r>
            <a:r>
              <a:rPr lang="en-US" altLang="zh-CN" dirty="0" err="1" smtClean="0">
                <a:solidFill>
                  <a:srgbClr val="FF0000"/>
                </a:solidFill>
                <a:ea typeface="SimSun" panose="02010600030101010101" pitchFamily="2" charset="-122"/>
              </a:rPr>
              <a:t>InGaN</a:t>
            </a:r>
            <a:endParaRPr lang="en-US" altLang="zh-CN" dirty="0" smtClean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65314" y="1150258"/>
            <a:ext cx="6487885" cy="5115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A very large positive enthalpy of mixing can overwhelm the negative entropy of mixing below critical temperature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InGaN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is metastable!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Large size mismatch between In and Ga.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0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Binodal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and </a:t>
            </a:r>
            <a:r>
              <a:rPr kumimoji="1" lang="en-US" altLang="zh-CN" sz="20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spinodal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 lines of </a:t>
            </a:r>
            <a:r>
              <a:rPr kumimoji="1" lang="en-US" altLang="zh-CN" sz="20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InGaN</a:t>
            </a:r>
            <a:endParaRPr kumimoji="1" lang="en-US" altLang="zh-CN" sz="2000" dirty="0" smtClean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Ho and </a:t>
            </a:r>
            <a:r>
              <a:rPr kumimoji="1" lang="en-US" altLang="zh-CN" sz="16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Stringfellow</a:t>
            </a:r>
            <a:r>
              <a:rPr kumimoji="1" lang="en-US" altLang="zh-CN" sz="16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, Appl. Phys. let. 69 270.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To understand the growth of </a:t>
            </a:r>
            <a:r>
              <a:rPr kumimoji="1" lang="en-US" altLang="zh-CN" sz="2400" dirty="0" err="1" smtClean="0">
                <a:latin typeface="Times New Roman" panose="02020603050405020304" pitchFamily="18" charset="0"/>
                <a:ea typeface="SimSun" panose="02010600030101010101" pitchFamily="2" charset="-122"/>
              </a:rPr>
              <a:t>semiconuctors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, it is extremely important to construct and understand phase diagrams.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There are new approaches to calculate it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Good review topic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endParaRPr kumimoji="1" lang="en-US" altLang="zh-CN" sz="16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4" r="7232" b="51428"/>
          <a:stretch/>
        </p:blipFill>
        <p:spPr>
          <a:xfrm>
            <a:off x="6901542" y="1582057"/>
            <a:ext cx="4325257" cy="333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20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Why Study Defects?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 smtClean="0"/>
              <a:t>Defects </a:t>
            </a:r>
            <a:r>
              <a:rPr lang="en-US" altLang="zh-CN" dirty="0"/>
              <a:t>are like spice. If you put too much defects </a:t>
            </a:r>
            <a:r>
              <a:rPr lang="en-US" altLang="zh-CN" dirty="0" smtClean="0"/>
              <a:t>in a </a:t>
            </a:r>
            <a:r>
              <a:rPr lang="en-US" altLang="zh-CN" dirty="0"/>
              <a:t>crystal they spoil the crystal.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you put too </a:t>
            </a:r>
            <a:r>
              <a:rPr lang="en-US" altLang="zh-CN" dirty="0" smtClean="0"/>
              <a:t>little defects </a:t>
            </a:r>
            <a:r>
              <a:rPr lang="en-US" altLang="zh-CN" dirty="0"/>
              <a:t>in a crystal then the crystal is not </a:t>
            </a:r>
            <a:r>
              <a:rPr lang="en-US" altLang="zh-CN" dirty="0" smtClean="0"/>
              <a:t>too interesting </a:t>
            </a:r>
            <a:r>
              <a:rPr lang="en-US" altLang="zh-CN" dirty="0"/>
              <a:t>nor too useful.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/>
              <a:t>good crystal grower is </a:t>
            </a:r>
            <a:r>
              <a:rPr lang="en-US" altLang="zh-CN" dirty="0" smtClean="0"/>
              <a:t>a person </a:t>
            </a:r>
            <a:r>
              <a:rPr lang="en-US" altLang="zh-CN" dirty="0"/>
              <a:t>who can introduce such the right kind </a:t>
            </a:r>
            <a:r>
              <a:rPr lang="en-US" altLang="zh-CN" dirty="0" smtClean="0"/>
              <a:t>and amount </a:t>
            </a:r>
            <a:r>
              <a:rPr lang="en-US" altLang="zh-CN" dirty="0"/>
              <a:t>of defects into the sample</a:t>
            </a:r>
            <a:r>
              <a:rPr lang="en-US" altLang="zh-C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7207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PROS &amp; CONS OF DEFECTS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CONS</a:t>
            </a:r>
            <a:r>
              <a:rPr lang="en-US" altLang="zh-CN" dirty="0" smtClean="0"/>
              <a:t>:</a:t>
            </a:r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/>
              <a:t>Defects scatter electrons AND </a:t>
            </a:r>
            <a:r>
              <a:rPr lang="en-US" altLang="zh-CN" dirty="0" smtClean="0"/>
              <a:t>produce undesirable </a:t>
            </a:r>
            <a:r>
              <a:rPr lang="en-US" altLang="zh-CN" dirty="0"/>
              <a:t>resistance</a:t>
            </a:r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/>
              <a:t>Defects act as non-radiative </a:t>
            </a:r>
            <a:r>
              <a:rPr lang="en-US" altLang="zh-CN" dirty="0" smtClean="0"/>
              <a:t>recombination centers </a:t>
            </a:r>
            <a:r>
              <a:rPr lang="en-US" altLang="zh-CN" dirty="0"/>
              <a:t>for e and h pairs and hence </a:t>
            </a:r>
            <a:r>
              <a:rPr lang="en-US" altLang="zh-CN" dirty="0" smtClean="0"/>
              <a:t>lower efficiencies </a:t>
            </a:r>
            <a:r>
              <a:rPr lang="en-US" altLang="zh-CN" dirty="0"/>
              <a:t>of solar cells, </a:t>
            </a:r>
            <a:r>
              <a:rPr lang="en-US" altLang="zh-CN" dirty="0" err="1"/>
              <a:t>photocatalyst</a:t>
            </a:r>
            <a:r>
              <a:rPr lang="en-US" altLang="zh-CN" dirty="0"/>
              <a:t>, laser </a:t>
            </a:r>
            <a:r>
              <a:rPr lang="en-US" altLang="zh-CN" dirty="0" smtClean="0"/>
              <a:t>and LED </a:t>
            </a:r>
            <a:r>
              <a:rPr lang="en-US" altLang="zh-CN" dirty="0" err="1"/>
              <a:t>etc</a:t>
            </a:r>
            <a:endParaRPr lang="en-US" altLang="zh-CN" dirty="0"/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/>
              <a:t>Recombination at defects produce heat </a:t>
            </a:r>
            <a:r>
              <a:rPr lang="en-US" altLang="zh-CN" dirty="0" smtClean="0"/>
              <a:t>which prevents </a:t>
            </a:r>
            <a:r>
              <a:rPr lang="en-US" altLang="zh-CN" dirty="0"/>
              <a:t>high power operation and can </a:t>
            </a:r>
            <a:r>
              <a:rPr lang="en-US" altLang="zh-CN" dirty="0" smtClean="0"/>
              <a:t>shorten the </a:t>
            </a:r>
            <a:r>
              <a:rPr lang="en-US" altLang="zh-CN" dirty="0"/>
              <a:t>lifetime of devices.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2213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PROS</a:t>
            </a:r>
            <a:r>
              <a:rPr lang="en-US" altLang="zh-CN" dirty="0" smtClean="0"/>
              <a:t>: </a:t>
            </a:r>
          </a:p>
          <a:p>
            <a:r>
              <a:rPr lang="en-US" altLang="zh-CN" dirty="0" smtClean="0"/>
              <a:t>Defects </a:t>
            </a:r>
            <a:r>
              <a:rPr lang="en-US" altLang="zh-CN" dirty="0"/>
              <a:t>can introduce free carriers and makes it possible to </a:t>
            </a:r>
            <a:r>
              <a:rPr lang="en-US" altLang="zh-CN" dirty="0" smtClean="0"/>
              <a:t>make </a:t>
            </a:r>
            <a:r>
              <a:rPr lang="en-US" altLang="zh-CN" dirty="0" err="1" smtClean="0"/>
              <a:t>pn</a:t>
            </a:r>
            <a:r>
              <a:rPr lang="en-US" altLang="zh-CN" dirty="0" smtClean="0"/>
              <a:t>—junctions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dirty="0" smtClean="0"/>
              <a:t>Defects </a:t>
            </a:r>
            <a:r>
              <a:rPr lang="en-US" altLang="zh-CN" dirty="0"/>
              <a:t>therefore are “enablers” of </a:t>
            </a:r>
            <a:r>
              <a:rPr lang="en-US" altLang="zh-CN" dirty="0" smtClean="0"/>
              <a:t>diodes, </a:t>
            </a:r>
            <a:r>
              <a:rPr lang="en-US" altLang="zh-CN" dirty="0" err="1" smtClean="0"/>
              <a:t>transitors</a:t>
            </a:r>
            <a:r>
              <a:rPr lang="en-US" altLang="zh-CN" dirty="0"/>
              <a:t>, LED and lasers </a:t>
            </a:r>
            <a:r>
              <a:rPr lang="en-US" altLang="zh-CN" dirty="0" err="1" smtClean="0"/>
              <a:t>etc</a:t>
            </a:r>
            <a:endParaRPr lang="en-US" altLang="zh-CN" dirty="0"/>
          </a:p>
          <a:p>
            <a:r>
              <a:rPr lang="en-US" altLang="zh-CN" dirty="0" smtClean="0"/>
              <a:t>Defects </a:t>
            </a:r>
            <a:r>
              <a:rPr lang="en-US" altLang="zh-CN" dirty="0"/>
              <a:t>can annihilate unwanted carriers via compensation </a:t>
            </a:r>
            <a:r>
              <a:rPr lang="en-US" altLang="zh-CN" dirty="0" smtClean="0"/>
              <a:t>and therefore </a:t>
            </a:r>
            <a:r>
              <a:rPr lang="en-US" altLang="zh-CN" dirty="0"/>
              <a:t>control the resistance of semiconductors all the way </a:t>
            </a:r>
            <a:r>
              <a:rPr lang="en-US" altLang="zh-CN" dirty="0" smtClean="0"/>
              <a:t>from metallic </a:t>
            </a:r>
            <a:r>
              <a:rPr lang="en-US" altLang="zh-CN" dirty="0"/>
              <a:t>to insulating.</a:t>
            </a:r>
          </a:p>
          <a:p>
            <a:r>
              <a:rPr lang="en-US" altLang="zh-CN" dirty="0" smtClean="0"/>
              <a:t>Defects </a:t>
            </a:r>
            <a:r>
              <a:rPr lang="en-US" altLang="zh-CN" dirty="0"/>
              <a:t>can break selection rules so that transitions that </a:t>
            </a:r>
            <a:r>
              <a:rPr lang="en-US" altLang="zh-CN" dirty="0" smtClean="0"/>
              <a:t>are forbidden </a:t>
            </a:r>
            <a:r>
              <a:rPr lang="en-US" altLang="zh-CN" dirty="0"/>
              <a:t>can become allowed</a:t>
            </a:r>
            <a:r>
              <a:rPr lang="en-US" altLang="zh-C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1245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INTRODUCTION. Classification of</a:t>
            </a:r>
            <a:br>
              <a:rPr lang="en-US" altLang="zh-CN" b="1" dirty="0"/>
            </a:br>
            <a:r>
              <a:rPr lang="en-US" altLang="zh-CN" b="1" dirty="0"/>
              <a:t>Defects, their structures and</a:t>
            </a:r>
            <a:br>
              <a:rPr lang="en-US" altLang="zh-CN" b="1" dirty="0"/>
            </a:br>
            <a:r>
              <a:rPr lang="en-US" altLang="zh-CN" b="1" dirty="0"/>
              <a:t>symmetries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Point Defects: Intrinsic Defects </a:t>
            </a:r>
            <a:r>
              <a:rPr lang="en-US" altLang="zh-CN" dirty="0" smtClean="0"/>
              <a:t>&amp; Impurities</a:t>
            </a:r>
            <a:endParaRPr lang="en-US" altLang="zh-CN" dirty="0"/>
          </a:p>
          <a:p>
            <a:r>
              <a:rPr lang="en-US" altLang="zh-CN" dirty="0" smtClean="0"/>
              <a:t>Extended </a:t>
            </a:r>
            <a:r>
              <a:rPr lang="en-US" altLang="zh-CN" dirty="0"/>
              <a:t>Defects</a:t>
            </a:r>
            <a:r>
              <a:rPr lang="en-US" altLang="zh-CN" dirty="0" smtClean="0"/>
              <a:t>: Complexes</a:t>
            </a:r>
            <a:r>
              <a:rPr lang="en-US" altLang="zh-CN" dirty="0"/>
              <a:t>, </a:t>
            </a:r>
            <a:r>
              <a:rPr lang="en-US" altLang="zh-CN" dirty="0" smtClean="0"/>
              <a:t>line defects </a:t>
            </a:r>
            <a:r>
              <a:rPr lang="en-US" altLang="zh-CN" dirty="0"/>
              <a:t>and surfaces</a:t>
            </a:r>
          </a:p>
          <a:p>
            <a:r>
              <a:rPr lang="en-US" altLang="zh-CN" dirty="0" smtClean="0"/>
              <a:t>Shallow </a:t>
            </a:r>
            <a:r>
              <a:rPr lang="en-US" altLang="zh-CN" dirty="0"/>
              <a:t>&amp; Deep Impurity </a:t>
            </a:r>
            <a:r>
              <a:rPr lang="en-US" altLang="zh-CN" dirty="0" smtClean="0"/>
              <a:t>Levels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2804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POINT DEFECTS: Intrinsic</a:t>
            </a:r>
            <a:br>
              <a:rPr lang="en-US" altLang="zh-CN" b="1" dirty="0"/>
            </a:br>
            <a:r>
              <a:rPr lang="en-US" altLang="zh-CN" b="1" dirty="0"/>
              <a:t>Defects &amp; Impurities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simplest kind of defect is clearly one which occurs at </a:t>
            </a:r>
            <a:r>
              <a:rPr lang="en-US" altLang="zh-CN" dirty="0" smtClean="0"/>
              <a:t>only one </a:t>
            </a:r>
            <a:r>
              <a:rPr lang="en-US" altLang="zh-CN" dirty="0"/>
              <a:t>lattice site. </a:t>
            </a:r>
            <a:endParaRPr lang="en-US" altLang="zh-CN" dirty="0" smtClean="0"/>
          </a:p>
          <a:p>
            <a:r>
              <a:rPr lang="en-US" altLang="zh-CN" dirty="0" smtClean="0"/>
              <a:t>Such </a:t>
            </a:r>
            <a:r>
              <a:rPr lang="en-US" altLang="zh-CN" dirty="0"/>
              <a:t>defects are known as point defects and </a:t>
            </a:r>
            <a:r>
              <a:rPr lang="en-US" altLang="zh-CN" dirty="0" smtClean="0"/>
              <a:t>are often </a:t>
            </a:r>
            <a:r>
              <a:rPr lang="en-US" altLang="zh-CN" dirty="0"/>
              <a:t>approximated by a point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2227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Example: Replacing a Si atom in a Si crystal by a B atom or </a:t>
            </a:r>
            <a:r>
              <a:rPr lang="en-US" altLang="zh-CN" dirty="0" smtClean="0"/>
              <a:t>P atom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dirty="0" smtClean="0"/>
              <a:t>In </a:t>
            </a:r>
            <a:r>
              <a:rPr lang="en-US" altLang="zh-CN" dirty="0"/>
              <a:t>both cases the foreign atom represent an impurity in </a:t>
            </a:r>
            <a:r>
              <a:rPr lang="en-US" altLang="zh-CN" dirty="0" smtClean="0"/>
              <a:t>an otherwise </a:t>
            </a:r>
            <a:r>
              <a:rPr lang="en-US" altLang="zh-CN" dirty="0"/>
              <a:t>pure crystal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We </a:t>
            </a:r>
            <a:r>
              <a:rPr lang="en-US" altLang="zh-CN" dirty="0"/>
              <a:t>will see later that these impurity </a:t>
            </a:r>
            <a:r>
              <a:rPr lang="en-US" altLang="zh-CN" dirty="0" smtClean="0"/>
              <a:t>atoms behave </a:t>
            </a:r>
            <a:r>
              <a:rPr lang="en-US" altLang="zh-CN" dirty="0"/>
              <a:t>differently in Si in terms of their electrical properties in </a:t>
            </a:r>
            <a:r>
              <a:rPr lang="en-US" altLang="zh-CN" dirty="0" smtClean="0"/>
              <a:t>Si (B </a:t>
            </a:r>
            <a:r>
              <a:rPr lang="en-US" altLang="zh-CN" dirty="0"/>
              <a:t>is said to be an acceptor while P is said to be a donor).</a:t>
            </a:r>
          </a:p>
          <a:p>
            <a:r>
              <a:rPr lang="en-US" altLang="zh-CN" dirty="0" smtClean="0"/>
              <a:t>Impurities </a:t>
            </a:r>
            <a:r>
              <a:rPr lang="en-US" altLang="zh-CN" dirty="0"/>
              <a:t>can be detected chemically.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30596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If we remove a Si atom and create a </a:t>
            </a:r>
            <a:r>
              <a:rPr lang="en-US" altLang="zh-CN" b="1" dirty="0" smtClean="0"/>
              <a:t>vacancy</a:t>
            </a:r>
            <a:r>
              <a:rPr lang="en-US" altLang="zh-CN" dirty="0" smtClean="0"/>
              <a:t>, this vacancy represents a form of defect which cannot be detected chemically. </a:t>
            </a:r>
          </a:p>
          <a:p>
            <a:r>
              <a:rPr lang="en-US" altLang="zh-CN" dirty="0" smtClean="0"/>
              <a:t>Similarly a Si atom sitting at a site where there should not be an atom (called </a:t>
            </a:r>
            <a:r>
              <a:rPr lang="en-US" altLang="zh-CN" b="1" dirty="0" smtClean="0"/>
              <a:t>Interstitials</a:t>
            </a:r>
            <a:r>
              <a:rPr lang="en-US" altLang="zh-CN" dirty="0" smtClean="0"/>
              <a:t>) is also a kind of defect which cannot be detected chemically. </a:t>
            </a:r>
          </a:p>
          <a:p>
            <a:r>
              <a:rPr lang="en-US" altLang="zh-CN" dirty="0" smtClean="0"/>
              <a:t>These are examples of intrinsic defects. </a:t>
            </a:r>
          </a:p>
          <a:p>
            <a:r>
              <a:rPr lang="en-US" altLang="zh-CN" dirty="0" smtClean="0"/>
              <a:t>Intrinsic defects occur only in Materials Science. </a:t>
            </a:r>
          </a:p>
          <a:p>
            <a:r>
              <a:rPr lang="en-US" altLang="zh-CN" dirty="0" smtClean="0"/>
              <a:t>There are no intrinsic defects in chemicals.</a:t>
            </a:r>
          </a:p>
          <a:p>
            <a:r>
              <a:rPr lang="en-US" altLang="zh-CN" dirty="0" smtClean="0"/>
              <a:t>One questions, for intrinsic defects like Si vacancy or Si interstitial, are they donors or electrons?</a:t>
            </a:r>
          </a:p>
        </p:txBody>
      </p:sp>
    </p:spTree>
    <p:extLst>
      <p:ext uri="{BB962C8B-B14F-4D97-AF65-F5344CB8AC3E}">
        <p14:creationId xmlns:p14="http://schemas.microsoft.com/office/powerpoint/2010/main" val="3266570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In chemistry we represent elements by symbols.</a:t>
            </a:r>
          </a:p>
          <a:p>
            <a:r>
              <a:rPr lang="en-US" altLang="zh-CN" dirty="0"/>
              <a:t>Similarly in materials science there are </a:t>
            </a:r>
            <a:r>
              <a:rPr lang="en-US" altLang="zh-CN" dirty="0" smtClean="0"/>
              <a:t>special symbols </a:t>
            </a:r>
            <a:r>
              <a:rPr lang="en-US" altLang="zh-CN" dirty="0"/>
              <a:t>for point defects which are the “elements” </a:t>
            </a:r>
            <a:r>
              <a:rPr lang="en-US" altLang="zh-CN" dirty="0" smtClean="0"/>
              <a:t>in materials </a:t>
            </a:r>
            <a:r>
              <a:rPr lang="en-US" altLang="zh-CN" dirty="0"/>
              <a:t>science.</a:t>
            </a:r>
          </a:p>
          <a:p>
            <a:r>
              <a:rPr lang="en-US" altLang="zh-CN" dirty="0"/>
              <a:t> For impurities, B</a:t>
            </a:r>
            <a:r>
              <a:rPr lang="en-US" altLang="zh-CN" baseline="-25000" dirty="0"/>
              <a:t>Si</a:t>
            </a:r>
            <a:r>
              <a:rPr lang="en-US" altLang="zh-CN" dirty="0"/>
              <a:t>=B replacing Si</a:t>
            </a:r>
          </a:p>
          <a:p>
            <a:r>
              <a:rPr lang="en-US" altLang="zh-CN" dirty="0"/>
              <a:t> For intrinsic defects: </a:t>
            </a:r>
            <a:r>
              <a:rPr lang="en-US" altLang="zh-CN" dirty="0" err="1" smtClean="0"/>
              <a:t>V</a:t>
            </a:r>
            <a:r>
              <a:rPr lang="en-US" altLang="zh-CN" baseline="-25000" dirty="0" err="1" smtClean="0"/>
              <a:t>Si</a:t>
            </a:r>
            <a:r>
              <a:rPr lang="en-US" altLang="zh-CN" dirty="0" smtClean="0"/>
              <a:t>=vacancy </a:t>
            </a:r>
            <a:r>
              <a:rPr lang="en-US" altLang="zh-CN" dirty="0"/>
              <a:t>at Si atom</a:t>
            </a:r>
          </a:p>
          <a:p>
            <a:r>
              <a:rPr lang="en-US" altLang="zh-CN" dirty="0"/>
              <a:t> </a:t>
            </a:r>
            <a:r>
              <a:rPr lang="en-US" altLang="zh-CN" dirty="0" err="1" smtClean="0"/>
              <a:t>I</a:t>
            </a:r>
            <a:r>
              <a:rPr lang="en-US" altLang="zh-CN" baseline="-25000" dirty="0" err="1" smtClean="0"/>
              <a:t>Si</a:t>
            </a:r>
            <a:r>
              <a:rPr lang="en-US" altLang="zh-CN" dirty="0" smtClean="0"/>
              <a:t>=Interstitial </a:t>
            </a:r>
            <a:r>
              <a:rPr lang="en-US" altLang="zh-CN" dirty="0"/>
              <a:t>Si </a:t>
            </a:r>
            <a:r>
              <a:rPr lang="en-US" altLang="zh-CN" dirty="0" smtClean="0"/>
              <a:t>atom, this convention sometimes can be confusing because we may use I to dopant some compound that contains Si. Therefore, it is also common to use </a:t>
            </a:r>
            <a:r>
              <a:rPr lang="en-US" altLang="zh-CN" dirty="0" err="1" smtClean="0"/>
              <a:t>Si</a:t>
            </a:r>
            <a:r>
              <a:rPr lang="en-US" altLang="zh-CN" baseline="-25000" dirty="0" err="1" smtClean="0"/>
              <a:t>i</a:t>
            </a:r>
            <a:r>
              <a:rPr lang="en-US" altLang="zh-CN" dirty="0" smtClean="0"/>
              <a:t> to represent it. </a:t>
            </a:r>
            <a:endParaRPr lang="en-US" altLang="zh-CN" dirty="0"/>
          </a:p>
          <a:p>
            <a:r>
              <a:rPr lang="en-US" altLang="zh-CN" dirty="0"/>
              <a:t> In GaAs when As replaces Ga (</a:t>
            </a:r>
            <a:r>
              <a:rPr lang="en-US" altLang="zh-CN" dirty="0" err="1"/>
              <a:t>AsGa</a:t>
            </a:r>
            <a:r>
              <a:rPr lang="en-US" altLang="zh-CN" dirty="0"/>
              <a:t>) one obtains </a:t>
            </a:r>
            <a:r>
              <a:rPr lang="en-US" altLang="zh-CN" dirty="0" smtClean="0"/>
              <a:t>an </a:t>
            </a:r>
            <a:r>
              <a:rPr lang="en-US" altLang="zh-CN" b="1" dirty="0" err="1"/>
              <a:t>Antisite</a:t>
            </a:r>
            <a:r>
              <a:rPr lang="en-US" altLang="zh-CN" b="1" dirty="0"/>
              <a:t> </a:t>
            </a:r>
            <a:r>
              <a:rPr lang="en-US" altLang="zh-CN" dirty="0"/>
              <a:t>defect.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6042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EXTENDED DEFECTS: Complexes,</a:t>
            </a:r>
            <a:br>
              <a:rPr lang="en-US" altLang="zh-CN" b="1" dirty="0"/>
            </a:br>
            <a:r>
              <a:rPr lang="en-US" altLang="zh-CN" b="1" dirty="0"/>
              <a:t>line defects and surfaces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Elements can attract each other to form molecules, </a:t>
            </a:r>
            <a:r>
              <a:rPr lang="en-US" altLang="zh-CN" dirty="0" smtClean="0"/>
              <a:t>similarly point </a:t>
            </a:r>
            <a:r>
              <a:rPr lang="en-US" altLang="zh-CN" dirty="0"/>
              <a:t>defects can attract each other to form complexes. </a:t>
            </a:r>
            <a:endParaRPr lang="en-US" altLang="zh-CN" dirty="0" smtClean="0"/>
          </a:p>
          <a:p>
            <a:r>
              <a:rPr lang="en-US" altLang="zh-CN" dirty="0" smtClean="0"/>
              <a:t>An </a:t>
            </a:r>
            <a:r>
              <a:rPr lang="en-US" altLang="zh-CN" dirty="0"/>
              <a:t>example is the </a:t>
            </a:r>
            <a:r>
              <a:rPr lang="en-US" altLang="zh-CN" b="1" dirty="0" err="1"/>
              <a:t>divacancy</a:t>
            </a:r>
            <a:r>
              <a:rPr lang="en-US" altLang="zh-CN" b="1" dirty="0"/>
              <a:t> </a:t>
            </a:r>
            <a:r>
              <a:rPr lang="en-US" altLang="zh-CN" dirty="0"/>
              <a:t>in Si. </a:t>
            </a:r>
            <a:r>
              <a:rPr lang="en-US" altLang="zh-CN" dirty="0" err="1" smtClean="0"/>
              <a:t>V</a:t>
            </a:r>
            <a:r>
              <a:rPr lang="en-US" altLang="zh-CN" baseline="-25000" dirty="0" err="1" smtClean="0"/>
              <a:t>Si</a:t>
            </a:r>
            <a:r>
              <a:rPr lang="en-US" altLang="zh-CN" dirty="0" smtClean="0"/>
              <a:t> </a:t>
            </a:r>
            <a:r>
              <a:rPr lang="en-US" altLang="zh-CN" dirty="0"/>
              <a:t>is a point defect. </a:t>
            </a:r>
            <a:r>
              <a:rPr lang="en-US" altLang="zh-CN" dirty="0" smtClean="0"/>
              <a:t>It contains </a:t>
            </a:r>
            <a:r>
              <a:rPr lang="en-US" altLang="zh-CN" dirty="0"/>
              <a:t>4 broken bonds and so is a very high energy </a:t>
            </a:r>
            <a:r>
              <a:rPr lang="en-US" altLang="zh-CN" dirty="0" smtClean="0"/>
              <a:t>state when </a:t>
            </a:r>
            <a:r>
              <a:rPr lang="en-US" altLang="zh-CN" dirty="0"/>
              <a:t>neutral.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18664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Healing of broken bonds.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The four dangling bonds are “healed” by formation of 2 </a:t>
            </a:r>
            <a:r>
              <a:rPr lang="en-US" altLang="zh-CN" dirty="0" smtClean="0"/>
              <a:t>new bonds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dirty="0" smtClean="0"/>
              <a:t>The </a:t>
            </a:r>
            <a:r>
              <a:rPr lang="en-US" altLang="zh-CN" dirty="0"/>
              <a:t>bond distortions (</a:t>
            </a:r>
            <a:r>
              <a:rPr lang="en-US" altLang="zh-CN" b="1" dirty="0"/>
              <a:t>Lattice Relaxation</a:t>
            </a:r>
            <a:r>
              <a:rPr lang="en-US" altLang="zh-CN" dirty="0"/>
              <a:t>) </a:t>
            </a:r>
            <a:r>
              <a:rPr lang="en-US" altLang="zh-CN" dirty="0" smtClean="0"/>
              <a:t>involved cost </a:t>
            </a:r>
            <a:r>
              <a:rPr lang="en-US" altLang="zh-CN" dirty="0"/>
              <a:t>lattice energy. </a:t>
            </a:r>
            <a:endParaRPr lang="en-US" altLang="zh-CN" dirty="0" smtClean="0"/>
          </a:p>
          <a:p>
            <a:r>
              <a:rPr lang="en-US" altLang="zh-CN" dirty="0" smtClean="0"/>
              <a:t>But </a:t>
            </a:r>
            <a:r>
              <a:rPr lang="en-US" altLang="zh-CN" dirty="0"/>
              <a:t>overall energy is still lowered. </a:t>
            </a:r>
            <a:r>
              <a:rPr lang="en-US" altLang="zh-CN" dirty="0" smtClean="0"/>
              <a:t>Electron </a:t>
            </a:r>
            <a:r>
              <a:rPr lang="en-US" altLang="zh-CN" dirty="0" err="1" smtClean="0"/>
              <a:t>energies~eV</a:t>
            </a:r>
            <a:r>
              <a:rPr lang="en-US" altLang="zh-CN" dirty="0" smtClean="0"/>
              <a:t> </a:t>
            </a:r>
            <a:r>
              <a:rPr lang="en-US" altLang="zh-CN" dirty="0"/>
              <a:t>but lattice energy (~phonon energy) ~100meV</a:t>
            </a:r>
            <a:r>
              <a:rPr lang="en-US" altLang="zh-CN" dirty="0" smtClean="0"/>
              <a:t>. So it is a good deal!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On semiconductor surfaces, surface defects may also induce a so-called “surface reconstructions”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81" y="3472520"/>
            <a:ext cx="3941438" cy="18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69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From Vacancies to </a:t>
            </a:r>
            <a:r>
              <a:rPr lang="en-US" altLang="zh-CN" b="1" dirty="0" err="1"/>
              <a:t>Divacancy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Defects can interact </a:t>
            </a:r>
            <a:r>
              <a:rPr lang="en-US" altLang="zh-CN" dirty="0" smtClean="0"/>
              <a:t>like atoms </a:t>
            </a:r>
            <a:r>
              <a:rPr lang="en-US" altLang="zh-CN" dirty="0"/>
              <a:t>to form “molecules”.</a:t>
            </a:r>
          </a:p>
          <a:p>
            <a:r>
              <a:rPr lang="en-US" altLang="zh-CN" dirty="0" smtClean="0"/>
              <a:t>A </a:t>
            </a:r>
            <a:r>
              <a:rPr lang="en-US" altLang="zh-CN" dirty="0"/>
              <a:t>classic example is </a:t>
            </a:r>
            <a:r>
              <a:rPr lang="en-US" altLang="zh-CN" dirty="0" smtClean="0"/>
              <a:t>the combination </a:t>
            </a:r>
            <a:r>
              <a:rPr lang="en-US" altLang="zh-CN" dirty="0"/>
              <a:t>of </a:t>
            </a:r>
            <a:r>
              <a:rPr lang="en-US" altLang="zh-CN" dirty="0" smtClean="0"/>
              <a:t>two vacancies </a:t>
            </a:r>
            <a:r>
              <a:rPr lang="en-US" altLang="zh-CN" dirty="0"/>
              <a:t>in Si to form </a:t>
            </a:r>
            <a:r>
              <a:rPr lang="en-US" altLang="zh-CN" dirty="0" smtClean="0"/>
              <a:t>a </a:t>
            </a:r>
            <a:r>
              <a:rPr lang="en-US" altLang="zh-CN" dirty="0" err="1" smtClean="0"/>
              <a:t>divacancy</a:t>
            </a:r>
            <a:r>
              <a:rPr lang="en-US" altLang="zh-CN" dirty="0"/>
              <a:t>, represented </a:t>
            </a:r>
            <a:r>
              <a:rPr lang="en-US" altLang="zh-CN" dirty="0" smtClean="0"/>
              <a:t>as VV</a:t>
            </a:r>
            <a:r>
              <a:rPr lang="en-US" altLang="zh-CN" dirty="0"/>
              <a:t>.</a:t>
            </a:r>
          </a:p>
          <a:p>
            <a:r>
              <a:rPr lang="en-US" altLang="zh-CN" dirty="0" smtClean="0"/>
              <a:t>When </a:t>
            </a:r>
            <a:r>
              <a:rPr lang="en-US" altLang="zh-CN" dirty="0"/>
              <a:t>two nearest </a:t>
            </a:r>
            <a:r>
              <a:rPr lang="en-US" altLang="zh-CN" dirty="0" smtClean="0"/>
              <a:t>neighbor V </a:t>
            </a:r>
            <a:r>
              <a:rPr lang="en-US" altLang="zh-CN" dirty="0"/>
              <a:t>combine, the number </a:t>
            </a:r>
            <a:r>
              <a:rPr lang="en-US" altLang="zh-CN" dirty="0" smtClean="0"/>
              <a:t>of dangling </a:t>
            </a:r>
            <a:r>
              <a:rPr lang="en-US" altLang="zh-CN" dirty="0"/>
              <a:t>bonds is </a:t>
            </a:r>
            <a:r>
              <a:rPr lang="en-US" altLang="zh-CN" dirty="0" smtClean="0"/>
              <a:t>reduced from </a:t>
            </a:r>
            <a:r>
              <a:rPr lang="en-US" altLang="zh-CN" dirty="0"/>
              <a:t>8 to </a:t>
            </a:r>
            <a:r>
              <a:rPr lang="en-US" altLang="zh-CN" dirty="0" smtClean="0"/>
              <a:t>6.</a:t>
            </a:r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698" y="3752045"/>
            <a:ext cx="3800503" cy="298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63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07" y="1745444"/>
            <a:ext cx="6662786" cy="33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64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CLASSIFICATION OF DEFECTS BY</a:t>
            </a:r>
            <a:br>
              <a:rPr lang="en-US" altLang="zh-CN" dirty="0"/>
            </a:br>
            <a:r>
              <a:rPr lang="en-US" altLang="zh-CN" dirty="0"/>
              <a:t>ELECTRONIC PROPERTIES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Donors</a:t>
            </a:r>
            <a:r>
              <a:rPr lang="en-US" altLang="zh-CN" dirty="0"/>
              <a:t>: defects which can contribute electrons such as P</a:t>
            </a:r>
            <a:r>
              <a:rPr lang="en-US" altLang="zh-CN" baseline="-25000" dirty="0"/>
              <a:t>si</a:t>
            </a:r>
            <a:r>
              <a:rPr lang="en-US" altLang="zh-CN" dirty="0"/>
              <a:t> </a:t>
            </a:r>
            <a:r>
              <a:rPr lang="en-US" altLang="zh-CN" dirty="0" smtClean="0"/>
              <a:t>in Si</a:t>
            </a:r>
            <a:r>
              <a:rPr lang="en-US" altLang="zh-CN" dirty="0"/>
              <a:t>, </a:t>
            </a:r>
            <a:r>
              <a:rPr lang="en-US" altLang="zh-CN" dirty="0" smtClean="0"/>
              <a:t>Si</a:t>
            </a:r>
            <a:r>
              <a:rPr lang="en-US" altLang="zh-CN" baseline="-25000" dirty="0" smtClean="0"/>
              <a:t>Ga</a:t>
            </a:r>
            <a:r>
              <a:rPr lang="en-US" altLang="zh-CN" dirty="0" smtClean="0"/>
              <a:t> </a:t>
            </a:r>
            <a:r>
              <a:rPr lang="en-US" altLang="zh-CN" dirty="0"/>
              <a:t>in GaAs</a:t>
            </a:r>
          </a:p>
          <a:p>
            <a:r>
              <a:rPr lang="en-US" altLang="zh-CN" b="1" dirty="0" smtClean="0"/>
              <a:t>Acceptors</a:t>
            </a:r>
            <a:r>
              <a:rPr lang="en-US" altLang="zh-CN" dirty="0"/>
              <a:t>: defects which can accept electrons (or </a:t>
            </a:r>
            <a:r>
              <a:rPr lang="en-US" altLang="zh-CN" dirty="0" smtClean="0"/>
              <a:t>contribute holes</a:t>
            </a:r>
            <a:r>
              <a:rPr lang="en-US" altLang="zh-CN" dirty="0"/>
              <a:t>) such as </a:t>
            </a:r>
            <a:r>
              <a:rPr lang="en-US" altLang="zh-CN" dirty="0" err="1" smtClean="0"/>
              <a:t>B</a:t>
            </a:r>
            <a:r>
              <a:rPr lang="en-US" altLang="zh-CN" baseline="-25000" dirty="0" err="1" smtClean="0"/>
              <a:t>si</a:t>
            </a:r>
            <a:r>
              <a:rPr lang="en-US" altLang="zh-CN" dirty="0" smtClean="0"/>
              <a:t> </a:t>
            </a:r>
            <a:r>
              <a:rPr lang="en-US" altLang="zh-CN" dirty="0"/>
              <a:t>in Si, </a:t>
            </a:r>
            <a:r>
              <a:rPr lang="en-US" altLang="zh-CN" dirty="0" err="1" smtClean="0"/>
              <a:t>Si</a:t>
            </a:r>
            <a:r>
              <a:rPr lang="en-US" altLang="zh-CN" baseline="-25000" dirty="0" err="1" smtClean="0"/>
              <a:t>As</a:t>
            </a:r>
            <a:r>
              <a:rPr lang="en-US" altLang="zh-CN" dirty="0" smtClean="0"/>
              <a:t> </a:t>
            </a:r>
            <a:r>
              <a:rPr lang="en-US" altLang="zh-CN" dirty="0"/>
              <a:t>in GaAs</a:t>
            </a:r>
          </a:p>
          <a:p>
            <a:r>
              <a:rPr lang="en-US" altLang="zh-CN" b="1" dirty="0" err="1" smtClean="0"/>
              <a:t>Isovalent</a:t>
            </a:r>
            <a:r>
              <a:rPr lang="en-US" altLang="zh-CN" b="1" dirty="0" smtClean="0"/>
              <a:t> </a:t>
            </a:r>
            <a:r>
              <a:rPr lang="en-US" altLang="zh-CN" dirty="0"/>
              <a:t>or </a:t>
            </a:r>
            <a:r>
              <a:rPr lang="en-US" altLang="zh-CN" b="1" dirty="0"/>
              <a:t>Isoelectronic </a:t>
            </a:r>
            <a:r>
              <a:rPr lang="en-US" altLang="zh-CN" dirty="0"/>
              <a:t>centers: </a:t>
            </a:r>
            <a:r>
              <a:rPr lang="en-US" altLang="zh-CN" dirty="0" smtClean="0"/>
              <a:t>N</a:t>
            </a:r>
            <a:r>
              <a:rPr lang="en-US" altLang="zh-CN" baseline="-25000" dirty="0"/>
              <a:t>P</a:t>
            </a:r>
            <a:r>
              <a:rPr lang="en-US" altLang="zh-CN" dirty="0" smtClean="0"/>
              <a:t> </a:t>
            </a:r>
            <a:r>
              <a:rPr lang="en-US" altLang="zh-CN" dirty="0"/>
              <a:t>in </a:t>
            </a:r>
            <a:r>
              <a:rPr lang="en-US" altLang="zh-CN" dirty="0" err="1"/>
              <a:t>GaP</a:t>
            </a:r>
            <a:endParaRPr lang="en-US" altLang="zh-CN" dirty="0"/>
          </a:p>
          <a:p>
            <a:r>
              <a:rPr lang="en-US" altLang="zh-CN" b="1" dirty="0" smtClean="0"/>
              <a:t>Amphoteric</a:t>
            </a:r>
            <a:r>
              <a:rPr lang="en-US" altLang="zh-CN" dirty="0"/>
              <a:t>: Si in GaAs since SiGa is a donor while </a:t>
            </a:r>
            <a:r>
              <a:rPr lang="en-US" altLang="zh-CN" dirty="0" err="1"/>
              <a:t>SiAs</a:t>
            </a:r>
            <a:r>
              <a:rPr lang="en-US" altLang="zh-CN" dirty="0"/>
              <a:t> is </a:t>
            </a:r>
            <a:r>
              <a:rPr lang="en-US" altLang="zh-CN" dirty="0" smtClean="0"/>
              <a:t>an acceptor.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9944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determines the defect properties?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Combination of Two factors</a:t>
            </a:r>
            <a:r>
              <a:rPr lang="en-US" altLang="zh-CN" dirty="0" smtClean="0"/>
              <a:t>: </a:t>
            </a:r>
          </a:p>
          <a:p>
            <a:pPr lvl="1"/>
            <a:r>
              <a:rPr lang="en-US" altLang="zh-CN" dirty="0" smtClean="0"/>
              <a:t>(</a:t>
            </a:r>
            <a:r>
              <a:rPr lang="en-US" altLang="zh-CN" dirty="0"/>
              <a:t>1) “</a:t>
            </a:r>
            <a:r>
              <a:rPr lang="en-US" altLang="zh-CN" b="1" dirty="0"/>
              <a:t>Local factor</a:t>
            </a:r>
            <a:r>
              <a:rPr lang="en-US" altLang="zh-CN" dirty="0"/>
              <a:t>” such as chemical nature of defect</a:t>
            </a:r>
          </a:p>
          <a:p>
            <a:pPr lvl="1"/>
            <a:r>
              <a:rPr lang="en-US" altLang="zh-CN" dirty="0" smtClean="0"/>
              <a:t>(</a:t>
            </a:r>
            <a:r>
              <a:rPr lang="en-US" altLang="zh-CN" dirty="0"/>
              <a:t>2) “</a:t>
            </a:r>
            <a:r>
              <a:rPr lang="en-US" altLang="zh-CN" b="1" dirty="0"/>
              <a:t>Host factor</a:t>
            </a:r>
            <a:r>
              <a:rPr lang="en-US" altLang="zh-CN" dirty="0"/>
              <a:t>” such as properties of the host lattice like </a:t>
            </a:r>
            <a:r>
              <a:rPr lang="en-US" altLang="zh-CN" dirty="0" smtClean="0"/>
              <a:t>band structure</a:t>
            </a:r>
            <a:r>
              <a:rPr lang="en-US" altLang="zh-CN" dirty="0"/>
              <a:t>, phonon energies</a:t>
            </a:r>
          </a:p>
          <a:p>
            <a:r>
              <a:rPr lang="en-US" altLang="zh-CN" dirty="0" smtClean="0"/>
              <a:t>Factor </a:t>
            </a:r>
            <a:r>
              <a:rPr lang="en-US" altLang="zh-CN" dirty="0"/>
              <a:t>(1) breaks translational symmetry and </a:t>
            </a:r>
            <a:r>
              <a:rPr lang="en-US" altLang="zh-CN" dirty="0" smtClean="0"/>
              <a:t>requires understanding </a:t>
            </a:r>
            <a:r>
              <a:rPr lang="en-US" altLang="zh-CN" dirty="0"/>
              <a:t>of chemistry and atomic physics</a:t>
            </a:r>
          </a:p>
          <a:p>
            <a:r>
              <a:rPr lang="en-US" altLang="zh-CN" dirty="0" smtClean="0"/>
              <a:t>Factor </a:t>
            </a:r>
            <a:r>
              <a:rPr lang="en-US" altLang="zh-CN" dirty="0"/>
              <a:t>(2) emphasize knowledge of Solid State Physics </a:t>
            </a:r>
            <a:r>
              <a:rPr lang="en-US" altLang="zh-CN" dirty="0" smtClean="0"/>
              <a:t>more than </a:t>
            </a:r>
            <a:r>
              <a:rPr lang="en-US" altLang="zh-CN" dirty="0"/>
              <a:t>chemistry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r>
              <a:rPr lang="en-US" altLang="zh-CN" dirty="0" smtClean="0"/>
              <a:t>Donors </a:t>
            </a:r>
            <a:r>
              <a:rPr lang="en-US" altLang="zh-CN" dirty="0"/>
              <a:t>and acceptors are examples where Factor (</a:t>
            </a:r>
            <a:r>
              <a:rPr lang="en-US" altLang="zh-CN" dirty="0" smtClean="0"/>
              <a:t>2) dominates </a:t>
            </a:r>
            <a:r>
              <a:rPr lang="en-US" altLang="zh-CN" dirty="0"/>
              <a:t>and the chemical nature of the impurities is </a:t>
            </a:r>
            <a:r>
              <a:rPr lang="en-US" altLang="zh-CN" dirty="0" smtClean="0"/>
              <a:t>less important</a:t>
            </a:r>
            <a:r>
              <a:rPr lang="en-US" altLang="zh-CN" dirty="0"/>
              <a:t>.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39712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Defects are present in practically all solids.</a:t>
            </a:r>
          </a:p>
          <a:p>
            <a:r>
              <a:rPr lang="en-US" altLang="zh-CN" dirty="0" smtClean="0"/>
              <a:t>Defects </a:t>
            </a:r>
            <a:r>
              <a:rPr lang="en-US" altLang="zh-CN" dirty="0"/>
              <a:t>can take all forms and shapes varying from </a:t>
            </a:r>
            <a:r>
              <a:rPr lang="en-US" altLang="zh-CN" dirty="0" smtClean="0"/>
              <a:t>isolated atomic </a:t>
            </a:r>
            <a:r>
              <a:rPr lang="en-US" altLang="zh-CN" dirty="0"/>
              <a:t>sites to macroscopic objects which extend </a:t>
            </a:r>
            <a:r>
              <a:rPr lang="en-US" altLang="zh-CN" dirty="0" smtClean="0"/>
              <a:t>throughout the </a:t>
            </a:r>
            <a:r>
              <a:rPr lang="en-US" altLang="zh-CN" dirty="0"/>
              <a:t>whole solid.</a:t>
            </a:r>
          </a:p>
          <a:p>
            <a:r>
              <a:rPr lang="en-US" altLang="zh-CN" dirty="0" smtClean="0"/>
              <a:t>The </a:t>
            </a:r>
            <a:r>
              <a:rPr lang="en-US" altLang="zh-CN" dirty="0"/>
              <a:t>most powerful way to study defects is to </a:t>
            </a:r>
            <a:r>
              <a:rPr lang="en-US" altLang="zh-CN" dirty="0" smtClean="0"/>
              <a:t>understand their </a:t>
            </a:r>
            <a:r>
              <a:rPr lang="en-US" altLang="zh-CN" dirty="0"/>
              <a:t>structure and symmetry.</a:t>
            </a:r>
          </a:p>
          <a:p>
            <a:r>
              <a:rPr lang="en-US" altLang="zh-CN" dirty="0" smtClean="0"/>
              <a:t>Many </a:t>
            </a:r>
            <a:r>
              <a:rPr lang="en-US" altLang="zh-CN" dirty="0"/>
              <a:t>defects are strongly affected by their local </a:t>
            </a:r>
            <a:r>
              <a:rPr lang="en-US" altLang="zh-CN" dirty="0" smtClean="0"/>
              <a:t>symmetry. </a:t>
            </a:r>
          </a:p>
          <a:p>
            <a:r>
              <a:rPr lang="en-US" altLang="zh-CN" dirty="0" smtClean="0"/>
              <a:t>Lattice </a:t>
            </a:r>
            <a:r>
              <a:rPr lang="en-US" altLang="zh-CN" dirty="0"/>
              <a:t>distortion allows defects to lower their electronic </a:t>
            </a:r>
            <a:r>
              <a:rPr lang="en-US" altLang="zh-CN" dirty="0" smtClean="0"/>
              <a:t>energy at </a:t>
            </a:r>
            <a:r>
              <a:rPr lang="en-US" altLang="zh-CN" dirty="0"/>
              <a:t>the expense of small lattice energy.</a:t>
            </a:r>
          </a:p>
          <a:p>
            <a:r>
              <a:rPr lang="en-US" altLang="zh-CN" dirty="0" smtClean="0"/>
              <a:t>Understanding </a:t>
            </a:r>
            <a:r>
              <a:rPr lang="en-US" altLang="zh-CN" dirty="0"/>
              <a:t>the properties of defects is crucial in </a:t>
            </a:r>
            <a:r>
              <a:rPr lang="en-US" altLang="zh-CN" dirty="0" smtClean="0"/>
              <a:t>making useful </a:t>
            </a:r>
            <a:r>
              <a:rPr lang="en-US" altLang="zh-CN" dirty="0"/>
              <a:t>devices.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136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ELECTRONIC PROPERTIES </a:t>
            </a:r>
            <a:r>
              <a:rPr lang="en-US" altLang="zh-CN" b="1" dirty="0" smtClean="0"/>
              <a:t>OF SHALLOW </a:t>
            </a:r>
            <a:r>
              <a:rPr lang="en-US" altLang="zh-CN" b="1" dirty="0"/>
              <a:t>DEFECTS </a:t>
            </a:r>
            <a:r>
              <a:rPr lang="en-US" altLang="zh-CN" b="1" dirty="0" smtClean="0"/>
              <a:t>IN SEMICONUCTORS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Donors</a:t>
            </a:r>
          </a:p>
          <a:p>
            <a:r>
              <a:rPr lang="en-US" altLang="zh-CN" b="1" dirty="0" smtClean="0"/>
              <a:t>Acceptors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164494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Physics we try to </a:t>
            </a:r>
            <a:r>
              <a:rPr lang="en-US" altLang="zh-CN" dirty="0" smtClean="0"/>
              <a:t>simplify </a:t>
            </a:r>
            <a:r>
              <a:rPr lang="en-US" altLang="zh-CN" dirty="0"/>
              <a:t>a problem by </a:t>
            </a:r>
            <a:r>
              <a:rPr lang="en-US" altLang="zh-CN" dirty="0" smtClean="0"/>
              <a:t>making assumptions and simplifications. </a:t>
            </a:r>
          </a:p>
          <a:p>
            <a:r>
              <a:rPr lang="en-US" altLang="zh-CN" dirty="0" smtClean="0"/>
              <a:t>The </a:t>
            </a:r>
            <a:r>
              <a:rPr lang="en-US" altLang="zh-CN" dirty="0"/>
              <a:t>ideal assumptions will make the </a:t>
            </a:r>
            <a:r>
              <a:rPr lang="en-US" altLang="zh-CN" dirty="0" smtClean="0"/>
              <a:t>problem solvable </a:t>
            </a:r>
            <a:r>
              <a:rPr lang="en-US" altLang="zh-CN" i="1" dirty="0"/>
              <a:t>analyticall</a:t>
            </a:r>
            <a:r>
              <a:rPr lang="en-US" altLang="zh-CN" dirty="0"/>
              <a:t>y and can be applied to a large </a:t>
            </a:r>
            <a:r>
              <a:rPr lang="en-US" altLang="zh-CN" dirty="0" smtClean="0"/>
              <a:t>number of </a:t>
            </a:r>
            <a:r>
              <a:rPr lang="en-US" altLang="zh-CN" dirty="0"/>
              <a:t>cases irrespective of the chemical nature of the </a:t>
            </a:r>
            <a:r>
              <a:rPr lang="en-US" altLang="zh-CN" dirty="0" smtClean="0"/>
              <a:t>defect. </a:t>
            </a:r>
          </a:p>
          <a:p>
            <a:r>
              <a:rPr lang="en-US" altLang="zh-CN" dirty="0" smtClean="0"/>
              <a:t>One </a:t>
            </a:r>
            <a:r>
              <a:rPr lang="en-US" altLang="zh-CN" dirty="0"/>
              <a:t>such example is the </a:t>
            </a:r>
            <a:r>
              <a:rPr lang="en-US" altLang="zh-CN" b="1" dirty="0" err="1"/>
              <a:t>hydrogenic</a:t>
            </a:r>
            <a:r>
              <a:rPr lang="en-US" altLang="zh-CN" b="1" dirty="0"/>
              <a:t> model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So let us assume that we don’t need a very high accuracy and pretend that all different donors and acceptors share something in common. What is that common thing?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886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Assume an impurity like P substituting for a Si host atom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(a donor </a:t>
            </a:r>
            <a:r>
              <a:rPr lang="en-US" altLang="zh-CN" dirty="0"/>
              <a:t>by our scheme of classification).</a:t>
            </a:r>
          </a:p>
          <a:p>
            <a:r>
              <a:rPr lang="en-US" altLang="zh-CN" dirty="0" smtClean="0"/>
              <a:t>Compared </a:t>
            </a:r>
            <a:r>
              <a:rPr lang="en-US" altLang="zh-CN" dirty="0"/>
              <a:t>to Si there is an extra valence electron e in P</a:t>
            </a:r>
          </a:p>
          <a:p>
            <a:r>
              <a:rPr lang="en-US" altLang="zh-CN" dirty="0" smtClean="0"/>
              <a:t>In </a:t>
            </a:r>
            <a:r>
              <a:rPr lang="en-US" altLang="zh-CN" dirty="0"/>
              <a:t>a P </a:t>
            </a:r>
            <a:r>
              <a:rPr lang="en-US" altLang="zh-CN" dirty="0" smtClean="0"/>
              <a:t>atom, </a:t>
            </a:r>
            <a:r>
              <a:rPr lang="en-US" altLang="zh-CN" dirty="0"/>
              <a:t>this extra e is quite strongly </a:t>
            </a:r>
            <a:r>
              <a:rPr lang="en-US" altLang="zh-CN" dirty="0" smtClean="0"/>
              <a:t>bounded </a:t>
            </a:r>
            <a:r>
              <a:rPr lang="en-US" altLang="zh-CN" dirty="0"/>
              <a:t>to the </a:t>
            </a:r>
            <a:r>
              <a:rPr lang="en-US" altLang="zh-CN" dirty="0" smtClean="0"/>
              <a:t>P nucleus </a:t>
            </a:r>
            <a:r>
              <a:rPr lang="en-US" altLang="zh-CN" dirty="0"/>
              <a:t>via a Coulomb attraction. </a:t>
            </a:r>
            <a:endParaRPr lang="en-US" altLang="zh-CN" dirty="0" smtClean="0"/>
          </a:p>
          <a:p>
            <a:r>
              <a:rPr lang="en-US" altLang="zh-CN" dirty="0" smtClean="0"/>
              <a:t>The </a:t>
            </a:r>
            <a:r>
              <a:rPr lang="en-US" altLang="zh-CN" dirty="0"/>
              <a:t>nucleus of P </a:t>
            </a:r>
            <a:r>
              <a:rPr lang="en-US" altLang="zh-CN" dirty="0" smtClean="0"/>
              <a:t>is screened </a:t>
            </a:r>
            <a:r>
              <a:rPr lang="en-US" altLang="zh-CN" dirty="0"/>
              <a:t>by </a:t>
            </a:r>
            <a:r>
              <a:rPr lang="en-US" altLang="zh-CN" dirty="0" smtClean="0"/>
              <a:t>inner electrons and valence electrons.</a:t>
            </a:r>
          </a:p>
          <a:p>
            <a:r>
              <a:rPr lang="en-US" altLang="zh-CN" dirty="0" smtClean="0"/>
              <a:t>However with </a:t>
            </a:r>
            <a:r>
              <a:rPr lang="en-US" altLang="zh-CN" dirty="0"/>
              <a:t>even all these </a:t>
            </a:r>
            <a:r>
              <a:rPr lang="en-US" altLang="zh-CN" dirty="0" smtClean="0"/>
              <a:t>screening, </a:t>
            </a:r>
            <a:r>
              <a:rPr lang="en-US" altLang="zh-CN" dirty="0"/>
              <a:t>the Coulomb attraction is </a:t>
            </a:r>
            <a:r>
              <a:rPr lang="en-US" altLang="zh-CN" dirty="0" smtClean="0"/>
              <a:t>of the </a:t>
            </a:r>
            <a:r>
              <a:rPr lang="en-US" altLang="zh-CN" dirty="0"/>
              <a:t>order eV or more.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983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Si this e is very weakly bound to P+ by the </a:t>
            </a:r>
            <a:r>
              <a:rPr lang="en-US" altLang="zh-CN" dirty="0" smtClean="0"/>
              <a:t>Coulomb Potential because </a:t>
            </a:r>
            <a:r>
              <a:rPr lang="en-US" altLang="zh-CN" dirty="0"/>
              <a:t>there is a huge number of valence electrons in a </a:t>
            </a:r>
            <a:r>
              <a:rPr lang="en-US" altLang="zh-CN" dirty="0" smtClean="0"/>
              <a:t>piece of </a:t>
            </a:r>
            <a:r>
              <a:rPr lang="en-US" altLang="zh-CN" dirty="0"/>
              <a:t>Si and they will screen strongly the Coulomb potential.</a:t>
            </a:r>
          </a:p>
          <a:p>
            <a:r>
              <a:rPr lang="en-US" altLang="zh-CN" dirty="0" smtClean="0"/>
              <a:t>An </a:t>
            </a:r>
            <a:r>
              <a:rPr lang="en-US" altLang="zh-CN" dirty="0"/>
              <a:t>approximation of this screened Coulomb Potential is </a:t>
            </a:r>
            <a:r>
              <a:rPr lang="en-US" altLang="zh-CN" dirty="0" smtClean="0"/>
              <a:t>given by </a:t>
            </a:r>
            <a:r>
              <a:rPr lang="en-US" altLang="zh-CN" dirty="0"/>
              <a:t>: </a:t>
            </a:r>
            <a:r>
              <a:rPr lang="en-US" altLang="zh-CN" dirty="0" smtClean="0"/>
              <a:t>e/</a:t>
            </a:r>
            <a:r>
              <a:rPr lang="el-GR" altLang="zh-CN" dirty="0" smtClean="0"/>
              <a:t>ε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r </a:t>
            </a:r>
            <a:r>
              <a:rPr lang="en-US" altLang="zh-CN" dirty="0"/>
              <a:t>.</a:t>
            </a:r>
          </a:p>
          <a:p>
            <a:r>
              <a:rPr lang="el-GR" altLang="zh-CN" dirty="0" smtClean="0"/>
              <a:t>ε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 </a:t>
            </a:r>
            <a:r>
              <a:rPr lang="en-US" altLang="zh-CN" dirty="0"/>
              <a:t>is the dielectric constant of Si and it takes care of </a:t>
            </a:r>
            <a:r>
              <a:rPr lang="en-US" altLang="zh-CN" dirty="0" smtClean="0"/>
              <a:t>the screening </a:t>
            </a:r>
            <a:r>
              <a:rPr lang="en-US" altLang="zh-CN" dirty="0"/>
              <a:t>of the impurity potential by the valence electrons.</a:t>
            </a:r>
          </a:p>
          <a:p>
            <a:r>
              <a:rPr lang="en-US" altLang="zh-CN" dirty="0"/>
              <a:t>Notice that Si is covalent so there is no screening by the ions</a:t>
            </a:r>
            <a:r>
              <a:rPr lang="en-US" altLang="zh-CN" dirty="0" smtClean="0"/>
              <a:t>. For ionic crystals, we have extra terms.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37964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obtain the Schrödinger Equation for the e we have to </a:t>
            </a:r>
            <a:r>
              <a:rPr lang="en-US" altLang="zh-CN" dirty="0" smtClean="0"/>
              <a:t>make another </a:t>
            </a:r>
            <a:r>
              <a:rPr lang="en-US" altLang="zh-CN" dirty="0"/>
              <a:t>approximation. </a:t>
            </a:r>
            <a:endParaRPr lang="en-US" altLang="zh-CN" dirty="0" smtClean="0"/>
          </a:p>
          <a:p>
            <a:r>
              <a:rPr lang="en-US" altLang="zh-CN" dirty="0" smtClean="0"/>
              <a:t>Unlike </a:t>
            </a:r>
            <a:r>
              <a:rPr lang="en-US" altLang="zh-CN" dirty="0"/>
              <a:t>the e in the hydrogen atom </a:t>
            </a:r>
            <a:r>
              <a:rPr lang="en-US" altLang="zh-CN" dirty="0" smtClean="0"/>
              <a:t>this e </a:t>
            </a:r>
            <a:r>
              <a:rPr lang="en-US" altLang="zh-CN" dirty="0"/>
              <a:t>moves into a crystal. </a:t>
            </a:r>
            <a:endParaRPr lang="en-US" altLang="zh-CN" dirty="0" smtClean="0"/>
          </a:p>
          <a:p>
            <a:r>
              <a:rPr lang="en-US" altLang="zh-CN" dirty="0" smtClean="0"/>
              <a:t>Its </a:t>
            </a:r>
            <a:r>
              <a:rPr lang="en-US" altLang="zh-CN" dirty="0"/>
              <a:t>mass is changed by its </a:t>
            </a:r>
            <a:r>
              <a:rPr lang="en-US" altLang="zh-CN" dirty="0" smtClean="0"/>
              <a:t>interaction with </a:t>
            </a:r>
            <a:r>
              <a:rPr lang="en-US" altLang="zh-CN" dirty="0"/>
              <a:t>other electrons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r>
              <a:rPr lang="en-US" altLang="zh-CN" dirty="0" smtClean="0"/>
              <a:t> </a:t>
            </a:r>
            <a:r>
              <a:rPr lang="en-US" altLang="zh-CN" dirty="0"/>
              <a:t>The effect of the “drag” by the other electrons and ions can </a:t>
            </a:r>
            <a:r>
              <a:rPr lang="en-US" altLang="zh-CN" dirty="0" smtClean="0"/>
              <a:t>be approximated </a:t>
            </a:r>
            <a:r>
              <a:rPr lang="en-US" altLang="zh-CN" dirty="0"/>
              <a:t>by an </a:t>
            </a:r>
            <a:r>
              <a:rPr lang="en-US" altLang="zh-CN" b="1" dirty="0"/>
              <a:t>Effective Mass m</a:t>
            </a:r>
            <a:r>
              <a:rPr lang="en-US" altLang="zh-CN" b="1" baseline="30000" dirty="0"/>
              <a:t>*</a:t>
            </a:r>
            <a:r>
              <a:rPr lang="en-US" altLang="zh-CN" b="1" dirty="0"/>
              <a:t>.</a:t>
            </a:r>
          </a:p>
          <a:p>
            <a:r>
              <a:rPr lang="en-US" altLang="zh-CN" dirty="0" smtClean="0"/>
              <a:t>In </a:t>
            </a:r>
            <a:r>
              <a:rPr lang="en-US" altLang="zh-CN" dirty="0"/>
              <a:t>this </a:t>
            </a:r>
            <a:r>
              <a:rPr lang="en-US" altLang="zh-CN" b="1" dirty="0"/>
              <a:t>Effective Mass Approximation </a:t>
            </a:r>
            <a:r>
              <a:rPr lang="en-US" altLang="zh-CN" dirty="0"/>
              <a:t>the Schrödinger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104" y="5022060"/>
            <a:ext cx="3957646" cy="1289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89100" y="6176963"/>
            <a:ext cx="8934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65"/>
                </a:solidFill>
                <a:latin typeface="Arial" panose="020B0604020202020204" pitchFamily="34" charset="0"/>
              </a:rPr>
              <a:t>This approach to calculate the electronic properties of </a:t>
            </a:r>
            <a:r>
              <a:rPr lang="en-US" altLang="zh-CN" dirty="0" smtClean="0">
                <a:solidFill>
                  <a:srgbClr val="003365"/>
                </a:solidFill>
                <a:latin typeface="Arial" panose="020B0604020202020204" pitchFamily="34" charset="0"/>
              </a:rPr>
              <a:t>an impurity </a:t>
            </a:r>
            <a:r>
              <a:rPr lang="en-US" altLang="zh-CN" dirty="0">
                <a:solidFill>
                  <a:srgbClr val="003365"/>
                </a:solidFill>
                <a:latin typeface="Arial" panose="020B0604020202020204" pitchFamily="34" charset="0"/>
              </a:rPr>
              <a:t>is therefore known as the </a:t>
            </a:r>
            <a:r>
              <a:rPr lang="en-US" altLang="zh-CN" b="1" dirty="0" err="1" smtClean="0">
                <a:solidFill>
                  <a:srgbClr val="003365"/>
                </a:solidFill>
                <a:latin typeface="Arial" panose="020B0604020202020204" pitchFamily="34" charset="0"/>
              </a:rPr>
              <a:t>hydrogenic</a:t>
            </a:r>
            <a:r>
              <a:rPr lang="en-US" altLang="zh-CN" b="1" dirty="0" smtClean="0">
                <a:solidFill>
                  <a:srgbClr val="003365"/>
                </a:solidFill>
                <a:latin typeface="Arial" panose="020B0604020202020204" pitchFamily="34" charset="0"/>
              </a:rPr>
              <a:t> approximation</a:t>
            </a:r>
            <a:r>
              <a:rPr lang="en-US" altLang="zh-CN" dirty="0">
                <a:solidFill>
                  <a:srgbClr val="003365"/>
                </a:solidFill>
                <a:latin typeface="Arial" panose="020B0604020202020204" pitchFamily="34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4298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EFFECTIVE MASS </a:t>
            </a:r>
            <a:r>
              <a:rPr lang="en-US" altLang="zh-CN" b="1" dirty="0" smtClean="0"/>
              <a:t>APPROXIMATION </a:t>
            </a:r>
            <a:r>
              <a:rPr lang="en-US" altLang="zh-CN" b="1" dirty="0"/>
              <a:t>&amp; THE HYDGROGENIC DONOR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altLang="zh-CN" dirty="0"/>
                  <a:t>Assuming the simple case of a donor like Se</a:t>
                </a:r>
                <a:r>
                  <a:rPr lang="en-US" altLang="zh-CN" baseline="-25000" dirty="0"/>
                  <a:t>As</a:t>
                </a:r>
                <a:r>
                  <a:rPr lang="en-US" altLang="zh-CN" dirty="0"/>
                  <a:t> or SiGa in GaAs one </a:t>
                </a:r>
                <a:r>
                  <a:rPr lang="en-US" altLang="zh-CN" dirty="0" smtClean="0"/>
                  <a:t>can solve </a:t>
                </a:r>
                <a:r>
                  <a:rPr lang="en-US" altLang="zh-CN" dirty="0"/>
                  <a:t>the Schrodinger Equation and obtain the Donor energy levels as</a:t>
                </a:r>
                <a:r>
                  <a:rPr lang="en-US" altLang="zh-CN" dirty="0" smtClean="0"/>
                  <a:t>:</a:t>
                </a:r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en-US" altLang="zh-CN" dirty="0" smtClean="0"/>
                  <a:t>E</a:t>
                </a:r>
                <a14:m>
                  <m:oMath xmlns:m="http://schemas.openxmlformats.org/officeDocument/2006/math">
                    <m:r>
                      <a:rPr lang="en-US" altLang="zh-CN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en-US" altLang="zh-CN" dirty="0"/>
                  <a:t>is the energy when the electron becomes free (or ionized in case of </a:t>
                </a:r>
                <a:r>
                  <a:rPr lang="en-US" altLang="zh-CN" dirty="0" smtClean="0"/>
                  <a:t>H), so </a:t>
                </a:r>
                <a:r>
                  <a:rPr lang="en-US" altLang="zh-CN" dirty="0"/>
                  <a:t>this is the conduction band edge energy in </a:t>
                </a:r>
                <a:r>
                  <a:rPr lang="en-US" altLang="zh-CN" dirty="0" smtClean="0"/>
                  <a:t>semiconductors.</a:t>
                </a:r>
                <a:endParaRPr lang="en-US" altLang="zh-CN" dirty="0"/>
              </a:p>
              <a:p>
                <a:r>
                  <a:rPr lang="en-US" altLang="zh-CN" dirty="0" smtClean="0"/>
                  <a:t>R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=energy to ionize electron in ground state=binding energy of electron </a:t>
                </a:r>
                <a:r>
                  <a:rPr lang="en-US" altLang="zh-CN" dirty="0" smtClean="0"/>
                  <a:t>in 1s </a:t>
                </a:r>
                <a:r>
                  <a:rPr lang="en-US" altLang="zh-CN" dirty="0"/>
                  <a:t>level to donor ion</a:t>
                </a:r>
                <a:r>
                  <a:rPr lang="en-US" altLang="zh-CN" dirty="0" smtClean="0"/>
                  <a:t>.</a:t>
                </a:r>
              </a:p>
              <a:p>
                <a:r>
                  <a:rPr lang="en-US" altLang="zh-CN" dirty="0"/>
                  <a:t>I</a:t>
                </a:r>
                <a:r>
                  <a:rPr lang="en-US" altLang="zh-CN" dirty="0" smtClean="0"/>
                  <a:t>n </a:t>
                </a:r>
                <a:r>
                  <a:rPr lang="en-US" altLang="zh-CN" dirty="0"/>
                  <a:t>semiconductors because m*~0.1m and </a:t>
                </a:r>
                <a:r>
                  <a:rPr lang="en-US" altLang="zh-CN" dirty="0" smtClean="0"/>
                  <a:t></a:t>
                </a:r>
                <a:r>
                  <a:rPr lang="el-GR" altLang="zh-CN" dirty="0" smtClean="0"/>
                  <a:t> ε</a:t>
                </a:r>
                <a:r>
                  <a:rPr lang="en-US" altLang="zh-CN" baseline="-25000" dirty="0" smtClean="0"/>
                  <a:t>0 </a:t>
                </a:r>
                <a:r>
                  <a:rPr lang="en-US" altLang="zh-CN" dirty="0" smtClean="0"/>
                  <a:t>is about 10</a:t>
                </a:r>
                <a:r>
                  <a:rPr lang="en-US" altLang="zh-CN" dirty="0"/>
                  <a:t>, </a:t>
                </a:r>
                <a:endParaRPr lang="en-US" altLang="zh-CN" dirty="0" smtClean="0"/>
              </a:p>
              <a:p>
                <a:r>
                  <a:rPr lang="en-US" altLang="zh-CN" dirty="0" smtClean="0"/>
                  <a:t>R*~ 10-100 </a:t>
                </a:r>
                <a:r>
                  <a:rPr lang="en-US" altLang="zh-CN" dirty="0" err="1" smtClean="0"/>
                  <a:t>meV</a:t>
                </a:r>
                <a:r>
                  <a:rPr lang="en-US" altLang="zh-CN" dirty="0" smtClean="0"/>
                  <a:t>, </a:t>
                </a:r>
                <a:r>
                  <a:rPr lang="en-US" altLang="zh-CN" dirty="0"/>
                  <a:t>so </a:t>
                </a:r>
                <a:r>
                  <a:rPr lang="en-US" altLang="zh-CN" dirty="0" err="1"/>
                  <a:t>hydrogenic</a:t>
                </a:r>
                <a:r>
                  <a:rPr lang="en-US" altLang="zh-CN" dirty="0"/>
                  <a:t> defects are also known as shallow defects</a:t>
                </a:r>
                <a:r>
                  <a:rPr lang="en-US" altLang="zh-CN" dirty="0" smtClean="0"/>
                  <a:t>. </a:t>
                </a:r>
              </a:p>
              <a:p>
                <a:r>
                  <a:rPr lang="en-US" altLang="zh-CN" dirty="0" smtClean="0"/>
                  <a:t>“</a:t>
                </a:r>
                <a:r>
                  <a:rPr lang="en-US" altLang="zh-CN" dirty="0"/>
                  <a:t>Bohr radius” a*=(0.5Å)(m/m*)Å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 r="-1159" b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510" y="2454269"/>
            <a:ext cx="2252679" cy="146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973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59" y="958850"/>
            <a:ext cx="10750898" cy="492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4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p-n Junction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p-n junctions are of great importance both in modern electronic applications and </a:t>
            </a:r>
            <a:r>
              <a:rPr lang="en-US" altLang="zh-CN" dirty="0" smtClean="0"/>
              <a:t>in understanding </a:t>
            </a:r>
            <a:r>
              <a:rPr lang="en-US" altLang="zh-CN" dirty="0"/>
              <a:t>other semiconductor devices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The </a:t>
            </a:r>
            <a:r>
              <a:rPr lang="en-US" altLang="zh-CN" dirty="0"/>
              <a:t>p-n junction theory serves as </a:t>
            </a:r>
            <a:r>
              <a:rPr lang="en-US" altLang="zh-CN" dirty="0" smtClean="0"/>
              <a:t>the foundation </a:t>
            </a:r>
            <a:r>
              <a:rPr lang="en-US" altLang="zh-CN" dirty="0"/>
              <a:t>of the physics of semiconductor devices. </a:t>
            </a:r>
            <a:endParaRPr lang="en-US" altLang="zh-CN" dirty="0" smtClean="0"/>
          </a:p>
          <a:p>
            <a:r>
              <a:rPr lang="en-US" altLang="zh-CN" dirty="0" smtClean="0"/>
              <a:t>The </a:t>
            </a:r>
            <a:r>
              <a:rPr lang="en-US" altLang="zh-CN" dirty="0"/>
              <a:t>basic theory of </a:t>
            </a:r>
            <a:r>
              <a:rPr lang="en-US" altLang="zh-CN" dirty="0" smtClean="0"/>
              <a:t>current voltage characteristics </a:t>
            </a:r>
            <a:r>
              <a:rPr lang="en-US" altLang="zh-CN" dirty="0"/>
              <a:t>of p-n junctions was established by Shockley</a:t>
            </a:r>
            <a:r>
              <a:rPr lang="en-US" altLang="zh-CN" dirty="0" smtClean="0"/>
              <a:t>. </a:t>
            </a:r>
          </a:p>
          <a:p>
            <a:r>
              <a:rPr lang="en-US" altLang="zh-CN" dirty="0" smtClean="0"/>
              <a:t>This theory was </a:t>
            </a:r>
            <a:r>
              <a:rPr lang="en-US" altLang="zh-CN" dirty="0"/>
              <a:t>then extended by </a:t>
            </a:r>
            <a:r>
              <a:rPr lang="en-US" altLang="zh-CN" dirty="0" err="1"/>
              <a:t>Sah</a:t>
            </a:r>
            <a:r>
              <a:rPr lang="en-US" altLang="zh-CN" dirty="0"/>
              <a:t>, Noyce, and </a:t>
            </a:r>
            <a:r>
              <a:rPr lang="en-US" altLang="zh-CN" dirty="0" smtClean="0"/>
              <a:t>Shockley, </a:t>
            </a:r>
            <a:r>
              <a:rPr lang="en-US" altLang="zh-CN" dirty="0"/>
              <a:t>and by Moll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901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Abrupt Junction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When the impurity </a:t>
            </a:r>
            <a:r>
              <a:rPr lang="en-US" altLang="zh-CN" dirty="0" smtClean="0"/>
              <a:t>concentration in </a:t>
            </a:r>
            <a:r>
              <a:rPr lang="en-US" altLang="zh-CN" dirty="0"/>
              <a:t>a semiconductor changes abruptly from acceptor impurities </a:t>
            </a:r>
            <a:r>
              <a:rPr lang="en-US" altLang="zh-CN" b="1" i="1" dirty="0" smtClean="0"/>
              <a:t>N</a:t>
            </a:r>
            <a:r>
              <a:rPr lang="en-US" altLang="zh-CN" b="1" i="1" baseline="-25000" dirty="0" smtClean="0"/>
              <a:t>A</a:t>
            </a:r>
            <a:r>
              <a:rPr lang="en-US" altLang="zh-CN" b="1" i="1" dirty="0" smtClean="0"/>
              <a:t> </a:t>
            </a:r>
            <a:r>
              <a:rPr lang="en-US" altLang="zh-CN" dirty="0"/>
              <a:t>to donor </a:t>
            </a:r>
            <a:r>
              <a:rPr lang="en-US" altLang="zh-CN" dirty="0" smtClean="0"/>
              <a:t>impurities </a:t>
            </a:r>
            <a:r>
              <a:rPr lang="en-US" altLang="zh-CN" b="1" i="1" dirty="0" smtClean="0"/>
              <a:t>N</a:t>
            </a:r>
            <a:r>
              <a:rPr lang="en-US" altLang="zh-CN" b="1" i="1" baseline="-25000" dirty="0" smtClean="0"/>
              <a:t>D</a:t>
            </a:r>
            <a:r>
              <a:rPr lang="en-US" altLang="zh-CN" b="1" i="1" dirty="0" smtClean="0"/>
              <a:t>, </a:t>
            </a:r>
            <a:r>
              <a:rPr lang="en-US" altLang="zh-CN" dirty="0"/>
              <a:t>as shown in Fig. la, one obtains an abrupt junction. 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6591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3" y="1399892"/>
            <a:ext cx="679227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24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 first consider the thermal equilibrium condition, that is, one without applied voltage and current flow. 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937" y="2850316"/>
            <a:ext cx="6168150" cy="11247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892" y="4236938"/>
            <a:ext cx="2972215" cy="1419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924" y="5384212"/>
            <a:ext cx="3100125" cy="81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964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Thus the condition of zero net electron and hole currents requires that the Fermi </a:t>
            </a:r>
            <a:r>
              <a:rPr lang="en-US" altLang="zh-CN" dirty="0" smtClean="0"/>
              <a:t>level must </a:t>
            </a:r>
            <a:r>
              <a:rPr lang="en-US" altLang="zh-CN" dirty="0"/>
              <a:t>be constant throughout the sample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 built-in </a:t>
            </a:r>
            <a:r>
              <a:rPr lang="en-US" altLang="zh-CN" dirty="0" smtClean="0"/>
              <a:t>potential or </a:t>
            </a:r>
            <a:r>
              <a:rPr lang="en-US" altLang="zh-CN" dirty="0"/>
              <a:t>diffusion </a:t>
            </a:r>
            <a:r>
              <a:rPr lang="en-US" altLang="zh-CN" dirty="0" smtClean="0"/>
              <a:t>potential, as </a:t>
            </a:r>
            <a:r>
              <a:rPr lang="en-US" altLang="zh-CN" dirty="0"/>
              <a:t>shown in Fig. 1 b, c, and d, is equal </a:t>
            </a:r>
            <a:r>
              <a:rPr lang="en-US" altLang="zh-CN" dirty="0" smtClean="0"/>
              <a:t>to </a:t>
            </a:r>
            <a:endParaRPr lang="en-US" altLang="zh-C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560" y="3881397"/>
            <a:ext cx="7916380" cy="581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37" y="4350425"/>
            <a:ext cx="4343625" cy="2456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32" y="4734884"/>
            <a:ext cx="5950612" cy="185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503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For non-degenerated semiconductors, 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81" y="2523042"/>
            <a:ext cx="3845716" cy="13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109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CURRENT-VOLTAGE CHARACTERISTICS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Shockley equation. </a:t>
            </a:r>
          </a:p>
          <a:p>
            <a:r>
              <a:rPr lang="en-US" altLang="zh-CN" dirty="0"/>
              <a:t>The ideal current-voltage characteristics are based on the following four assumptions:</a:t>
            </a:r>
          </a:p>
          <a:p>
            <a:r>
              <a:rPr lang="en-US" altLang="zh-CN" dirty="0"/>
              <a:t>( 1 ) the abrupt depletion-layer approximation; that is, the built-in potential and </a:t>
            </a:r>
            <a:r>
              <a:rPr lang="en-US" altLang="zh-CN" dirty="0" smtClean="0"/>
              <a:t>applied voltages </a:t>
            </a:r>
            <a:r>
              <a:rPr lang="en-US" altLang="zh-CN" dirty="0"/>
              <a:t>are supported by a dipole layer with abrupt boundaries, and outside </a:t>
            </a:r>
            <a:r>
              <a:rPr lang="en-US" altLang="zh-CN" dirty="0" smtClean="0"/>
              <a:t>the boundaries </a:t>
            </a:r>
            <a:r>
              <a:rPr lang="en-US" altLang="zh-CN" dirty="0"/>
              <a:t>the semiconductor is assumed to be neutral; </a:t>
            </a:r>
            <a:endParaRPr lang="en-US" altLang="zh-CN" dirty="0" smtClean="0"/>
          </a:p>
          <a:p>
            <a:r>
              <a:rPr lang="en-US" altLang="zh-CN" dirty="0" smtClean="0"/>
              <a:t>(</a:t>
            </a:r>
            <a:r>
              <a:rPr lang="en-US" altLang="zh-CN" dirty="0"/>
              <a:t>2) the Boltzmann </a:t>
            </a:r>
            <a:r>
              <a:rPr lang="en-US" altLang="zh-CN" dirty="0" smtClean="0"/>
              <a:t>approximation; </a:t>
            </a:r>
          </a:p>
          <a:p>
            <a:r>
              <a:rPr lang="en-US" altLang="zh-CN" dirty="0" smtClean="0"/>
              <a:t>(</a:t>
            </a:r>
            <a:r>
              <a:rPr lang="en-US" altLang="zh-CN" dirty="0"/>
              <a:t>3) the low-injection </a:t>
            </a:r>
            <a:r>
              <a:rPr lang="en-US" altLang="zh-CN" dirty="0" smtClean="0"/>
              <a:t>assumption; that </a:t>
            </a:r>
            <a:r>
              <a:rPr lang="en-US" altLang="zh-CN" dirty="0"/>
              <a:t>is, the injected minority carrier densities are small compared with </a:t>
            </a:r>
            <a:r>
              <a:rPr lang="en-US" altLang="zh-CN" dirty="0" smtClean="0"/>
              <a:t>the majority-carrier </a:t>
            </a:r>
            <a:r>
              <a:rPr lang="en-US" altLang="zh-CN" dirty="0"/>
              <a:t>densities; </a:t>
            </a:r>
          </a:p>
          <a:p>
            <a:r>
              <a:rPr lang="en-US" altLang="zh-CN" dirty="0" smtClean="0"/>
              <a:t>(4</a:t>
            </a:r>
            <a:r>
              <a:rPr lang="en-US" altLang="zh-CN" dirty="0"/>
              <a:t>) no generation-recombination current exists </a:t>
            </a:r>
            <a:r>
              <a:rPr lang="en-US" altLang="zh-CN" dirty="0" smtClean="0"/>
              <a:t>inside the </a:t>
            </a:r>
            <a:r>
              <a:rPr lang="en-US" altLang="zh-CN" dirty="0"/>
              <a:t>depletion layer, and the electron and hole currents are constant throughout </a:t>
            </a:r>
            <a:r>
              <a:rPr lang="en-US" altLang="zh-CN" dirty="0" smtClean="0"/>
              <a:t>the depletion </a:t>
            </a:r>
            <a:r>
              <a:rPr lang="en-US" altLang="zh-CN" dirty="0"/>
              <a:t>layer.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7197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CURRENT-VOLTAGE CHARACTERISTICS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We </a:t>
            </a:r>
            <a:r>
              <a:rPr lang="en-US" altLang="zh-CN" dirty="0" smtClean="0"/>
              <a:t>first </a:t>
            </a:r>
            <a:r>
              <a:rPr lang="en-US" altLang="zh-CN" dirty="0"/>
              <a:t>consider the Boltzmann relation. At thermal equilibrium this relation </a:t>
            </a:r>
            <a:r>
              <a:rPr lang="en-US" altLang="zh-CN" dirty="0" smtClean="0"/>
              <a:t>is given by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At </a:t>
            </a:r>
            <a:r>
              <a:rPr lang="en-US" altLang="zh-CN" dirty="0"/>
              <a:t>thermal equilibrium, the </a:t>
            </a:r>
            <a:r>
              <a:rPr lang="en-US" altLang="zh-CN" dirty="0" err="1"/>
              <a:t>pn</a:t>
            </a:r>
            <a:r>
              <a:rPr lang="en-US" altLang="zh-CN" dirty="0"/>
              <a:t> product from the above equations is </a:t>
            </a:r>
            <a:r>
              <a:rPr lang="en-US" altLang="zh-CN" dirty="0" smtClean="0"/>
              <a:t>equal to n</a:t>
            </a:r>
            <a:r>
              <a:rPr lang="en-US" altLang="zh-CN" baseline="-25000" dirty="0" smtClean="0"/>
              <a:t>i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. Here, </a:t>
            </a:r>
            <a:r>
              <a:rPr lang="en-US" altLang="zh-CN" dirty="0" err="1" smtClean="0"/>
              <a:t>n</a:t>
            </a:r>
            <a:r>
              <a:rPr lang="en-US" altLang="zh-CN" baseline="-25000" dirty="0" err="1" smtClean="0"/>
              <a:t>i</a:t>
            </a:r>
            <a:r>
              <a:rPr lang="en-US" altLang="zh-CN" dirty="0" smtClean="0"/>
              <a:t> is about 10</a:t>
            </a:r>
            <a:r>
              <a:rPr lang="en-US" altLang="zh-CN" baseline="30000" dirty="0" smtClean="0"/>
              <a:t>10</a:t>
            </a:r>
            <a:r>
              <a:rPr lang="en-US" altLang="zh-CN" dirty="0" smtClean="0"/>
              <a:t> /cm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 for Si at room temperature.</a:t>
            </a:r>
          </a:p>
          <a:p>
            <a:r>
              <a:rPr lang="en-US" altLang="zh-CN" dirty="0" smtClean="0"/>
              <a:t>When </a:t>
            </a:r>
            <a:r>
              <a:rPr lang="en-US" altLang="zh-CN" dirty="0"/>
              <a:t>voltage is applied, the minority-carrier densities on both sides of </a:t>
            </a:r>
            <a:r>
              <a:rPr lang="en-US" altLang="zh-CN" dirty="0" smtClean="0"/>
              <a:t>the junction </a:t>
            </a:r>
            <a:r>
              <a:rPr lang="en-US" altLang="zh-CN" dirty="0"/>
              <a:t>are changed, and the </a:t>
            </a:r>
            <a:r>
              <a:rPr lang="en-US" altLang="zh-CN" b="1" i="1" dirty="0" err="1"/>
              <a:t>pn</a:t>
            </a:r>
            <a:r>
              <a:rPr lang="en-US" altLang="zh-CN" b="1" i="1" dirty="0"/>
              <a:t> </a:t>
            </a:r>
            <a:r>
              <a:rPr lang="en-US" altLang="zh-CN" dirty="0"/>
              <a:t>product is no longer equal to 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i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468" y="2408112"/>
            <a:ext cx="7259063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137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Quasi fermi level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9033"/>
          <a:stretch/>
        </p:blipFill>
        <p:spPr>
          <a:xfrm>
            <a:off x="2152650" y="2488661"/>
            <a:ext cx="7260333" cy="245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3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301948"/>
            <a:ext cx="8873305" cy="506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28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Next, you need to learn a little bit of electrodynamics to follow the whole derivation on the current density as a function of  e-field. </a:t>
            </a:r>
          </a:p>
          <a:p>
            <a:r>
              <a:rPr lang="en-US" altLang="zh-CN" dirty="0" smtClean="0"/>
              <a:t>Here, I give you the general form of</a:t>
            </a:r>
            <a:r>
              <a:rPr lang="en-US" altLang="zh-CN" dirty="0"/>
              <a:t> </a:t>
            </a:r>
            <a:r>
              <a:rPr lang="en-US" altLang="zh-CN" dirty="0" smtClean="0"/>
              <a:t>the total current, Shockley equation! Ideal diode law. 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75" y="3879850"/>
            <a:ext cx="9968864" cy="888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50" y="5041361"/>
            <a:ext cx="6229350" cy="8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altLang="zh-CN" b="1" dirty="0"/>
              <a:t>Suggested final presentation </a:t>
            </a:r>
            <a:r>
              <a:rPr lang="en-HK" altLang="zh-CN" b="1" dirty="0" smtClean="0"/>
              <a:t>topics</a:t>
            </a:r>
            <a:endParaRPr lang="zh-CN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zh-CN" dirty="0"/>
              <a:t>1. review of Semiconductor alloys and their applications</a:t>
            </a:r>
            <a:endParaRPr lang="zh-CN" altLang="zh-CN" dirty="0"/>
          </a:p>
          <a:p>
            <a:r>
              <a:rPr lang="en-HK" altLang="zh-CN" dirty="0"/>
              <a:t>2. Doping and defects in semiconductor materials</a:t>
            </a:r>
            <a:endParaRPr lang="zh-CN" altLang="zh-CN" dirty="0"/>
          </a:p>
          <a:p>
            <a:r>
              <a:rPr lang="en-HK" altLang="zh-CN" dirty="0"/>
              <a:t>3. Physical origin of band gap and carrier mobility</a:t>
            </a:r>
            <a:endParaRPr lang="zh-CN" altLang="zh-CN" dirty="0"/>
          </a:p>
          <a:p>
            <a:r>
              <a:rPr lang="en-HK" altLang="zh-CN" dirty="0"/>
              <a:t>4. </a:t>
            </a:r>
            <a:r>
              <a:rPr lang="en-HK" altLang="zh-CN" dirty="0" err="1"/>
              <a:t>pn</a:t>
            </a:r>
            <a:r>
              <a:rPr lang="en-HK" altLang="zh-CN" dirty="0"/>
              <a:t> junction and light emitting diodes</a:t>
            </a:r>
            <a:endParaRPr lang="zh-CN" altLang="zh-CN" dirty="0"/>
          </a:p>
          <a:p>
            <a:r>
              <a:rPr lang="en-HK" altLang="zh-CN" dirty="0"/>
              <a:t>5. brief review of epitaxial growth</a:t>
            </a:r>
            <a:endParaRPr lang="zh-CN" altLang="zh-CN" dirty="0"/>
          </a:p>
          <a:p>
            <a:r>
              <a:rPr lang="en-HK" altLang="zh-CN" dirty="0"/>
              <a:t>6. Alloys and phase diagram of semiconductor alloys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3763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Suggested final essay topics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zh-CN" dirty="0"/>
              <a:t>1. How to control doping and defects in wide band gap semiconductors</a:t>
            </a:r>
            <a:endParaRPr lang="zh-CN" altLang="zh-CN" dirty="0"/>
          </a:p>
          <a:p>
            <a:r>
              <a:rPr lang="en-HK" altLang="zh-CN" dirty="0"/>
              <a:t>2. Review of OMVPE technique in nitride and phosphide. </a:t>
            </a:r>
            <a:endParaRPr lang="zh-CN" altLang="zh-CN" dirty="0"/>
          </a:p>
          <a:p>
            <a:r>
              <a:rPr lang="en-HK" altLang="zh-CN" dirty="0"/>
              <a:t>3. Modern technique to construct phase diagram of semiconductor alloys</a:t>
            </a:r>
            <a:endParaRPr lang="zh-CN" altLang="zh-CN" dirty="0"/>
          </a:p>
          <a:p>
            <a:r>
              <a:rPr lang="en-HK" altLang="zh-CN" dirty="0"/>
              <a:t>4. brief review of transport calculations based on carrier concentrations and mobility</a:t>
            </a:r>
            <a:endParaRPr lang="zh-CN" altLang="zh-CN" dirty="0"/>
          </a:p>
          <a:p>
            <a:r>
              <a:rPr lang="en-HK" altLang="zh-CN" dirty="0"/>
              <a:t>5. Wetting conditions in epitaxial growth of semiconductors</a:t>
            </a:r>
            <a:endParaRPr lang="zh-CN" altLang="zh-CN" dirty="0"/>
          </a:p>
          <a:p>
            <a:r>
              <a:rPr lang="en-HK" altLang="zh-CN" dirty="0"/>
              <a:t>6. Brief historical review of light emitting diodes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40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3036</Words>
  <Application>Microsoft Office PowerPoint</Application>
  <PresentationFormat>Widescreen</PresentationFormat>
  <Paragraphs>394</Paragraphs>
  <Slides>61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等线</vt:lpstr>
      <vt:lpstr>等线 Light</vt:lpstr>
      <vt:lpstr>SimSun</vt:lpstr>
      <vt:lpstr>Arial</vt:lpstr>
      <vt:lpstr>Cambria Math</vt:lpstr>
      <vt:lpstr>Comic Sans MS</vt:lpstr>
      <vt:lpstr>Symbol</vt:lpstr>
      <vt:lpstr>Times New Roman</vt:lpstr>
      <vt:lpstr>Office Theme</vt:lpstr>
      <vt:lpstr>Equation</vt:lpstr>
      <vt:lpstr>AMSC 5730</vt:lpstr>
      <vt:lpstr>What are semiconductors?</vt:lpstr>
      <vt:lpstr>PowerPoint Presentation</vt:lpstr>
      <vt:lpstr>Classification of Semiconductors</vt:lpstr>
      <vt:lpstr>PowerPoint Presentation</vt:lpstr>
      <vt:lpstr>Diamond Structure</vt:lpstr>
      <vt:lpstr>PowerPoint Presentation</vt:lpstr>
      <vt:lpstr>PowerPoint Presentation</vt:lpstr>
      <vt:lpstr>PowerPoint Presentation</vt:lpstr>
      <vt:lpstr>Indirect Energy-gap Bands</vt:lpstr>
      <vt:lpstr>Direct Energy-gap Bands</vt:lpstr>
      <vt:lpstr>PowerPoint Presentation</vt:lpstr>
      <vt:lpstr>How are semiconductors grown?</vt:lpstr>
      <vt:lpstr>Czochralski Method</vt:lpstr>
      <vt:lpstr>Three Modes of Epitaxial Growth</vt:lpstr>
      <vt:lpstr>How are Low-Dimensinal semiconductors grown?</vt:lpstr>
      <vt:lpstr>Molecular Beam Epitaxy (MBE) Machine</vt:lpstr>
      <vt:lpstr>PowerPoint Presentation</vt:lpstr>
      <vt:lpstr>MBE Growth</vt:lpstr>
      <vt:lpstr>Examples of Nanostructured Semiconductors</vt:lpstr>
      <vt:lpstr>Organometallic Vapor Phase Epitaxy  (OMVPE)</vt:lpstr>
      <vt:lpstr>Two-flow OMVPE by Nakamura et al for growing GaN</vt:lpstr>
      <vt:lpstr>OMVPE</vt:lpstr>
      <vt:lpstr>Phase equilibrium</vt:lpstr>
      <vt:lpstr>PowerPoint Presentation</vt:lpstr>
      <vt:lpstr>Phase Separation of InGaN</vt:lpstr>
      <vt:lpstr>Why Study Defects?</vt:lpstr>
      <vt:lpstr>PROS &amp; CONS OF DEFECTS</vt:lpstr>
      <vt:lpstr>PowerPoint Presentation</vt:lpstr>
      <vt:lpstr>INTRODUCTION. Classification of Defects, their structures and symmetries</vt:lpstr>
      <vt:lpstr>POINT DEFECTS: Intrinsic Defects &amp; Impurities</vt:lpstr>
      <vt:lpstr>PowerPoint Presentation</vt:lpstr>
      <vt:lpstr>PowerPoint Presentation</vt:lpstr>
      <vt:lpstr>PowerPoint Presentation</vt:lpstr>
      <vt:lpstr>EXTENDED DEFECTS: Complexes, line defects and surfaces</vt:lpstr>
      <vt:lpstr>Healing of broken bonds. </vt:lpstr>
      <vt:lpstr>From Vacancies to Divacancy</vt:lpstr>
      <vt:lpstr>PowerPoint Presentation</vt:lpstr>
      <vt:lpstr>CLASSIFICATION OF DEFECTS BY ELECTRONIC PROPERTIES</vt:lpstr>
      <vt:lpstr>What determines the defect properties?</vt:lpstr>
      <vt:lpstr>PowerPoint Presentation</vt:lpstr>
      <vt:lpstr>ELECTRONIC PROPERTIES OF SHALLOW DEFECTS IN SEMICONUCTORS</vt:lpstr>
      <vt:lpstr>PowerPoint Presentation</vt:lpstr>
      <vt:lpstr>PowerPoint Presentation</vt:lpstr>
      <vt:lpstr>PowerPoint Presentation</vt:lpstr>
      <vt:lpstr>PowerPoint Presentation</vt:lpstr>
      <vt:lpstr>EFFECTIVE MASS APPROXIMATION &amp; THE HYDGROGENIC DONOR</vt:lpstr>
      <vt:lpstr>PowerPoint Presentation</vt:lpstr>
      <vt:lpstr>p-n Junction</vt:lpstr>
      <vt:lpstr>Abrupt Junction</vt:lpstr>
      <vt:lpstr>PowerPoint Presentation</vt:lpstr>
      <vt:lpstr>PowerPoint Presentation</vt:lpstr>
      <vt:lpstr>PowerPoint Presentation</vt:lpstr>
      <vt:lpstr>PowerPoint Presentation</vt:lpstr>
      <vt:lpstr>CURRENT-VOLTAGE CHARACTERISTICS</vt:lpstr>
      <vt:lpstr>CURRENT-VOLTAGE CHARACTERISTICS</vt:lpstr>
      <vt:lpstr>Quasi fermi level</vt:lpstr>
      <vt:lpstr>PowerPoint Presentation</vt:lpstr>
      <vt:lpstr>PowerPoint Presentation</vt:lpstr>
      <vt:lpstr>Suggested final presentation topics</vt:lpstr>
      <vt:lpstr>Suggested final essay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AMSC 5730</dc:title>
  <dc:creator>jyzhu</dc:creator>
  <cp:lastModifiedBy> </cp:lastModifiedBy>
  <cp:revision>36</cp:revision>
  <dcterms:created xsi:type="dcterms:W3CDTF">2026-08-31T03:33:48Z</dcterms:created>
  <dcterms:modified xsi:type="dcterms:W3CDTF">2026-09-16T08:26:47Z</dcterms:modified>
</cp:coreProperties>
</file>